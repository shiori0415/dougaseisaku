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6858000" cy="12191695"/>
  <p:notesSz cx="12191695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://youtube.com/shorts/c2mH8rStFCA" TargetMode="External"/><Relationship Id="rId3" Type="http://schemas.openxmlformats.org/officeDocument/2006/relationships/hyperlink" Target="https://www.instagram.com/reel/DbAniDDyF0U/" TargetMode="External"/><Relationship Id="rId4" Type="http://schemas.openxmlformats.org/officeDocument/2006/relationships/hyperlink" Target="https://www.instagram.com/reels/DWiwFp5DED-/" TargetMode="External"/><Relationship Id="rId5" Type="http://schemas.openxmlformats.org/officeDocument/2006/relationships/hyperlink" Target="https://www.instagram.com/reels/DcOkNyyoFFJ/" TargetMode="External"/><Relationship Id="rId6" Type="http://schemas.openxmlformats.org/officeDocument/2006/relationships/hyperlink" Target="https://www.instagram.com/reel/DaxjHnkB62p/" TargetMode="External"/><Relationship Id="rId7" Type="http://schemas.openxmlformats.org/officeDocument/2006/relationships/hyperlink" Target="https://www.youtube.com/watch?v=4DEy0CAg43s" TargetMode="External"/><Relationship Id="rId8" Type="http://schemas.openxmlformats.org/officeDocument/2006/relationships/hyperlink" Target="https://youtu.be/OU-qyAcn2YM" TargetMode="External"/><Relationship Id="rId9" Type="http://schemas.openxmlformats.org/officeDocument/2006/relationships/hyperlink" Target="https://youtu.be/OPDWrOeD-gU" TargetMode="External"/><Relationship Id="rId10" Type="http://schemas.openxmlformats.org/officeDocument/2006/relationships/hyperlink" Target="https://www.instagram.com/reel/DZE-_hZuwXb/" TargetMode="External"/><Relationship Id="rId11" Type="http://schemas.openxmlformats.org/officeDocument/2006/relationships/hyperlink" Target="https://www.instagram.com/reel/DaorwuKvWAj/" TargetMode="Externa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5-1.jpg"/><Relationship Id="rId4" Type="http://schemas.openxmlformats.org/officeDocument/2006/relationships/image" Target="../media/image-5-2.jpg"/><Relationship Id="rId5" Type="http://schemas.openxmlformats.org/officeDocument/2006/relationships/image" Target="../media/image-5-3.jpg"/><Relationship Id="rId6" Type="http://schemas.openxmlformats.org/officeDocument/2006/relationships/image" Target="../media/image-5-4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://youtube.com/shorts/c2mH8rStFCA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image" Target="../media/image-6-1.jpg"/><Relationship Id="rId4" Type="http://schemas.openxmlformats.org/officeDocument/2006/relationships/image" Target="../media/image-6-2.jpg"/><Relationship Id="rId5" Type="http://schemas.openxmlformats.org/officeDocument/2006/relationships/image" Target="../media/image-6-3.jpg"/><Relationship Id="rId6" Type="http://schemas.openxmlformats.org/officeDocument/2006/relationships/image" Target="../media/image-6-4.jpg"/><Relationship Id="rId7" Type="http://schemas.openxmlformats.org/officeDocument/2006/relationships/image" Target="../media/image-6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9-1.jpg"/><Relationship Id="rId4" Type="http://schemas.openxmlformats.org/officeDocument/2006/relationships/image" Target="../media/image-9-2.jpg"/><Relationship Id="rId5" Type="http://schemas.openxmlformats.org/officeDocument/2006/relationships/image" Target="../media/image-9-3.jpg"/><Relationship Id="rId6" Type="http://schemas.openxmlformats.org/officeDocument/2006/relationships/image" Target="../media/image-9-4.jpg"/><Relationship Id="rId7" Type="http://schemas.openxmlformats.org/officeDocument/2006/relationships/image" Target="../media/image-9-5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hyperlink" Target="https://www.instagram.com/reel/DaxjHnkB62p/" TargetMode="External"/><Relationship Id="rId3" Type="http://schemas.openxmlformats.org/officeDocument/2006/relationships/image" Target="../media/image-10-1.jpg"/><Relationship Id="rId4" Type="http://schemas.openxmlformats.org/officeDocument/2006/relationships/image" Target="../media/image-10-2.jpg"/><Relationship Id="rId5" Type="http://schemas.openxmlformats.org/officeDocument/2006/relationships/image" Target="../media/image-10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1-1.jpg"/><Relationship Id="rId5" Type="http://schemas.openxmlformats.org/officeDocument/2006/relationships/image" Target="../media/image-11-2.jpg"/><Relationship Id="rId6" Type="http://schemas.openxmlformats.org/officeDocument/2006/relationships/image" Target="../media/image-11-3.jpg"/><Relationship Id="rId7" Type="http://schemas.openxmlformats.org/officeDocument/2006/relationships/image" Target="../media/image-11-4.jpg"/><Relationship Id="rId8" Type="http://schemas.openxmlformats.org/officeDocument/2006/relationships/image" Target="../media/image-11-5.jpg"/><Relationship Id="rId9" Type="http://schemas.openxmlformats.org/officeDocument/2006/relationships/image" Target="../media/image-11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2-1.jpg"/><Relationship Id="rId5" Type="http://schemas.openxmlformats.org/officeDocument/2006/relationships/image" Target="../media/image-12-2.jpg"/><Relationship Id="rId6" Type="http://schemas.openxmlformats.org/officeDocument/2006/relationships/image" Target="../media/image-12-3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5-1.jpg"/><Relationship Id="rId4" Type="http://schemas.openxmlformats.org/officeDocument/2006/relationships/image" Target="../media/image-15-2.jpg"/><Relationship Id="rId5" Type="http://schemas.openxmlformats.org/officeDocument/2006/relationships/image" Target="../media/image-15-3.jpg"/><Relationship Id="rId6" Type="http://schemas.openxmlformats.org/officeDocument/2006/relationships/image" Target="../media/image-15-4.jpg"/><Relationship Id="rId7" Type="http://schemas.openxmlformats.org/officeDocument/2006/relationships/image" Target="../media/image-15-5.jpg"/><Relationship Id="rId8" Type="http://schemas.openxmlformats.org/officeDocument/2006/relationships/image" Target="../media/image-15-6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hyperlink" Target="https://www.instagram.com/reel/DaorwuKvWAj/" TargetMode="External"/><Relationship Id="rId3" Type="http://schemas.openxmlformats.org/officeDocument/2006/relationships/image" Target="../media/image-16-1.jpg"/><Relationship Id="rId4" Type="http://schemas.openxmlformats.org/officeDocument/2006/relationships/image" Target="../media/image-16-2.jpg"/><Relationship Id="rId5" Type="http://schemas.openxmlformats.org/officeDocument/2006/relationships/image" Target="../media/image-16-3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2834640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384048" y="320040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3401568"/>
            <a:ext cx="608990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32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3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384048" y="5440680"/>
            <a:ext cx="60899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2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84048" y="10195560"/>
            <a:ext cx="6089904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10332720"/>
            <a:ext cx="6089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2026年9月3日　第4版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18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84048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384048" y="658368"/>
            <a:ext cx="6089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84048" y="1207008"/>
            <a:ext cx="60899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1〜5本目と7本目は参考動画があり、絵コンテの写真もそこから抜いています。6・8本目は参考動画・詳細をいただき次第、同じ形式で内容を確定します。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938528"/>
          <a:ext cx="6089904" cy="914400"/>
        </p:xfrm>
        <a:graphic>
          <a:graphicData uri="http://schemas.openxmlformats.org/drawingml/2006/table">
            <a:tbl>
              <a:tblPr/>
              <a:tblGrid>
                <a:gridCol w="292608"/>
                <a:gridCol w="1691640"/>
                <a:gridCol w="841248"/>
                <a:gridCol w="1417320"/>
                <a:gridCol w="184708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今日の服に、合う色。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20秒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Royale M Tote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ロワイヤルMトートの作りかた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絵になる日常を。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Everyday, Worth a Frame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仕事道具として買う人・贈る人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（parisawangny・メイン）　＋　</a:t>
                      </a:r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（yifan.liii × COACH）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1979年から、東京で。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Since 1979, Tokyo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 ×1／60秒短縮版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9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つくる、確かめる、包む。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Make. Check. Pack.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参考動画：未定（工場見学ワンテイク型を推奨）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HURRY UP.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急ぐ朝ほど、迷わない。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 ×3品番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0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75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購入者インタビュー（仮タイトル）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 (Title TBD)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尺・ショット数＝未定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購入を迷っている新規（仮）</a:t>
                      </a:r>
                      <a:endParaRPr lang="en-US" sz="8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参考動画：未定（購入者インタビュー型を推奨）</a:t>
                      </a:r>
                      <a:endParaRPr lang="en-US" sz="1200" dirty="0"/>
                    </a:p>
                  </a:txBody>
                  <a:tcPr marL="64008" marR="64008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18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690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家を出てから会社に着くまでの二十秒。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カメラは固定し、変わるのは服と革の色だけ。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車・電車・エスカレーターが視界を横切った瞬間に切り替える。売り込みはひとつも入れない。玄関一か所、通勤路二か所、会社前一か所で撮り切れる。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269574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3452454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082476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4356796"/>
            <a:ext cx="1944624" cy="2861318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84048" y="4356796"/>
            <a:ext cx="1944624" cy="2861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725469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玄関。財布をポケットに入れる（寄り）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456688" y="4356796"/>
            <a:ext cx="1944624" cy="2861318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456688" y="4356796"/>
            <a:ext cx="1944624" cy="28613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56688" y="725469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ドアノブに手がかかる（超寄り）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29328" y="4356796"/>
            <a:ext cx="1944624" cy="286131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3_玄関を出た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328" y="5158756"/>
            <a:ext cx="1944624" cy="125739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529328" y="4356796"/>
            <a:ext cx="1944624" cy="286131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29328" y="725469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ドアが開き、外へ出る（引き・逆光）</a:t>
            </a:r>
            <a:endParaRPr lang="en-US" sz="780" dirty="0"/>
          </a:p>
        </p:txBody>
      </p:sp>
      <p:sp>
        <p:nvSpPr>
          <p:cNvPr id="23" name="Text 20"/>
          <p:cNvSpPr/>
          <p:nvPr/>
        </p:nvSpPr>
        <p:spPr>
          <a:xfrm>
            <a:off x="384048" y="7986210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変わる①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384048" y="8260530"/>
            <a:ext cx="1944624" cy="286131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1_S2_01_同じ画角で服が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9062490"/>
            <a:ext cx="1944624" cy="125739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384048" y="8260530"/>
            <a:ext cx="1944624" cy="286131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同じ画角のまま服が変わっている。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小物の色も変わる</a:t>
            </a:r>
            <a:endParaRPr lang="en-US" sz="780" dirty="0"/>
          </a:p>
        </p:txBody>
      </p:sp>
      <p:sp>
        <p:nvSpPr>
          <p:cNvPr id="28" name="Shape 24"/>
          <p:cNvSpPr/>
          <p:nvPr/>
        </p:nvSpPr>
        <p:spPr>
          <a:xfrm>
            <a:off x="2456688" y="8260530"/>
            <a:ext cx="1944624" cy="286131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2_02_通り過ぎてトランジション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688" y="9062490"/>
            <a:ext cx="1944624" cy="1257398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456688" y="8260530"/>
            <a:ext cx="1944624" cy="286131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車が横切る → 抜けたら別の服・別の色</a:t>
            </a:r>
            <a:endParaRPr lang="en-US" sz="780" dirty="0"/>
          </a:p>
        </p:txBody>
      </p:sp>
      <p:sp>
        <p:nvSpPr>
          <p:cNvPr id="32" name="Shape 27"/>
          <p:cNvSpPr/>
          <p:nvPr/>
        </p:nvSpPr>
        <p:spPr>
          <a:xfrm>
            <a:off x="4529328" y="8260530"/>
            <a:ext cx="1944624" cy="286131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2_03_別の色の小物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9328" y="9062490"/>
            <a:ext cx="1944624" cy="1257398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529328" y="8260530"/>
            <a:ext cx="1944624" cy="286131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手元の小物だけに寄る（キャメル）</a:t>
            </a:r>
            <a:endParaRPr lang="en-US" sz="780" dirty="0"/>
          </a:p>
        </p:txBody>
      </p:sp>
      <p:sp>
        <p:nvSpPr>
          <p:cNvPr id="36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7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18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今日の服に、合う色。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212848"/>
            <a:ext cx="6089904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2257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6928" y="2523744"/>
            <a:ext cx="5724144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2938424"/>
            <a:ext cx="5724144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354060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 レ ー シ ョ ン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3723483"/>
            <a:ext cx="6089904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毎日をカラフルに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84048" y="449492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変わる②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9-15秒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1_S3_01_さらに別の色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468093"/>
            <a:ext cx="1944624" cy="125739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 → 抜けたら変わっている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1_S3_02_建物内で変わ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6688" y="5468093"/>
            <a:ext cx="1944624" cy="125739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5668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エスカレーターを上がりきると変わっている</a:t>
            </a:r>
            <a:endParaRPr lang="en-US" sz="780" dirty="0"/>
          </a:p>
        </p:txBody>
      </p:sp>
      <p:sp>
        <p:nvSpPr>
          <p:cNvPr id="23" name="Shape 19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452932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歩く足元（ロー）。手元の色だけが見える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84048" y="819243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到着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4_01_到着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9165602"/>
            <a:ext cx="1944624" cy="12573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会社のエントランス。ここが到着点</a:t>
            </a:r>
            <a:endParaRPr lang="en-US" sz="780" dirty="0"/>
          </a:p>
        </p:txBody>
      </p:sp>
      <p:sp>
        <p:nvSpPr>
          <p:cNvPr id="31" name="Shape 26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4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688" y="9165602"/>
            <a:ext cx="1944624" cy="125739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真俯瞰。四色が並ぶ</a:t>
            </a:r>
            <a:endParaRPr lang="en-US" sz="780" dirty="0"/>
          </a:p>
        </p:txBody>
      </p:sp>
      <p:sp>
        <p:nvSpPr>
          <p:cNvPr id="35" name="Shape 29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6" name="Text 30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7" name="Text 31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1.5秒 → ロゴ 0.5秒</a:t>
            </a:r>
            <a:endParaRPr lang="en-US" sz="780" dirty="0"/>
          </a:p>
        </p:txBody>
      </p:sp>
      <p:sp>
        <p:nvSpPr>
          <p:cNvPr id="38" name="Text 32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9" name="Text 33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18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87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。音はカメラのマイクでは録れないので、スマホを手元三十センチに置いて別録りする。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S3のコバ塗りがこの一本の核。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一カットの中でビフォーアフターが起きる。参考動画が四百七十七万回見られた理由がこれ。最後は作業机で終わらせず、使われている場所に置いて終える。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45112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3634008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264030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音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4538350"/>
            <a:ext cx="1944624" cy="277054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4" name="Image 0" descr="/home/user/dougaseisaku/assets/ref4/2_S1_01_刃が革に入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276" y="4538350"/>
            <a:ext cx="1818167" cy="2770541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84048" y="4538350"/>
            <a:ext cx="1944624" cy="277054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" y="734546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超マクロ。刃が革に入る瞬間。何を見ているか分からない距離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2456688" y="4538350"/>
            <a:ext cx="1944624" cy="2770541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2456688" y="4538350"/>
            <a:ext cx="1944624" cy="2770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2456688" y="734546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「スッ」の一音だけ。BGMは鳴らさない</a:t>
            </a:r>
            <a:endParaRPr lang="en-US" sz="780" dirty="0"/>
          </a:p>
        </p:txBody>
      </p:sp>
      <p:sp>
        <p:nvSpPr>
          <p:cNvPr id="20" name="Text 17"/>
          <p:cNvSpPr/>
          <p:nvPr/>
        </p:nvSpPr>
        <p:spPr>
          <a:xfrm>
            <a:off x="384048" y="8076987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切る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3-14秒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84048" y="8351307"/>
            <a:ext cx="1944624" cy="277054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2" name="Image 1" descr="/home/user/dougaseisaku/assets/ref4/2_S2_01_金属定規で直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276" y="8351307"/>
            <a:ext cx="1818167" cy="2770541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384048" y="8351307"/>
            <a:ext cx="1944624" cy="277054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金属定規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を当てて直線を一気に引く</a:t>
            </a:r>
            <a:endParaRPr lang="en-US" sz="780" dirty="0"/>
          </a:p>
        </p:txBody>
      </p:sp>
      <p:sp>
        <p:nvSpPr>
          <p:cNvPr id="25" name="Shape 21"/>
          <p:cNvSpPr/>
          <p:nvPr/>
        </p:nvSpPr>
        <p:spPr>
          <a:xfrm>
            <a:off x="2456688" y="8351307"/>
            <a:ext cx="1944624" cy="277054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2" descr="/home/user/dougaseisaku/assets/ref4/2_S2_02_角を丸く回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19916" y="8351307"/>
            <a:ext cx="1818167" cy="2770541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2456688" y="8351307"/>
            <a:ext cx="1944624" cy="277054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四十五度。角を丸く回して切る</a:t>
            </a:r>
            <a:endParaRPr lang="en-US" sz="780" dirty="0"/>
          </a:p>
        </p:txBody>
      </p:sp>
      <p:sp>
        <p:nvSpPr>
          <p:cNvPr id="29" name="Shape 24"/>
          <p:cNvSpPr/>
          <p:nvPr/>
        </p:nvSpPr>
        <p:spPr>
          <a:xfrm>
            <a:off x="4529328" y="8351307"/>
            <a:ext cx="1944624" cy="277054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3" descr="/home/user/dougaseisaku/assets/ref4/2_S2_03_作業台と職人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328" y="8755426"/>
            <a:ext cx="1944624" cy="1962302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4529328" y="8351307"/>
            <a:ext cx="1944624" cy="277054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真俯瞰。作業台と職人の手全体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80" dirty="0"/>
          </a:p>
        </p:txBody>
      </p:sp>
      <p:sp>
        <p:nvSpPr>
          <p:cNvPr id="33" name="Text 27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18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212848"/>
            <a:ext cx="6089904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2257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6928" y="2523744"/>
            <a:ext cx="5724144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2938424"/>
            <a:ext cx="5724144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354060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 バ 塗 り の カ ッ ト で 出 す テ ロ ッ プ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3723483"/>
            <a:ext cx="6089904" cy="64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84048" y="4661191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縫う・塗る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14-31秒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4935511"/>
            <a:ext cx="1944624" cy="257196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2_S3_01_針と糸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36" y="4935511"/>
            <a:ext cx="1687849" cy="257196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84048" y="4935511"/>
            <a:ext cx="1944624" cy="257196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" y="754404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真俯瞰。針が革を抜ける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456688" y="4935511"/>
            <a:ext cx="1944624" cy="257196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2_S3_02_横から目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688" y="5285400"/>
            <a:ext cx="1944624" cy="187218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56688" y="4935511"/>
            <a:ext cx="1944624" cy="257196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56688" y="754404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横から。目だけのアップ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。顔全体は入れない</a:t>
            </a:r>
            <a:endParaRPr lang="en-US" sz="780" dirty="0"/>
          </a:p>
        </p:txBody>
      </p:sp>
      <p:sp>
        <p:nvSpPr>
          <p:cNvPr id="23" name="Shape 19"/>
          <p:cNvSpPr/>
          <p:nvPr/>
        </p:nvSpPr>
        <p:spPr>
          <a:xfrm>
            <a:off x="4529328" y="4935511"/>
            <a:ext cx="1944624" cy="257196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2_S3_03b_コバ塗り_ワンカッ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5016" y="4935511"/>
            <a:ext cx="1893249" cy="257196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29328" y="4935511"/>
            <a:ext cx="1944624" cy="257196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29328" y="754404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 ★核。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塗った側と塗っていない側が同じ画面に入る。長回し・カットを割らない</a:t>
            </a:r>
            <a:endParaRPr lang="en-US" sz="780" dirty="0"/>
          </a:p>
        </p:txBody>
      </p:sp>
      <p:sp>
        <p:nvSpPr>
          <p:cNvPr id="27" name="Text 22"/>
          <p:cNvSpPr/>
          <p:nvPr/>
        </p:nvSpPr>
        <p:spPr>
          <a:xfrm>
            <a:off x="384048" y="8275567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磨く・終わり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31-40秒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84048" y="8549887"/>
            <a:ext cx="1944624" cy="257196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2_S4_01_仕上げ剤を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436" y="8549887"/>
            <a:ext cx="1687849" cy="257196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384048" y="8549887"/>
            <a:ext cx="1944624" cy="257196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超マクロ。コバを磨く。摩擦音</a:t>
            </a:r>
            <a:endParaRPr lang="en-US" sz="780" dirty="0"/>
          </a:p>
        </p:txBody>
      </p:sp>
      <p:sp>
        <p:nvSpPr>
          <p:cNvPr id="32" name="Shape 26"/>
          <p:cNvSpPr/>
          <p:nvPr/>
        </p:nvSpPr>
        <p:spPr>
          <a:xfrm>
            <a:off x="2456688" y="8549887"/>
            <a:ext cx="1944624" cy="257196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3" name="Text 27"/>
          <p:cNvSpPr/>
          <p:nvPr/>
        </p:nvSpPr>
        <p:spPr>
          <a:xfrm>
            <a:off x="2456688" y="8549887"/>
            <a:ext cx="1944624" cy="257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4" name="Text 28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手が止まる。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職人の声が一言だけ入る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（台本なし）</a:t>
            </a:r>
            <a:endParaRPr lang="en-US" sz="780" dirty="0"/>
          </a:p>
        </p:txBody>
      </p:sp>
      <p:sp>
        <p:nvSpPr>
          <p:cNvPr id="35" name="Shape 29"/>
          <p:cNvSpPr/>
          <p:nvPr/>
        </p:nvSpPr>
        <p:spPr>
          <a:xfrm>
            <a:off x="4529328" y="8549887"/>
            <a:ext cx="1944624" cy="257196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4_03_使われる場所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7716" y="8549887"/>
            <a:ext cx="1687849" cy="2571960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529328" y="8549887"/>
            <a:ext cx="1944624" cy="257196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使われている場所に置かれる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→ テロップ → ロゴ</a:t>
            </a:r>
            <a:endParaRPr lang="en-US" sz="780" dirty="0"/>
          </a:p>
        </p:txBody>
      </p:sp>
      <p:sp>
        <p:nvSpPr>
          <p:cNvPr id="39" name="Text 32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40" name="Text 33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18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顔と工房は一切映さない。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映るのは手と、革と、金具だけ。この一本だけは商品を売らない。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：背景（黒／実景）・光（一灯／自然光）・被写体（手だけ／人と機械）・カメラ（固定／歩く）・音（BGM／作業音）・終わり方（ロゴ／梱包と問い合わせ先）。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撮影日も分ける。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63268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3815563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44558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闇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4719904"/>
            <a:ext cx="1944624" cy="26797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4" name="Image 0" descr="/home/user/dougaseisaku/assets/ref4/3_S1_02_黒の中の光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5431087"/>
            <a:ext cx="1944624" cy="1257398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84048" y="4719904"/>
            <a:ext cx="1944624" cy="26797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" y="743624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真っ黒。細い光の帯が、革の断面だけを照らす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2456688" y="4719904"/>
            <a:ext cx="1944624" cy="26797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8" name="Image 1" descr="/home/user/dougaseisaku/assets/ref4/3_S1_01_道具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6688" y="5431087"/>
            <a:ext cx="1944624" cy="125739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456688" y="4719904"/>
            <a:ext cx="1944624" cy="26797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456688" y="743624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黒の上に道具だけが並ぶ（真俯瞰）</a:t>
            </a:r>
            <a:endParaRPr lang="en-US" sz="780" dirty="0"/>
          </a:p>
        </p:txBody>
      </p:sp>
      <p:sp>
        <p:nvSpPr>
          <p:cNvPr id="21" name="Shape 17"/>
          <p:cNvSpPr/>
          <p:nvPr/>
        </p:nvSpPr>
        <p:spPr>
          <a:xfrm>
            <a:off x="4529328" y="4719904"/>
            <a:ext cx="1944624" cy="2679764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18"/>
          <p:cNvSpPr/>
          <p:nvPr/>
        </p:nvSpPr>
        <p:spPr>
          <a:xfrm>
            <a:off x="4529328" y="4719904"/>
            <a:ext cx="1944624" cy="2679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3" name="Text 19"/>
          <p:cNvSpPr/>
          <p:nvPr/>
        </p:nvSpPr>
        <p:spPr>
          <a:xfrm>
            <a:off x="4529328" y="743624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無音から、低いBGMが立ち上がる</a:t>
            </a:r>
            <a:endParaRPr lang="en-US" sz="780" dirty="0"/>
          </a:p>
        </p:txBody>
      </p:sp>
      <p:sp>
        <p:nvSpPr>
          <p:cNvPr id="24" name="Text 20"/>
          <p:cNvSpPr/>
          <p:nvPr/>
        </p:nvSpPr>
        <p:spPr>
          <a:xfrm>
            <a:off x="384048" y="816776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5-15秒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384048" y="8442084"/>
            <a:ext cx="1944624" cy="26797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2" descr="/home/user/dougaseisaku/assets/ref4/3_S2_01_手で革を折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9153267"/>
            <a:ext cx="1944624" cy="125739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84048" y="8442084"/>
            <a:ext cx="1944624" cy="26797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手だけ。革を折り、角を作る。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</a:t>
            </a:r>
            <a:endParaRPr lang="en-US" sz="780" dirty="0"/>
          </a:p>
        </p:txBody>
      </p:sp>
      <p:sp>
        <p:nvSpPr>
          <p:cNvPr id="29" name="Shape 24"/>
          <p:cNvSpPr/>
          <p:nvPr/>
        </p:nvSpPr>
        <p:spPr>
          <a:xfrm>
            <a:off x="2456688" y="8442084"/>
            <a:ext cx="1944624" cy="26797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3" descr="/home/user/dougaseisaku/assets/ref4/3_S2_02_角を作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688" y="9153267"/>
            <a:ext cx="1944624" cy="125739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2456688" y="8442084"/>
            <a:ext cx="1944624" cy="26797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角が立ち上がる（超マクロ）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4529328" y="8442084"/>
            <a:ext cx="1944624" cy="267976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4" descr="/home/user/dougaseisaku/assets/ref4/3_S2_03_白手袋と金具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328" y="9153267"/>
            <a:ext cx="1944624" cy="1257398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29328" y="8442084"/>
            <a:ext cx="1944624" cy="267976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で金具を持ち、取り付ける。金属が触れる音</a:t>
            </a:r>
            <a:endParaRPr lang="en-US" sz="780" dirty="0"/>
          </a:p>
        </p:txBody>
      </p:sp>
      <p:sp>
        <p:nvSpPr>
          <p:cNvPr id="37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18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Royale M Tote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ロワイヤルMトートの作りかた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9ショット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（delvaux「le Brillant Tempo」）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312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384048" y="300090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コバ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" y="3275225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84048" y="3275225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コバに染料を入れる（超マクロ）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6688" y="3275225"/>
            <a:ext cx="1944624" cy="340210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3_S3_02_磨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6688" y="4347578"/>
            <a:ext cx="1944624" cy="1257398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2456688" y="3275225"/>
            <a:ext cx="1944624" cy="340210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45668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磨く。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光が断面に反射する角度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を探す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4529328" y="3275225"/>
            <a:ext cx="1944624" cy="340210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3_S3_03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328" y="4347578"/>
            <a:ext cx="1944624" cy="1257398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529328" y="3275225"/>
            <a:ext cx="1944624" cy="340210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2932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完成品が黒の中に浮かぶ。上から一灯だけ</a:t>
            </a:r>
            <a:endParaRPr lang="en-US" sz="780" dirty="0"/>
          </a:p>
        </p:txBody>
      </p:sp>
      <p:sp>
        <p:nvSpPr>
          <p:cNvPr id="22" name="Text 18"/>
          <p:cNvSpPr/>
          <p:nvPr/>
        </p:nvSpPr>
        <p:spPr>
          <a:xfrm>
            <a:off x="384048" y="744542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24-28秒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84048" y="7719744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0"/>
          <p:cNvSpPr/>
          <p:nvPr/>
        </p:nvSpPr>
        <p:spPr>
          <a:xfrm>
            <a:off x="384048" y="7719744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1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27" name="Text 23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123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映画×vlogの参考から三つを取る。①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電車・看板・柱をトランジションに使う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（1本目と同じ手法）②街の引きの間に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金具や財布の超マクロを差し込む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③テロップは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英語一文を街の壁に重ねるだけ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、画面の下に出さない。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自然光のみ。夕方の斜光。手持ちの揺れを少しだけ残すが、引きの構図はきっちり止める。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一人で完結させる。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誰とも話さない。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814237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3997117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この鞄を持った日常は、そのまま絵になる。A4もノートPCも入る。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627138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街に出る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4901458"/>
            <a:ext cx="1944624" cy="2588986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84048" y="4901458"/>
            <a:ext cx="1944624" cy="2588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7527021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店のガラスの反射に映る（引き）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456688" y="4901458"/>
            <a:ext cx="1944624" cy="25889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7" name="Image 0" descr="/home/user/dougaseisaku/assets/ref4/4_S1_02_街を歩く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246" y="4901458"/>
            <a:ext cx="1785508" cy="258898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2456688" y="4901458"/>
            <a:ext cx="1944624" cy="25889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456688" y="7527021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街を歩く。横移動で追う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4529328" y="4901458"/>
            <a:ext cx="1944624" cy="25889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1" name="Image 1" descr="/home/user/dougaseisaku/assets/ref4/4_S1_03_電車通過ブレ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8886" y="4901458"/>
            <a:ext cx="1785508" cy="2588986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4529328" y="4901458"/>
            <a:ext cx="1944624" cy="25889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529328" y="7527021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電車が通り過ぎる（ブレ＝トランジション）</a:t>
            </a:r>
            <a:endParaRPr lang="en-US" sz="780" dirty="0"/>
          </a:p>
        </p:txBody>
      </p:sp>
      <p:sp>
        <p:nvSpPr>
          <p:cNvPr id="24" name="Text 20"/>
          <p:cNvSpPr/>
          <p:nvPr/>
        </p:nvSpPr>
        <p:spPr>
          <a:xfrm>
            <a:off x="384048" y="8258541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中身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8-17秒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384048" y="8532861"/>
            <a:ext cx="1944624" cy="25889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6" name="Image 2" descr="/home/user/dougaseisaku/assets/ref4/4_S2_01_真俯瞰で中身を入れる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06" y="8532861"/>
            <a:ext cx="1785508" cy="258898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84048" y="8532861"/>
            <a:ext cx="1944624" cy="25889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手すりに置き、真俯瞰でA4とノートPCを入れる</a:t>
            </a:r>
            <a:endParaRPr lang="en-US" sz="780" dirty="0"/>
          </a:p>
        </p:txBody>
      </p:sp>
      <p:sp>
        <p:nvSpPr>
          <p:cNvPr id="29" name="Shape 24"/>
          <p:cNvSpPr/>
          <p:nvPr/>
        </p:nvSpPr>
        <p:spPr>
          <a:xfrm>
            <a:off x="2456688" y="8532861"/>
            <a:ext cx="1944624" cy="25889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0" name="Image 3" descr="/home/user/dougaseisaku/assets/ref4/4_S2_02_内ポケットに物を入れる_縦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36246" y="8532861"/>
            <a:ext cx="1785508" cy="2588986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2456688" y="8532861"/>
            <a:ext cx="1944624" cy="25889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寄り。内ポケットに名刺入れ・鍵・携帯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4529328" y="8532861"/>
            <a:ext cx="1944624" cy="25889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4" descr="/home/user/dougaseisaku/assets/ref4/4_S2_03_マクロで取り出す_縦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08886" y="8532861"/>
            <a:ext cx="1785508" cy="2588986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4529328" y="8532861"/>
            <a:ext cx="1944624" cy="25889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財布に何かを差し込む超マクロ</a:t>
            </a:r>
            <a:endParaRPr lang="en-US" sz="780" dirty="0"/>
          </a:p>
        </p:txBody>
      </p:sp>
      <p:sp>
        <p:nvSpPr>
          <p:cNvPr id="37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8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18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絵になる日常を。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対象＝仕事道具として買う人・贈る人　／　全媒体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（parisawangny・メイン）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（yifan.liii × COACH）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 に 重 ね る 一 文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Everyday, worth a frame.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街の白い壁に重ねる。画面の下にテロップは出さない。最後はロゴだけ。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384048" y="3167171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一人の時間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17-25秒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" y="3441491"/>
            <a:ext cx="1944624" cy="331897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84048" y="3441491"/>
            <a:ext cx="1944624" cy="3318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679703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カフェの窓際。自然光・浅い被写界深度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6688" y="3441491"/>
            <a:ext cx="1944624" cy="331897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5" name="Image 0" descr="/home/user/dougaseisaku/assets/ref4/4_S3_02_金具マクロ_縦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6688" y="3691123"/>
            <a:ext cx="1944624" cy="2819705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2456688" y="3441491"/>
            <a:ext cx="1944624" cy="331897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456688" y="679703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金具のロゴに超マクロ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4529328" y="3441491"/>
            <a:ext cx="1944624" cy="331897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1" descr="/home/user/dougaseisaku/assets/ref4/4_S3_03_高い場所に立つ_縦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9328" y="3691123"/>
            <a:ext cx="1944624" cy="281970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4529328" y="3441491"/>
            <a:ext cx="1944624" cy="331897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29328" y="6797037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高い場所に立つ（引き・映画的）</a:t>
            </a:r>
            <a:endParaRPr lang="en-US" sz="780" dirty="0"/>
          </a:p>
        </p:txBody>
      </p:sp>
      <p:sp>
        <p:nvSpPr>
          <p:cNvPr id="22" name="Text 18"/>
          <p:cNvSpPr/>
          <p:nvPr/>
        </p:nvSpPr>
        <p:spPr>
          <a:xfrm>
            <a:off x="384048" y="7528557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84048" y="7802877"/>
            <a:ext cx="1944624" cy="331897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4_01_街に置く_縦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8052510"/>
            <a:ext cx="1944624" cy="281970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84048" y="7802877"/>
            <a:ext cx="1944624" cy="331897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街に置く。背景をボカして流す</a:t>
            </a:r>
            <a:endParaRPr lang="en-US" sz="780" dirty="0"/>
          </a:p>
        </p:txBody>
      </p:sp>
      <p:sp>
        <p:nvSpPr>
          <p:cNvPr id="27" name="Shape 22"/>
          <p:cNvSpPr/>
          <p:nvPr/>
        </p:nvSpPr>
        <p:spPr>
          <a:xfrm>
            <a:off x="2456688" y="7802877"/>
            <a:ext cx="1944624" cy="331897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2456688" y="7802877"/>
            <a:ext cx="1944624" cy="3318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9" name="Text 24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白い壁の前。正面。壁に英語一文を重ねる</a:t>
            </a:r>
            <a:endParaRPr lang="en-US" sz="780" dirty="0"/>
          </a:p>
        </p:txBody>
      </p:sp>
      <p:sp>
        <p:nvSpPr>
          <p:cNvPr id="30" name="Shape 25"/>
          <p:cNvSpPr/>
          <p:nvPr/>
        </p:nvSpPr>
        <p:spPr>
          <a:xfrm>
            <a:off x="4529328" y="7802877"/>
            <a:ext cx="1944624" cy="3318970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6"/>
          <p:cNvSpPr/>
          <p:nvPr/>
        </p:nvSpPr>
        <p:spPr>
          <a:xfrm>
            <a:off x="4529328" y="7802877"/>
            <a:ext cx="1944624" cy="3318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</a:t>
            </a:r>
            <a:endParaRPr lang="en-US" sz="780" dirty="0"/>
          </a:p>
        </p:txBody>
      </p:sp>
      <p:sp>
        <p:nvSpPr>
          <p:cNvPr id="33" name="Text 28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18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2506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会社を一本で説明できる映像がない。公式サイトのHISTORYページは中身が作られないまま公開されている。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ナレーションは永尾社長の声だけ。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画には映らず、三十分の収録から経営方針についての本音を拾う（台本の読み上げではない）。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製造パートは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鍛治島工業の参考動画をメインに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、特定の一人ではなく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向島工房の職人全員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を映す。Brooklyn店舗・企画中の商品・草ヶ谷さんの手元・購入されるシーンまで、会社の全体像を満遍なく差し込む。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想定ナレーション（仮の言葉）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：「革一枚から」（S1）→「変えていないのは革を見る目」（S2）→「これから」（S3）→「作る場所は変わっていません」（S4）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5085116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5267996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1979年から続く会社が、いま向島の工房と一つになった。永尾社長の声だけが、全編に流れる。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5898017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刻印・沿革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0-12秒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6172337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4" name="Image 0" descr="/home/user/dougaseisaku/assets/ref4/5_ref_15_未来の刻印_金属マクロ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6606463"/>
            <a:ext cx="1944624" cy="108529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84048" y="6172337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" y="816246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黒。刻印が押され、革に沈む（超マクロ）</a:t>
            </a:r>
            <a:pPr indent="0" marL="0">
              <a:lnSpc>
                <a:spcPct val="126000"/>
              </a:lnSpc>
              <a:buNone/>
            </a:pP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ナレーション開始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2456688" y="6172337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8" name="Image 1" descr="/home/user/dougaseisaku/assets/ref4/5_ref_01_年号テロップ_LNG船198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688" y="6606463"/>
            <a:ext cx="1944624" cy="108529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456688" y="6172337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456688" y="816246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窪みに光が差す。そこに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が重なる</a:t>
            </a:r>
            <a:pPr indent="0" marL="0">
              <a:lnSpc>
                <a:spcPct val="126000"/>
              </a:lnSpc>
              <a:buNone/>
            </a:pP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※年号の出し方はこの画角</a:t>
            </a:r>
            <a:endParaRPr lang="en-US" sz="780" dirty="0"/>
          </a:p>
        </p:txBody>
      </p:sp>
      <p:sp>
        <p:nvSpPr>
          <p:cNvPr id="21" name="Shape 17"/>
          <p:cNvSpPr/>
          <p:nvPr/>
        </p:nvSpPr>
        <p:spPr>
          <a:xfrm>
            <a:off x="4529328" y="6172337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2" name="Image 2" descr="/home/user/dougaseisaku/assets/ref4/5_ref_08_工場内_大型装置ハイアング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328" y="6606463"/>
            <a:ext cx="1944624" cy="1085295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529328" y="6172337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529328" y="8162460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引くと向島工房の全景になる（ハイアングル）</a:t>
            </a:r>
            <a:endParaRPr lang="en-US" sz="780" dirty="0"/>
          </a:p>
        </p:txBody>
      </p:sp>
      <p:sp>
        <p:nvSpPr>
          <p:cNvPr id="25" name="Text 20"/>
          <p:cNvSpPr/>
          <p:nvPr/>
        </p:nvSpPr>
        <p:spPr>
          <a:xfrm>
            <a:off x="384048" y="8893980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製造・全員の職人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12-40秒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384048" y="9168300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3" descr="/home/user/dougaseisaku/assets/ref4/5_ref_12_図面の束_俯瞰気味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9602426"/>
            <a:ext cx="1944624" cy="1085295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384048" y="9168300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原反が広げられる（真俯瞰）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2456688" y="9168300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4" descr="/home/user/dougaseisaku/assets/ref4/5_ref_14_職人がボール盤で作業_引き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56688" y="9602426"/>
            <a:ext cx="1944624" cy="1085295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2456688" y="9168300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裁断→縫製→コバ磨き。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職人を一人ずつ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、複数カットで（鍛治島参考の画角）</a:t>
            </a:r>
            <a:endParaRPr lang="en-US" sz="780" dirty="0"/>
          </a:p>
        </p:txBody>
      </p:sp>
      <p:sp>
        <p:nvSpPr>
          <p:cNvPr id="34" name="Shape 27"/>
          <p:cNvSpPr/>
          <p:nvPr/>
        </p:nvSpPr>
        <p:spPr>
          <a:xfrm>
            <a:off x="4529328" y="9168300"/>
            <a:ext cx="1944624" cy="195354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5" descr="/home/user/dougaseisaku/assets/ref4/5_ref_10_机に向かう職人の横顔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29328" y="9602426"/>
            <a:ext cx="1944624" cy="1085295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4529328" y="9168300"/>
            <a:ext cx="1944624" cy="195354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検品。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ナレーション一度止まる</a:t>
            </a:r>
            <a:endParaRPr lang="en-US" sz="780" dirty="0"/>
          </a:p>
        </p:txBody>
      </p:sp>
      <p:sp>
        <p:nvSpPr>
          <p:cNvPr id="38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18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1979年から、東京で。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Since 1979, Tokyo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六十秒（収まらなければ九十秒まで） ／ 12ショット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（鍛治島工業・メイン）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（コーポレートムービー）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212848"/>
            <a:ext cx="6089904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2257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6928" y="2523744"/>
            <a:ext cx="5724144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作る場所は、変わっていません。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2938424"/>
            <a:ext cx="5724144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place has not changed.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354060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 表 テ ロ ッ プ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3723483"/>
            <a:ext cx="6089904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 創業　／　1980 SHIPS　／　1982 BEAMS　／　1990 UNITED ARROWS　／　1991 Paul Smith　／　2011 RALPH LAUREN 全直営店のカルトン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84048" y="449492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会社の姿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40-60秒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Brooklyn店舗の外観・店内（撮影して差し替え）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9" name="Image 0" descr="/home/user/dougaseisaku/assets/ref4/5_ref_06_図面と眼鏡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56688" y="5554144"/>
            <a:ext cx="1944624" cy="108529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45668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企画中の新作サンプルが並ぶ</a:t>
            </a:r>
            <a:pPr indent="0" marL="0">
              <a:lnSpc>
                <a:spcPct val="126000"/>
              </a:lnSpc>
              <a:buNone/>
            </a:pP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ナレーション再開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3" name="Image 1" descr="/home/user/dougaseisaku/assets/ref4/5_ref_07_図面をなぞる指_作業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9328" y="5554144"/>
            <a:ext cx="1944624" cy="1085295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52932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草ヶ谷さん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が革を漉く・仕上げる手元</a:t>
            </a:r>
            <a:endParaRPr lang="en-US" sz="780" dirty="0"/>
          </a:p>
        </p:txBody>
      </p:sp>
      <p:sp>
        <p:nvSpPr>
          <p:cNvPr id="26" name="Text 22"/>
          <p:cNvSpPr/>
          <p:nvPr/>
        </p:nvSpPr>
        <p:spPr>
          <a:xfrm>
            <a:off x="384048" y="819243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使われる・締め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60-75秒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8" name="Text 24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9" name="Text 25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購入され、店員から手渡される瞬間（撮影して差し替え）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1" name="Text 27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2" name="Text 28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実際に使われている手元（撮影して差し替え）</a:t>
            </a:r>
            <a:pPr indent="0" marL="0">
              <a:lnSpc>
                <a:spcPct val="126000"/>
              </a:lnSpc>
              <a:buNone/>
            </a:pPr>
            <a:endParaRPr lang="en-US" sz="78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ナレーション最後の一言</a:t>
            </a:r>
            <a:endParaRPr lang="en-US" sz="780" dirty="0"/>
          </a:p>
        </p:txBody>
      </p:sp>
      <p:sp>
        <p:nvSpPr>
          <p:cNvPr id="33" name="Shape 29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4" name="Image 2" descr="/home/user/dougaseisaku/assets/ref4/5_ref_16_締めのテロップ_造るを創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9328" y="9251653"/>
            <a:ext cx="1944624" cy="1085295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ナレーションが終わり → テロップ → ロゴ</a:t>
            </a:r>
            <a:endParaRPr lang="en-US" sz="780" dirty="0"/>
          </a:p>
        </p:txBody>
      </p:sp>
      <p:sp>
        <p:nvSpPr>
          <p:cNvPr id="37" name="Text 32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8" name="Text 33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18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159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4177345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4360225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量産も少量生産もできる。検品まで自社で完結し、この形で届く。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990247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入る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0-25秒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5264567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84048" y="5264567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7708575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工房の外観と看板（ローアングル）。街の音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456688" y="5264567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456688" y="5264567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56688" y="7708575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中に入る。工房の全景（ハイアングル）。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29328" y="5264567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29328" y="5264567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529328" y="7708575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作業台に原反が広がる（真俯瞰）。扱える革の大きさを示す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384048" y="844009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歩く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25-95秒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" y="8714415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84048" y="8714415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金型が置かれ、裁断機が下りる／革包丁で細部を切る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2456688" y="8714415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2456688" y="8714415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ミシンで縫う（横）／手縫い。二本の針が交差する（マクロ）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529328" y="8714415"/>
            <a:ext cx="1944624" cy="2407432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529328" y="8714415"/>
            <a:ext cx="1944624" cy="240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目止め → コバ磨き。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全工程の四割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とテロップ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18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12ショット（展示会用の無音版 ×1）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工場見学ワンテイク型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を推奨（入口から入り、工程順に歩き、梱包場で終わる）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212848"/>
            <a:ext cx="6089904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2257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6928" y="2523744"/>
            <a:ext cx="5724144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2938424"/>
            <a:ext cx="5724144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354060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は 工 程 名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3723483"/>
            <a:ext cx="6089904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Cutting／機械縫製 Machine Stitching／手縫い Hand Stitching／目止め Edge Sealing／コバ磨き Edge Burnishing／検品 Inspection／梱包 Packing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84048" y="449492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検品 ★最重要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95-120秒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職人が縫い目と断面を目で確かめる（寄り）。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45668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検品済みの製品と道具が並ぶ（真俯瞰）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452932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52932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</a:t>
            </a:r>
            <a:endParaRPr lang="en-US" sz="780" dirty="0"/>
          </a:p>
        </p:txBody>
      </p:sp>
      <p:sp>
        <p:nvSpPr>
          <p:cNvPr id="24" name="Text 22"/>
          <p:cNvSpPr/>
          <p:nvPr/>
        </p:nvSpPr>
        <p:spPr>
          <a:xfrm>
            <a:off x="384048" y="819243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包む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120-140秒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不織布で包み、角を折る（真俯瞰）。紙の音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ここまで見せる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4529328" y="8466754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 → 問い合わせ先とURL</a:t>
            </a:r>
            <a:endParaRPr lang="en-US" sz="780" dirty="0"/>
          </a:p>
        </p:txBody>
      </p:sp>
      <p:sp>
        <p:nvSpPr>
          <p:cNvPr id="34" name="Text 32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18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14171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購入転換率が0.263%。前年0.583%から半減している。写真では入る量が伝わらない。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白い台の上、正面固定。カメラは一度も動かさない。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三品番を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同じ画角・同じ小物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で撮るので、並べたときに大きさの差がそのまま分かる。冒頭三秒は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で入り、引いた瞬間にカラーへ。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秤のカットは使わない。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数字を読ませるかわりに、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片手で持ち上げる動作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で軽さを見せる。数字は小さくテロップで添えるだけ。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995791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4178671"/>
            <a:ext cx="6089904" cy="3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A4もノートPCも入って、片手で持ち上がる。三品番の大きさの差が、並べれば分かる。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808692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質感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5083012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4" name="Image 0" descr="/home/user/dougaseisaku/assets/ref4/7_S1_01_モノクロのファスナー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031" y="5083012"/>
            <a:ext cx="1796657" cy="2498209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84048" y="5083012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84048" y="7617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超マクロ・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モノクロ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。ファスナーの歯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2456688" y="5083012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8" name="Image 1" descr="/home/user/dougaseisaku/assets/ref4/7_S1_02_型押しの質感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0671" y="5083012"/>
            <a:ext cx="1796657" cy="2498209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2456688" y="5083012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456688" y="7617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型押しのロゴ、ハンドルの付け根</a:t>
            </a:r>
            <a:endParaRPr lang="en-US" sz="780" dirty="0"/>
          </a:p>
        </p:txBody>
      </p:sp>
      <p:sp>
        <p:nvSpPr>
          <p:cNvPr id="21" name="Shape 17"/>
          <p:cNvSpPr/>
          <p:nvPr/>
        </p:nvSpPr>
        <p:spPr>
          <a:xfrm>
            <a:off x="4529328" y="5083012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2" name="Image 2" descr="/home/user/dougaseisaku/assets/ref4/7_S1_03_白い台に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311" y="5083012"/>
            <a:ext cx="1796657" cy="2498209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529328" y="5083012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4529328" y="7617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引く。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カラーに変わる。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白い台に鞄が一つ</a:t>
            </a:r>
            <a:endParaRPr lang="en-US" sz="780" dirty="0"/>
          </a:p>
        </p:txBody>
      </p:sp>
      <p:sp>
        <p:nvSpPr>
          <p:cNvPr id="25" name="Text 20"/>
          <p:cNvSpPr/>
          <p:nvPr/>
        </p:nvSpPr>
        <p:spPr>
          <a:xfrm>
            <a:off x="384048" y="8349318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6-16秒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384048" y="8623638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7" name="Image 3" descr="/home/user/dougaseisaku/assets/ref4/7_S2_03_PC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031" y="8623638"/>
            <a:ext cx="1796657" cy="249820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384048" y="8623638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正面固定。A4書類とノートPCを入れる</a:t>
            </a:r>
            <a:endParaRPr lang="en-US" sz="780" dirty="0"/>
          </a:p>
        </p:txBody>
      </p:sp>
      <p:sp>
        <p:nvSpPr>
          <p:cNvPr id="30" name="Shape 24"/>
          <p:cNvSpPr/>
          <p:nvPr/>
        </p:nvSpPr>
        <p:spPr>
          <a:xfrm>
            <a:off x="2456688" y="8623638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1" name="Image 4" descr="/home/user/dougaseisaku/assets/ref4/7_S2_01_入れていく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30671" y="8623638"/>
            <a:ext cx="1796657" cy="2498209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2456688" y="8623638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同じ画角。手帳・鍵・サングラス。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顔は入れない</a:t>
            </a:r>
            <a:endParaRPr lang="en-US" sz="780" dirty="0"/>
          </a:p>
        </p:txBody>
      </p:sp>
      <p:sp>
        <p:nvSpPr>
          <p:cNvPr id="34" name="Shape 27"/>
          <p:cNvSpPr/>
          <p:nvPr/>
        </p:nvSpPr>
        <p:spPr>
          <a:xfrm>
            <a:off x="4529328" y="8623638"/>
            <a:ext cx="1944624" cy="249820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5" name="Image 5" descr="/home/user/dougaseisaku/assets/ref4/7_S2_02_小物を入れる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3311" y="8623638"/>
            <a:ext cx="1796657" cy="2498209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4529328" y="8623638"/>
            <a:ext cx="1944624" cy="249820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同じ画角。ペン・小物。入れる音を一つずつ拾う</a:t>
            </a:r>
            <a:endParaRPr lang="en-US" sz="780" dirty="0"/>
          </a:p>
        </p:txBody>
      </p:sp>
      <p:sp>
        <p:nvSpPr>
          <p:cNvPr id="38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9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18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HURRY UP.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急ぐ朝ほど、迷わない。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×3品番 ／ 10ショット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　＋　</a:t>
            </a:r>
            <a:pPr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（ASMR実測）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2212848"/>
            <a:ext cx="6089904" cy="11448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2322576"/>
            <a:ext cx="57241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66928" y="2523744"/>
            <a:ext cx="5724144" cy="35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かばんも、身支度のうち。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66928" y="2938424"/>
            <a:ext cx="5724144" cy="254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BAG IS PART OF GETTING READY.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354060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3723483"/>
            <a:ext cx="6089904" cy="478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千百六十グラム　／　返品送料無料</a:t>
            </a:r>
            <a:pPr indent="0" marL="0">
              <a:lnSpc>
                <a:spcPct val="134000"/>
              </a:lnSpc>
              <a:buNone/>
            </a:pPr>
            <a:endParaRPr lang="en-US" sz="87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三品番＝ロワイヤルMトート・ベルシートート・Lジップ</a:t>
            </a:r>
            <a:endParaRPr lang="en-US" sz="870" dirty="0"/>
          </a:p>
        </p:txBody>
      </p:sp>
      <p:sp>
        <p:nvSpPr>
          <p:cNvPr id="14" name="Text 12"/>
          <p:cNvSpPr/>
          <p:nvPr/>
        </p:nvSpPr>
        <p:spPr>
          <a:xfrm>
            <a:off x="384048" y="449492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持ち上げる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16-20秒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7_S3_01_持ち上げ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18" y="4769245"/>
            <a:ext cx="1909485" cy="265509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384048" y="4769245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片手で持ち上げる。</a:t>
            </a:r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軽さを動作で見せる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7"/>
          <p:cNvSpPr/>
          <p:nvPr/>
        </p:nvSpPr>
        <p:spPr>
          <a:xfrm>
            <a:off x="2456688" y="4769245"/>
            <a:ext cx="1944624" cy="2655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2456688" y="746091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肩にかける。台は動かさない</a:t>
            </a:r>
            <a:endParaRPr lang="en-US" sz="780" dirty="0"/>
          </a:p>
        </p:txBody>
      </p:sp>
      <p:sp>
        <p:nvSpPr>
          <p:cNvPr id="22" name="Text 19"/>
          <p:cNvSpPr/>
          <p:nvPr/>
        </p:nvSpPr>
        <p:spPr>
          <a:xfrm>
            <a:off x="384048" y="819243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残る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4_01_鞄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18" y="8466754"/>
            <a:ext cx="1909485" cy="265509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84048" y="8466754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人がフレームから出る。</a:t>
            </a:r>
            <a:pPr indent="0" marL="0">
              <a:lnSpc>
                <a:spcPct val="126000"/>
              </a:lnSpc>
              <a:buNone/>
            </a:pPr>
            <a:r>
              <a:rPr lang="en-US" sz="7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鞄だけが残る</a:t>
            </a:r>
            <a:endParaRPr lang="en-US" sz="780" dirty="0"/>
          </a:p>
        </p:txBody>
      </p:sp>
      <p:sp>
        <p:nvSpPr>
          <p:cNvPr id="27" name="Shape 23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4_02_テロッ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74258" y="8466754"/>
            <a:ext cx="1909485" cy="265509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56688" y="8466754"/>
            <a:ext cx="1944624" cy="265509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80" dirty="0"/>
          </a:p>
        </p:txBody>
      </p:sp>
      <p:sp>
        <p:nvSpPr>
          <p:cNvPr id="31" name="Text 26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2" name="Text 27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18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1054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参考動画・具体的な演出はまだ未定。商品説明を人が語らない他の七本とは違い、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唯一の一本になる見込み。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：誰に聞くか（既存の購入者にお願いするか、社内の方に使用者として話してもらうか）、顔出しの範囲、質問内容、撮影場所。これらが決まり次第、絵コンテを本設計に差し替える。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3632683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384048" y="3815563"/>
            <a:ext cx="6089904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463669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導入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84048" y="4911014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84048" y="4911014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84048" y="7531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日常の中で迎える（来店・使用シーンなど）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2456688" y="4911014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2456688" y="4911014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56688" y="7531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名前は出さず「使っている人」として自己紹介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29328" y="4911014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529328" y="4911014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4529328" y="7531798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手元のBROOKLYNの鞄が画面に入る</a:t>
            </a:r>
            <a:endParaRPr lang="en-US" sz="780" dirty="0"/>
          </a:p>
        </p:txBody>
      </p:sp>
      <p:sp>
        <p:nvSpPr>
          <p:cNvPr id="22" name="Text 20"/>
          <p:cNvSpPr/>
          <p:nvPr/>
        </p:nvSpPr>
        <p:spPr>
          <a:xfrm>
            <a:off x="384048" y="8263319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質問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84048" y="8537639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84048" y="8537639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「なぜこれを選んだか」を聞く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2456688" y="8537639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2456688" y="8537639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実際に使っているシーンを見せながら答えてもらう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4529328" y="8537639"/>
            <a:ext cx="1944624" cy="2584209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4529328" y="8537639"/>
            <a:ext cx="1944624" cy="2584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52932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良かった点を具体的なエピソードで語ってもらう</a:t>
            </a:r>
            <a:endParaRPr lang="en-US" sz="780" dirty="0"/>
          </a:p>
        </p:txBody>
      </p:sp>
      <p:sp>
        <p:nvSpPr>
          <p:cNvPr id="32" name="Text 30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18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36576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32688" y="365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84048" y="585216"/>
            <a:ext cx="6089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購入者インタビュー（仮タイトル）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84048" y="1042416"/>
            <a:ext cx="6089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 (Title TBD)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35024"/>
            <a:ext cx="6089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尺・ショット数＝未定（インタビュー形式）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EC商品ページ・レビュー欄・Instagram（仮）</a:t>
            </a:r>
            <a:endParaRPr lang="en-US" sz="1050" dirty="0"/>
          </a:p>
          <a:p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参考動画＝未定。</a:t>
            </a:r>
            <a:pPr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購入者インタビュー型</a:t>
            </a:r>
            <a:pPr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を推奨（顔出しの可否・質問内容は未定）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84048" y="2084832"/>
            <a:ext cx="6089904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2212848"/>
            <a:ext cx="60899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 め る こ と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84048" y="2395728"/>
            <a:ext cx="6089904" cy="312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7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出演者・顔出しの範囲・質問内容・撮影場所。これらが決まり次第、絵コンテを本設計に差し替えます。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384048" y="3000905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本音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" y="3275225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384048" y="3275225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8404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購入前に迷っていた話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456688" y="3275225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456688" y="3275225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45668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買ってから変わったことを一言で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4529328" y="3275225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29328" y="3275225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529328" y="6713904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表情のアップ。台本にない一言を拾う</a:t>
            </a:r>
            <a:endParaRPr lang="en-US" sz="780" dirty="0"/>
          </a:p>
        </p:txBody>
      </p:sp>
      <p:sp>
        <p:nvSpPr>
          <p:cNvPr id="20" name="Text 18"/>
          <p:cNvSpPr/>
          <p:nvPr/>
        </p:nvSpPr>
        <p:spPr>
          <a:xfrm>
            <a:off x="384048" y="7445424"/>
            <a:ext cx="6089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締め</a:t>
            </a:r>
            <a:pPr indent="0" marL="0">
              <a:buNone/>
            </a:pPr>
            <a:r>
              <a:rPr lang="en-US" sz="9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秒数未定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" y="7719744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84048" y="7719744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8404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鞄を持って歩き出す後ろ姿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2456688" y="7719744"/>
            <a:ext cx="1944624" cy="3402103"/>
          </a:xfrm>
          <a:prstGeom prst="rect">
            <a:avLst/>
          </a:prstGeom>
          <a:solidFill>
            <a:srgbClr val="FBF9F4"/>
          </a:solidFill>
          <a:ln w="9525">
            <a:solidFill>
              <a:srgbClr val="C9BDA6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2456688" y="7719744"/>
            <a:ext cx="1944624" cy="34021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3A8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撮影して差し替え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456688" y="11158423"/>
            <a:ext cx="19446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7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 → ロゴ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384048" y="11807647"/>
            <a:ext cx="499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376672" y="118076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18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2026-09-04T07:52:43Z</dcterms:created>
  <dcterms:modified xsi:type="dcterms:W3CDTF">2026-09-04T07:52:43Z</dcterms:modified>
</cp:coreProperties>
</file>