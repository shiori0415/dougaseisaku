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nstagram.com/reels/DZG2DvMh-Ts/" TargetMode="External"/><Relationship Id="rId2" Type="http://schemas.openxmlformats.org/officeDocument/2006/relationships/hyperlink" Target="http://youtube.com/shorts/c2mH8rStFCA" TargetMode="External"/><Relationship Id="rId3" Type="http://schemas.openxmlformats.org/officeDocument/2006/relationships/hyperlink" Target="https://www.instagram.com/reel/DbAniDDyF0U/" TargetMode="External"/><Relationship Id="rId4" Type="http://schemas.openxmlformats.org/officeDocument/2006/relationships/hyperlink" Target="https://www.instagram.com/reels/DWiwFp5DED-/" TargetMode="External"/><Relationship Id="rId5" Type="http://schemas.openxmlformats.org/officeDocument/2006/relationships/hyperlink" Target="https://www.instagram.com/reels/DcOkNyyoFFJ/" TargetMode="External"/><Relationship Id="rId6" Type="http://schemas.openxmlformats.org/officeDocument/2006/relationships/hyperlink" Target="https://www.youtube.com/watch?v=4DEy0CAg43s" TargetMode="External"/><Relationship Id="rId7" Type="http://schemas.openxmlformats.org/officeDocument/2006/relationships/hyperlink" Target="https://youtu.be/OU-qyAcn2YM" TargetMode="External"/><Relationship Id="rId8" Type="http://schemas.openxmlformats.org/officeDocument/2006/relationships/hyperlink" Target="https://youtu.be/OPDWrOeD-gU" TargetMode="External"/><Relationship Id="rId9" Type="http://schemas.openxmlformats.org/officeDocument/2006/relationships/hyperlink" Target="https://www.instagram.com/reel/DZE-_hZuwXb/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nstagram.com/reels/DZG2DvMh-Ts/" TargetMode="External"/><Relationship Id="rId2" Type="http://schemas.openxmlformats.org/officeDocument/2006/relationships/image" Target="../media/image-3-1.jpg"/><Relationship Id="rId3" Type="http://schemas.openxmlformats.org/officeDocument/2006/relationships/image" Target="../media/image-3-2.jpg"/><Relationship Id="rId4" Type="http://schemas.openxmlformats.org/officeDocument/2006/relationships/image" Target="../media/image-3-3.jpg"/><Relationship Id="rId5" Type="http://schemas.openxmlformats.org/officeDocument/2006/relationships/image" Target="../media/image-3-4.jpg"/><Relationship Id="rId6" Type="http://schemas.openxmlformats.org/officeDocument/2006/relationships/image" Target="../media/image-3-5.jpg"/><Relationship Id="rId7" Type="http://schemas.openxmlformats.org/officeDocument/2006/relationships/image" Target="../media/image-3-6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nstagram.com/reels/DZG2DvMh-Ts/" TargetMode="External"/><Relationship Id="rId2" Type="http://schemas.openxmlformats.org/officeDocument/2006/relationships/image" Target="../media/image-4-1.jpg"/><Relationship Id="rId3" Type="http://schemas.openxmlformats.org/officeDocument/2006/relationships/image" Target="../media/image-4-2.jpg"/><Relationship Id="rId4" Type="http://schemas.openxmlformats.org/officeDocument/2006/relationships/image" Target="../media/image-4-3.jpg"/><Relationship Id="rId5" Type="http://schemas.openxmlformats.org/officeDocument/2006/relationships/image" Target="../media/image-4-4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nstagram.com/reels/DZG2DvMh-Ts/" TargetMode="External"/><Relationship Id="rId2" Type="http://schemas.openxmlformats.org/officeDocument/2006/relationships/image" Target="../media/image-5-1.jpg"/><Relationship Id="rId3" Type="http://schemas.openxmlformats.org/officeDocument/2006/relationships/image" Target="../media/image-5-2.jpg"/><Relationship Id="rId4" Type="http://schemas.openxmlformats.org/officeDocument/2006/relationships/image" Target="../media/image-5-3.jpg"/><Relationship Id="rId5" Type="http://schemas.openxmlformats.org/officeDocument/2006/relationships/image" Target="../media/image-5-4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nstagram.com/reels/DZG2DvMh-Ts/" TargetMode="External"/><Relationship Id="rId2" Type="http://schemas.openxmlformats.org/officeDocument/2006/relationships/image" Target="../media/image-6-1.jpg"/><Relationship Id="rId3" Type="http://schemas.openxmlformats.org/officeDocument/2006/relationships/image" Target="../media/image-6-2.jpg"/><Relationship Id="rId4" Type="http://schemas.openxmlformats.org/officeDocument/2006/relationships/image" Target="../media/image-6-3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://youtube.com/shorts/c2mH8rStFCA" TargetMode="External"/><Relationship Id="rId2" Type="http://schemas.openxmlformats.org/officeDocument/2006/relationships/hyperlink" Target="https://www.instagram.com/reel/DbAniDDyF0U/" TargetMode="External"/><Relationship Id="rId3" Type="http://schemas.openxmlformats.org/officeDocument/2006/relationships/image" Target="../media/image-7-1.jpg"/><Relationship Id="rId4" Type="http://schemas.openxmlformats.org/officeDocument/2006/relationships/image" Target="../media/image-7-2.jpg"/><Relationship Id="rId5" Type="http://schemas.openxmlformats.org/officeDocument/2006/relationships/image" Target="../media/image-7-3.jpg"/><Relationship Id="rId6" Type="http://schemas.openxmlformats.org/officeDocument/2006/relationships/image" Target="../media/image-7-4.jpg"/><Relationship Id="rId7" Type="http://schemas.openxmlformats.org/officeDocument/2006/relationships/image" Target="../media/image-7-5.jpg"/><Relationship Id="rId8" Type="http://schemas.openxmlformats.org/officeDocument/2006/relationships/image" Target="../media/image-7-6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://youtube.com/shorts/c2mH8rStFCA" TargetMode="External"/><Relationship Id="rId2" Type="http://schemas.openxmlformats.org/officeDocument/2006/relationships/hyperlink" Target="https://www.instagram.com/reel/DbAniDDyF0U/" TargetMode="External"/><Relationship Id="rId3" Type="http://schemas.openxmlformats.org/officeDocument/2006/relationships/image" Target="../media/image-8-1.jpg"/><Relationship Id="rId4" Type="http://schemas.openxmlformats.org/officeDocument/2006/relationships/image" Target="../media/image-8-2.jpg"/><Relationship Id="rId5" Type="http://schemas.openxmlformats.org/officeDocument/2006/relationships/image" Target="../media/image-8-3.jpg"/><Relationship Id="rId6" Type="http://schemas.openxmlformats.org/officeDocument/2006/relationships/image" Target="../media/image-8-4.jpg"/><Relationship Id="rId7" Type="http://schemas.openxmlformats.org/officeDocument/2006/relationships/image" Target="../media/image-8-5.jpg"/><Relationship Id="rId8" Type="http://schemas.openxmlformats.org/officeDocument/2006/relationships/image" Target="../media/image-8-6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://youtube.com/shorts/c2mH8rStFCA" TargetMode="External"/><Relationship Id="rId2" Type="http://schemas.openxmlformats.org/officeDocument/2006/relationships/hyperlink" Target="https://www.instagram.com/reel/DbAniDDyF0U/" TargetMode="External"/><Relationship Id="rId3" Type="http://schemas.openxmlformats.org/officeDocument/2006/relationships/image" Target="../media/image-9-1.jpg"/><Relationship Id="rId4" Type="http://schemas.openxmlformats.org/officeDocument/2006/relationships/image" Target="../media/image-9-2.jpg"/><Relationship Id="rId5" Type="http://schemas.openxmlformats.org/officeDocument/2006/relationships/image" Target="../media/image-9-3.jpg"/><Relationship Id="rId6" Type="http://schemas.openxmlformats.org/officeDocument/2006/relationships/image" Target="../media/image-9-4.jpg"/><Relationship Id="rId7" Type="http://schemas.openxmlformats.org/officeDocument/2006/relationships/image" Target="../media/image-9-5.jpg"/><Relationship Id="rId8" Type="http://schemas.openxmlformats.org/officeDocument/2006/relationships/image" Target="../media/image-9-6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://youtube.com/shorts/c2mH8rStFCA" TargetMode="External"/><Relationship Id="rId2" Type="http://schemas.openxmlformats.org/officeDocument/2006/relationships/hyperlink" Target="https://www.instagram.com/reel/DbAniDDyF0U/" TargetMode="External"/><Relationship Id="rId3" Type="http://schemas.openxmlformats.org/officeDocument/2006/relationships/image" Target="../media/image-10-1.jpg"/><Relationship Id="rId4" Type="http://schemas.openxmlformats.org/officeDocument/2006/relationships/image" Target="../media/image-10-2.jpg"/><Relationship Id="rId5" Type="http://schemas.openxmlformats.org/officeDocument/2006/relationships/image" Target="../media/image-10-3.jpg"/><Relationship Id="rId6" Type="http://schemas.openxmlformats.org/officeDocument/2006/relationships/image" Target="../media/image-10-4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nstagram.com/reels/DWiwFp5DED-/" TargetMode="External"/><Relationship Id="rId2" Type="http://schemas.openxmlformats.org/officeDocument/2006/relationships/image" Target="../media/image-11-1.jpg"/><Relationship Id="rId3" Type="http://schemas.openxmlformats.org/officeDocument/2006/relationships/image" Target="../media/image-11-2.jpg"/><Relationship Id="rId4" Type="http://schemas.openxmlformats.org/officeDocument/2006/relationships/image" Target="../media/image-11-3.jpg"/><Relationship Id="rId5" Type="http://schemas.openxmlformats.org/officeDocument/2006/relationships/image" Target="../media/image-11-4.jpg"/><Relationship Id="rId6" Type="http://schemas.openxmlformats.org/officeDocument/2006/relationships/image" Target="../media/image-1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nstagram.com/reels/DWiwFp5DED-/" TargetMode="External"/><Relationship Id="rId2" Type="http://schemas.openxmlformats.org/officeDocument/2006/relationships/image" Target="../media/image-12-1.jpg"/><Relationship Id="rId3" Type="http://schemas.openxmlformats.org/officeDocument/2006/relationships/image" Target="../media/image-12-2.jpg"/><Relationship Id="rId4" Type="http://schemas.openxmlformats.org/officeDocument/2006/relationships/image" Target="../media/image-12-3.jpg"/><Relationship Id="rId5" Type="http://schemas.openxmlformats.org/officeDocument/2006/relationships/image" Target="../media/image-12-4.jpg"/><Relationship Id="rId6" Type="http://schemas.openxmlformats.org/officeDocument/2006/relationships/image" Target="../media/image-12-5.jpg"/><Relationship Id="rId7" Type="http://schemas.openxmlformats.org/officeDocument/2006/relationships/image" Target="../media/image-12-6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nstagram.com/reels/DWiwFp5DED-/" TargetMode="External"/><Relationship Id="rId2" Type="http://schemas.openxmlformats.org/officeDocument/2006/relationships/image" Target="../media/image-13-1.jpg"/><Relationship Id="rId3" Type="http://schemas.openxmlformats.org/officeDocument/2006/relationships/image" Target="../media/image-13-2.jpg"/><Relationship Id="rId4" Type="http://schemas.openxmlformats.org/officeDocument/2006/relationships/image" Target="../media/image-13-3.jpg"/><Relationship Id="rId5" Type="http://schemas.openxmlformats.org/officeDocument/2006/relationships/image" Target="../media/image-13-4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nstagram.com/reels/DcOkNyyoFFJ/" TargetMode="External"/><Relationship Id="rId2" Type="http://schemas.openxmlformats.org/officeDocument/2006/relationships/image" Target="../media/image-14-1.jpg"/><Relationship Id="rId3" Type="http://schemas.openxmlformats.org/officeDocument/2006/relationships/image" Target="../media/image-14-2.jpg"/><Relationship Id="rId4" Type="http://schemas.openxmlformats.org/officeDocument/2006/relationships/image" Target="../media/image-14-3.jpg"/><Relationship Id="rId5" Type="http://schemas.openxmlformats.org/officeDocument/2006/relationships/image" Target="../media/image-14-4.jpg"/><Relationship Id="rId6" Type="http://schemas.openxmlformats.org/officeDocument/2006/relationships/image" Target="../media/image-14-5.jpg"/><Relationship Id="rId7" Type="http://schemas.openxmlformats.org/officeDocument/2006/relationships/image" Target="../media/image-14-6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nstagram.com/reels/DcOkNyyoFFJ/" TargetMode="External"/><Relationship Id="rId2" Type="http://schemas.openxmlformats.org/officeDocument/2006/relationships/image" Target="../media/image-15-1.jpg"/><Relationship Id="rId3" Type="http://schemas.openxmlformats.org/officeDocument/2006/relationships/image" Target="../media/image-15-2.jpg"/><Relationship Id="rId4" Type="http://schemas.openxmlformats.org/officeDocument/2006/relationships/image" Target="../media/image-15-3.jpg"/><Relationship Id="rId5" Type="http://schemas.openxmlformats.org/officeDocument/2006/relationships/image" Target="../media/image-15-4.jpg"/><Relationship Id="rId6" Type="http://schemas.openxmlformats.org/officeDocument/2006/relationships/image" Target="../media/image-1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4DEy0CAg43s" TargetMode="External"/><Relationship Id="rId2" Type="http://schemas.openxmlformats.org/officeDocument/2006/relationships/hyperlink" Target="https://youtu.be/OU-qyAcn2YM" TargetMode="External"/><Relationship Id="rId3" Type="http://schemas.openxmlformats.org/officeDocument/2006/relationships/hyperlink" Target="https://youtu.be/OPDWrOeD-gU" TargetMode="External"/><Relationship Id="rId4" Type="http://schemas.openxmlformats.org/officeDocument/2006/relationships/image" Target="../media/image-16-1.jpg"/><Relationship Id="rId5" Type="http://schemas.openxmlformats.org/officeDocument/2006/relationships/image" Target="../media/image-16-2.jpg"/><Relationship Id="rId6" Type="http://schemas.openxmlformats.org/officeDocument/2006/relationships/image" Target="../media/image-16-3.jpg"/><Relationship Id="rId7" Type="http://schemas.openxmlformats.org/officeDocument/2006/relationships/image" Target="../media/image-16-4.jpg"/><Relationship Id="rId8" Type="http://schemas.openxmlformats.org/officeDocument/2006/relationships/image" Target="../media/image-16-5.jpg"/><Relationship Id="rId9" Type="http://schemas.openxmlformats.org/officeDocument/2006/relationships/image" Target="../media/image-16-6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4DEy0CAg43s" TargetMode="External"/><Relationship Id="rId2" Type="http://schemas.openxmlformats.org/officeDocument/2006/relationships/hyperlink" Target="https://youtu.be/OU-qyAcn2YM" TargetMode="External"/><Relationship Id="rId3" Type="http://schemas.openxmlformats.org/officeDocument/2006/relationships/hyperlink" Target="https://youtu.be/OPDWrOeD-gU" TargetMode="External"/><Relationship Id="rId4" Type="http://schemas.openxmlformats.org/officeDocument/2006/relationships/image" Target="../media/image-17-1.jpg"/><Relationship Id="rId5" Type="http://schemas.openxmlformats.org/officeDocument/2006/relationships/image" Target="../media/image-17-2.jpg"/><Relationship Id="rId6" Type="http://schemas.openxmlformats.org/officeDocument/2006/relationships/image" Target="../media/image-17-3.jpg"/><Relationship Id="rId7" Type="http://schemas.openxmlformats.org/officeDocument/2006/relationships/image" Target="../media/image-17-4.jpg"/><Relationship Id="rId8" Type="http://schemas.openxmlformats.org/officeDocument/2006/relationships/image" Target="../media/image-17-5.jpg"/><Relationship Id="rId9" Type="http://schemas.openxmlformats.org/officeDocument/2006/relationships/image" Target="../media/image-17-6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4DEy0CAg43s" TargetMode="External"/><Relationship Id="rId2" Type="http://schemas.openxmlformats.org/officeDocument/2006/relationships/hyperlink" Target="https://youtu.be/OU-qyAcn2YM" TargetMode="External"/><Relationship Id="rId3" Type="http://schemas.openxmlformats.org/officeDocument/2006/relationships/hyperlink" Target="https://youtu.be/OPDWrOeD-gU" TargetMode="External"/><Relationship Id="rId4" Type="http://schemas.openxmlformats.org/officeDocument/2006/relationships/image" Target="../media/image-18-1.jpg"/><Relationship Id="rId5" Type="http://schemas.openxmlformats.org/officeDocument/2006/relationships/image" Target="../media/image-18-2.jpg"/><Relationship Id="rId6" Type="http://schemas.openxmlformats.org/officeDocument/2006/relationships/image" Target="../media/image-18-3.jpg"/><Relationship Id="rId7" Type="http://schemas.openxmlformats.org/officeDocument/2006/relationships/image" Target="../media/image-18-4.jpg"/><Relationship Id="rId8" Type="http://schemas.openxmlformats.org/officeDocument/2006/relationships/image" Target="../media/image-18-5.jpg"/><Relationship Id="rId9" Type="http://schemas.openxmlformats.org/officeDocument/2006/relationships/image" Target="../media/image-18-6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4DEy0CAg43s" TargetMode="External"/><Relationship Id="rId2" Type="http://schemas.openxmlformats.org/officeDocument/2006/relationships/hyperlink" Target="https://youtu.be/OU-qyAcn2YM" TargetMode="External"/><Relationship Id="rId3" Type="http://schemas.openxmlformats.org/officeDocument/2006/relationships/hyperlink" Target="https://youtu.be/OPDWrOeD-gU" TargetMode="External"/><Relationship Id="rId4" Type="http://schemas.openxmlformats.org/officeDocument/2006/relationships/image" Target="../media/image-19-1.jpg"/><Relationship Id="rId5" Type="http://schemas.openxmlformats.org/officeDocument/2006/relationships/image" Target="../media/image-19-2.jpg"/><Relationship Id="rId6" Type="http://schemas.openxmlformats.org/officeDocument/2006/relationships/image" Target="../media/image-19-3.jpg"/><Relationship Id="rId7" Type="http://schemas.openxmlformats.org/officeDocument/2006/relationships/image" Target="../media/image-19-4.jpg"/><Relationship Id="rId8" Type="http://schemas.openxmlformats.org/officeDocument/2006/relationships/image" Target="../media/image-19-5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image" Target="../media/image-20-3.jpg"/><Relationship Id="rId4" Type="http://schemas.openxmlformats.org/officeDocument/2006/relationships/image" Target="../media/image-20-4.jpg"/><Relationship Id="rId5" Type="http://schemas.openxmlformats.org/officeDocument/2006/relationships/image" Target="../media/image-20-5.jpg"/><Relationship Id="rId6" Type="http://schemas.openxmlformats.org/officeDocument/2006/relationships/image" Target="../media/image-20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image" Target="../media/image-21-3.jpg"/><Relationship Id="rId4" Type="http://schemas.openxmlformats.org/officeDocument/2006/relationships/image" Target="../media/image-21-4.jpg"/><Relationship Id="rId5" Type="http://schemas.openxmlformats.org/officeDocument/2006/relationships/image" Target="../media/image-21-5.jpg"/><Relationship Id="rId6" Type="http://schemas.openxmlformats.org/officeDocument/2006/relationships/image" Target="../media/image-21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image" Target="../media/image-22-3.jpg"/><Relationship Id="rId4" Type="http://schemas.openxmlformats.org/officeDocument/2006/relationships/image" Target="../media/image-22-4.jpg"/><Relationship Id="rId5" Type="http://schemas.openxmlformats.org/officeDocument/2006/relationships/image" Target="../media/image-22-5.jpg"/><Relationship Id="rId6" Type="http://schemas.openxmlformats.org/officeDocument/2006/relationships/image" Target="../media/image-22-6.jpg"/><Relationship Id="rId7" Type="http://schemas.openxmlformats.org/officeDocument/2006/relationships/image" Target="../media/image-22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image" Target="../media/image-23-3.jpg"/><Relationship Id="rId4" Type="http://schemas.openxmlformats.org/officeDocument/2006/relationships/image" Target="../media/image-23-4.jpg"/><Relationship Id="rId5" Type="http://schemas.openxmlformats.org/officeDocument/2006/relationships/image" Target="../media/image-23-5.jpg"/><Relationship Id="rId6" Type="http://schemas.openxmlformats.org/officeDocument/2006/relationships/image" Target="../media/image-23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image" Target="../media/image-2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nstagram.com/reel/DZE-_hZuwXb/" TargetMode="External"/><Relationship Id="rId2" Type="http://schemas.openxmlformats.org/officeDocument/2006/relationships/image" Target="../media/image-25-1.jpg"/><Relationship Id="rId3" Type="http://schemas.openxmlformats.org/officeDocument/2006/relationships/image" Target="../media/image-25-2.jpg"/><Relationship Id="rId4" Type="http://schemas.openxmlformats.org/officeDocument/2006/relationships/image" Target="../media/image-25-3.jpg"/><Relationship Id="rId5" Type="http://schemas.openxmlformats.org/officeDocument/2006/relationships/image" Target="../media/image-25-4.jpg"/><Relationship Id="rId6" Type="http://schemas.openxmlformats.org/officeDocument/2006/relationships/image" Target="../media/image-25-5.jpg"/><Relationship Id="rId7" Type="http://schemas.openxmlformats.org/officeDocument/2006/relationships/image" Target="../media/image-25-6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nstagram.com/reel/DZE-_hZuwXb/" TargetMode="External"/><Relationship Id="rId2" Type="http://schemas.openxmlformats.org/officeDocument/2006/relationships/image" Target="../media/image-26-1.jpg"/><Relationship Id="rId3" Type="http://schemas.openxmlformats.org/officeDocument/2006/relationships/image" Target="../media/image-26-2.jpg"/><Relationship Id="rId4" Type="http://schemas.openxmlformats.org/officeDocument/2006/relationships/image" Target="../media/image-26-3.jpg"/><Relationship Id="rId5" Type="http://schemas.openxmlformats.org/officeDocument/2006/relationships/image" Target="../media/image-26-4.jpg"/><Relationship Id="rId6" Type="http://schemas.openxmlformats.org/officeDocument/2006/relationships/image" Target="../media/image-2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nstagram.com/reel/DZE-_hZuwXb/" TargetMode="External"/><Relationship Id="rId2" Type="http://schemas.openxmlformats.org/officeDocument/2006/relationships/image" Target="../media/image-27-1.jpg"/><Relationship Id="rId3" Type="http://schemas.openxmlformats.org/officeDocument/2006/relationships/image" Target="../media/image-27-2.jpg"/><Relationship Id="rId4" Type="http://schemas.openxmlformats.org/officeDocument/2006/relationships/image" Target="../media/image-27-3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image" Target="../media/image-28-3.jpg"/><Relationship Id="rId4" Type="http://schemas.openxmlformats.org/officeDocument/2006/relationships/image" Target="../media/image-28-4.jpg"/><Relationship Id="rId5" Type="http://schemas.openxmlformats.org/officeDocument/2006/relationships/image" Target="../media/image-28-5.jpg"/><Relationship Id="rId6" Type="http://schemas.openxmlformats.org/officeDocument/2006/relationships/image" Target="../media/image-28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jpg"/><Relationship Id="rId3" Type="http://schemas.openxmlformats.org/officeDocument/2006/relationships/image" Target="../media/image-29-3.jpg"/><Relationship Id="rId4" Type="http://schemas.openxmlformats.org/officeDocument/2006/relationships/image" Target="../media/image-29-4.jpg"/><Relationship Id="rId5" Type="http://schemas.openxmlformats.org/officeDocument/2006/relationships/image" Target="../media/image-29-5.jpg"/><Relationship Id="rId6" Type="http://schemas.openxmlformats.org/officeDocument/2006/relationships/image" Target="../media/image-29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image" Target="../media/image-30-3.jpg"/><Relationship Id="rId4" Type="http://schemas.openxmlformats.org/officeDocument/2006/relationships/image" Target="../media/image-30-4.jpg"/><Relationship Id="rId5" Type="http://schemas.openxmlformats.org/officeDocument/2006/relationships/image" Target="../media/image-30-5.jpg"/><Relationship Id="rId6" Type="http://schemas.openxmlformats.org/officeDocument/2006/relationships/image" Target="../media/image-30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jpg"/><Relationship Id="rId3" Type="http://schemas.openxmlformats.org/officeDocument/2006/relationships/image" Target="../media/image-31-3.jpg"/><Relationship Id="rId4" Type="http://schemas.openxmlformats.org/officeDocument/2006/relationships/image" Target="../media/image-3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11480" y="1737360"/>
            <a:ext cx="1371600" cy="0"/>
          </a:xfrm>
          <a:prstGeom prst="line">
            <a:avLst/>
          </a:prstGeom>
          <a:noFill/>
          <a:ln w="2794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92024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 8本</a:t>
            </a:r>
            <a:endParaRPr lang="en-US" sz="4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企画・構成・絵コンテ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3429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50" kern="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Eight Films / Plan, Structure, Storyboard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5486400"/>
            <a:ext cx="11368735" cy="0"/>
          </a:xfrm>
          <a:prstGeom prst="line">
            <a:avLst/>
          </a:prstGeom>
          <a:noFill/>
          <a:ln w="12700">
            <a:solidFill>
              <a:srgbClr val="E6DE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561441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2026年9月6日　第5版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株式会社B supply　宮下 詩織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テロップはすべて日本語と英語の二本立てで記載しています。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/ 31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 次　CONTENTS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8本の動画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170432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本目・8本目以外は参考動画があり、絵コンテの写真もそこから抜いています。6本目は、いただいた写真と、5本目・2本目の映像から画角の参考として写真を当てています。8本目は、いただいた店舗紹介の録画から写真を当てています。参考動画の秒数は、いただいた録画から測った目安です。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91640"/>
          <a:ext cx="11368735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3017520"/>
                <a:gridCol w="1417320"/>
                <a:gridCol w="2606040"/>
                <a:gridCol w="38404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#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タイトル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尺・本数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届ける相手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参考動画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8763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その日の服に、その日の色。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 Colour for Every Outfit</a:t>
                      </a:r>
                      <a:endParaRPr lang="en-US" sz="1200" dirty="0"/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5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30秒 ×1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新規・リピーター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Link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（innovator SWEDEN）</a:t>
                      </a:r>
                      <a:endParaRPr lang="en-US" sz="1200" dirty="0"/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8763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この道、20年。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Twenty Years</a:t>
                      </a:r>
                      <a:endParaRPr lang="en-US" sz="1200" dirty="0"/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5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40秒 ×1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新規（まだ知らない人）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Link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　＋　</a:t>
                      </a:r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Link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（コバ塗り・477万再生）</a:t>
                      </a:r>
                      <a:endParaRPr lang="en-US" sz="1200" dirty="0"/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8763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The Making of the Voyage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Voyageの作り方</a:t>
                      </a:r>
                      <a:endParaRPr lang="en-US" sz="1200" dirty="0"/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5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28秒 ×1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メディア関係者・ハイエンド層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Link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（delvaux）</a:t>
                      </a:r>
                      <a:endParaRPr lang="en-US" sz="1200" dirty="0"/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8763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持ち歩くものが、その人をつくる。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What You Carry Makes You</a:t>
                      </a:r>
                      <a:endParaRPr lang="en-US" sz="1200" dirty="0"/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5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30秒 ×1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仕事道具として買う人・贈る人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Link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（parisawangny）</a:t>
                      </a:r>
                      <a:endParaRPr lang="en-US" sz="1200" dirty="0"/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8763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コーポレートムービー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Corporate Film</a:t>
                      </a:r>
                      <a:endParaRPr lang="en-US" sz="1200" dirty="0"/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5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75秒 ×1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メディア関係者・OEMの調達担当・新規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Link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　＋　</a:t>
                      </a:r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Link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　＋　</a:t>
                      </a:r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Link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（コーポレートムービー）</a:t>
                      </a:r>
                      <a:endParaRPr lang="en-US" sz="1200" dirty="0"/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8763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選ばれる理由。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Why Brands Choose Us</a:t>
                      </a:r>
                      <a:endParaRPr lang="en-US" sz="1200" dirty="0"/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5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2分20秒 ×1／無音版 ×1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OEMの調達・生産担当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8AC9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参考動画：⑤と同様（工場見学ワンテイク型を推奨）</a:t>
                      </a:r>
                      <a:endParaRPr lang="en-US" sz="1200" dirty="0"/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8763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朝も仕事も、スマートに。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Smart from Morning to Work</a:t>
                      </a:r>
                      <a:endParaRPr lang="en-US" sz="1200" dirty="0"/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5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25秒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新規（買う直前の人）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Link</a:t>
                      </a:r>
                      <a:endParaRPr lang="en-US" sz="1200" dirty="0"/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8763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購入者インタビュー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7A6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Customer Interview</a:t>
                      </a:r>
                      <a:endParaRPr lang="en-US" sz="1200" dirty="0"/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5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60秒 ×1（仮）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購入を迷っている新規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/ 31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/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その日の服に、その日の色。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 Colour for Every Outfit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30秒 ／ 17ショット（支度をのぞき、一場面につき全体と腰より上の二枚）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対象＝新規・リピーター　／　全媒体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参考動画＝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（innovator SWEDEN）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2110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家を出てから会社に着くまでの三十秒。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変わるのは服と、合わせる革の色。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（何色を使うかは撮影までに決めます）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カメラは固定しない。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服が変わるたびに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その人の表情も変える。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すまし顔・笑う・振り返る・立ち止まる ── 服装ごとに気分が違うことを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ポップに、テンポよく描写する。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音楽に合わせて切り替えると、色の変化が気持ちよくつながる。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手元の超アップは、冒頭のキーケース以外は使わない。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そこから先は全身の引きと、腰より上の二枚だけで撮る ── 変わったことが分かるのは体が見えているときだけで、手元まで寄ると何が変わったのか伝わらない。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場所は参考動画と同じで最後まで使い回し、人と服と色だけを入れ替える。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始まりはキーケースの寄り。ピントを外した状態から、手が入って取り上げ、ピントが合う。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そこから鏡で鞄を合わせ、玄関のドアを開ける。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ドアが開いた瞬間、もう別の服になっている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── この一本の決まりごとを、いちばん最初に見せてしまう。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支度が一色目。そこから四回着替えて、全部で五色。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支度をのぞく一つの場面は、二カットだけ撮る。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全体（全身が入る引き）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で服と鞄の色が変わったことを見せ、②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腰より上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に寄って表情と鞄の色を同時に見せる。この二枚を五回くり返す。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色が切り替わる瞬間は、必ず手前を何かが横切る。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①玄関のドアが開く（冒頭）②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が横切る ③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駅の柱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が横切る ④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が横切る ⑤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ロビーの柱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が横切る。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横切るものは各シーンの見出しに書いてある。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いずれも抜けた瞬間に服と色が変わっている。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参考動画は木の幹の前ボケでつないでいるので、並木道の二場面ではそれも使える。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参考動画はスーツケースの広告なので場所が空港になっている。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こちらは通勤路に置き換える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（並木道 → 駅 → 会社のエントランス）。玄関・並木道・駅・会社のロビーの四か所で撮り切れる。売り込みはひとつも入れない。</a:t>
            </a:r>
            <a:endParaRPr lang="en-US" sz="494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22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服が変われば、合う革の色も変わる。同じ革・同じ色で、財布からバッグまで揃う。</a:t>
            </a:r>
            <a:endParaRPr lang="en-US" sz="494" dirty="0"/>
          </a:p>
        </p:txBody>
      </p:sp>
      <p:sp>
        <p:nvSpPr>
          <p:cNvPr id="12" name="Shape 10"/>
          <p:cNvSpPr/>
          <p:nvPr/>
        </p:nvSpPr>
        <p:spPr>
          <a:xfrm>
            <a:off x="6324448" y="1923208"/>
            <a:ext cx="5455768" cy="8595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89040" y="2014648"/>
            <a:ext cx="5126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 ロ ッ プ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89040" y="2215816"/>
            <a:ext cx="5126584" cy="21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28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同じ道を、違う私で。</a:t>
            </a:r>
            <a:endParaRPr lang="en-US" sz="728" dirty="0"/>
          </a:p>
        </p:txBody>
      </p:sp>
      <p:sp>
        <p:nvSpPr>
          <p:cNvPr id="15" name="Text 13"/>
          <p:cNvSpPr/>
          <p:nvPr/>
        </p:nvSpPr>
        <p:spPr>
          <a:xfrm>
            <a:off x="6489040" y="2473816"/>
            <a:ext cx="5126584" cy="162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8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 SAME ROUTE, A DIFFERENT ME.</a:t>
            </a:r>
            <a:endParaRPr lang="en-US" sz="468" dirty="0"/>
          </a:p>
        </p:txBody>
      </p:sp>
      <p:sp>
        <p:nvSpPr>
          <p:cNvPr id="16" name="Text 14"/>
          <p:cNvSpPr/>
          <p:nvPr/>
        </p:nvSpPr>
        <p:spPr>
          <a:xfrm>
            <a:off x="6324448" y="2892439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 め の 一 カ ッ ト に 重 ね る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324448" y="3075319"/>
            <a:ext cx="5455768" cy="550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テロップ　同じ道を、違う私で。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 SAME ROUTE, A DIFFERENT ME.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ナレーション　毎日をカラフルに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Make every day colourful.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五色が並ぶ画の上にテロップを重ね、そこにナレーションを一言だけ入れて、そのままロゴで終える。</a:t>
            </a:r>
            <a:endParaRPr lang="en-US" sz="442" dirty="0"/>
          </a:p>
        </p:txBody>
      </p:sp>
      <p:sp>
        <p:nvSpPr>
          <p:cNvPr id="18" name="Text 16"/>
          <p:cNvSpPr/>
          <p:nvPr/>
        </p:nvSpPr>
        <p:spPr>
          <a:xfrm>
            <a:off x="3315500" y="4012539"/>
            <a:ext cx="2574608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S1 支度（一色目）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0-5秒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15500" y="4394758"/>
            <a:ext cx="575072" cy="10223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0" descr="/home/user/dougaseisaku/assets/ref4/1_S1_01_キーケースのアップ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500" y="4546513"/>
            <a:ext cx="575072" cy="71884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315500" y="4394758"/>
            <a:ext cx="575072" cy="1022350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15500" y="5453684"/>
            <a:ext cx="575072" cy="9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64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キーケースの寄りで始まる。初めはピントを外しておく。</a:t>
            </a:r>
            <a:pPr indent="0" marL="0">
              <a:lnSpc>
                <a:spcPct val="124000"/>
              </a:lnSpc>
              <a:buNone/>
            </a:pPr>
            <a:r>
              <a:rPr lang="en-US" sz="64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そこへ手が入って取り上げ、</a:t>
            </a:r>
            <a:pPr indent="0" marL="0">
              <a:lnSpc>
                <a:spcPct val="124000"/>
              </a:lnSpc>
              <a:buNone/>
            </a:pPr>
            <a:r>
              <a:rPr lang="en-US" sz="64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ピントが合う。</a:t>
            </a:r>
            <a:endParaRPr lang="en-US" sz="640" dirty="0"/>
          </a:p>
        </p:txBody>
      </p:sp>
      <p:sp>
        <p:nvSpPr>
          <p:cNvPr id="23" name="Shape 20"/>
          <p:cNvSpPr/>
          <p:nvPr/>
        </p:nvSpPr>
        <p:spPr>
          <a:xfrm>
            <a:off x="3982012" y="4394758"/>
            <a:ext cx="575072" cy="10223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1" descr="/home/user/dougaseisaku/assets/ref4/1_S1_02_鏡で身支度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012" y="4618397"/>
            <a:ext cx="575072" cy="575072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3982012" y="4394758"/>
            <a:ext cx="575072" cy="1022350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982012" y="5453684"/>
            <a:ext cx="575072" cy="9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鏡の前。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鞄を肩に当てて合わせる。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身支度をしているところ。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4648524" y="4394758"/>
            <a:ext cx="575072" cy="10223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8" name="Image 2" descr="/home/user/dougaseisaku/assets/ref4/1_S1_03_玄関のドアを開ける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524" y="4474297"/>
            <a:ext cx="575072" cy="863272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648524" y="4394758"/>
            <a:ext cx="575072" cy="1022350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648524" y="5453684"/>
            <a:ext cx="575072" cy="9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玄関のドアに手をかけて開ける（後ろ姿・逆光）。</a:t>
            </a:r>
            <a:endParaRPr lang="en-US" sz="720" dirty="0"/>
          </a:p>
        </p:txBody>
      </p:sp>
      <p:sp>
        <p:nvSpPr>
          <p:cNvPr id="31" name="Shape 26"/>
          <p:cNvSpPr/>
          <p:nvPr/>
        </p:nvSpPr>
        <p:spPr>
          <a:xfrm>
            <a:off x="5315036" y="4394758"/>
            <a:ext cx="575072" cy="10223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2" name="Image 3" descr="/home/user/dougaseisaku/assets/ref4/1_S2_01_ドアが開くと別の服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2156" y="4394758"/>
            <a:ext cx="560832" cy="1022350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5315036" y="4394758"/>
            <a:ext cx="575072" cy="1022350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315036" y="5453684"/>
            <a:ext cx="575072" cy="9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6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ドアが開くと、もう別の服になっている。</a:t>
            </a:r>
            <a:pPr indent="0" marL="0">
              <a:lnSpc>
                <a:spcPct val="124000"/>
              </a:lnSpc>
              <a:buNone/>
            </a:pPr>
            <a:r>
              <a:rPr lang="en-US" sz="6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同じ玄関、違う人。</a:t>
            </a:r>
            <a:pPr indent="0" marL="0">
              <a:lnSpc>
                <a:spcPct val="124000"/>
              </a:lnSpc>
              <a:buNone/>
            </a:pPr>
            <a:r>
              <a:rPr lang="en-US" sz="6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この一本の決まりごとを、いちばん最初に見せてしまう。</a:t>
            </a:r>
            <a:endParaRPr lang="en-US" sz="620" dirty="0"/>
          </a:p>
        </p:txBody>
      </p:sp>
      <p:sp>
        <p:nvSpPr>
          <p:cNvPr id="35" name="Text 29"/>
          <p:cNvSpPr/>
          <p:nvPr/>
        </p:nvSpPr>
        <p:spPr>
          <a:xfrm>
            <a:off x="6301588" y="4012539"/>
            <a:ext cx="2574608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S2 二色目・並木道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5-9秒　｜　切り替わり＝玄関のドアが開く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6301588" y="4394758"/>
            <a:ext cx="797243" cy="141732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7" name="Image 4" descr="/home/user/dougaseisaku/assets/ref4/1_S2_02_歩いてくる全身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1588" y="4815869"/>
            <a:ext cx="797243" cy="575098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6301588" y="4394758"/>
            <a:ext cx="797243" cy="1417320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6301588" y="5848654"/>
            <a:ext cx="7972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そのまま通勤路へ。並木道を歩いてくる全身の引き。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すまし顔。</a:t>
            </a:r>
            <a:endParaRPr lang="en-US" sz="720" dirty="0"/>
          </a:p>
        </p:txBody>
      </p:sp>
      <p:sp>
        <p:nvSpPr>
          <p:cNvPr id="40" name="Shape 33"/>
          <p:cNvSpPr/>
          <p:nvPr/>
        </p:nvSpPr>
        <p:spPr>
          <a:xfrm>
            <a:off x="7190270" y="4394758"/>
            <a:ext cx="797243" cy="141732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1" name="Image 5" descr="/home/user/dougaseisaku/assets/ref4/1_S2_03_腰より上_一色目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0270" y="4644400"/>
            <a:ext cx="797243" cy="918037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7190270" y="4394758"/>
            <a:ext cx="797243" cy="1417320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7190270" y="5848654"/>
            <a:ext cx="7972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腰より上。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同じ人に寄る。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鞄の色と表情が一度に見える。</a:t>
            </a:r>
            <a:endParaRPr lang="en-US" sz="720" dirty="0"/>
          </a:p>
        </p:txBody>
      </p:sp>
      <p:sp>
        <p:nvSpPr>
          <p:cNvPr id="44" name="Text 36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45" name="Text 37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/ 31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/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その日の服に、その日の色。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 Colour for Every Outfit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30秒 ／ 17ショット（支度をのぞき、一場面につき全体と腰より上の二枚）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対象＝新規・リピーター　／　全媒体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参考動画＝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（innovator SWEDEN）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2110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家を出てから会社に着くまでの三十秒。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変わるのは服と、合わせる革の色。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（何色を使うかは撮影までに決めます）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カメラは固定しない。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服が変わるたびに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その人の表情も変える。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すまし顔・笑う・振り返る・立ち止まる ── 服装ごとに気分が違うことを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ポップに、テンポよく描写する。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音楽に合わせて切り替えると、色の変化が気持ちよくつながる。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手元の超アップは、冒頭のキーケース以外は使わない。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そこから先は全身の引きと、腰より上の二枚だけで撮る ── 変わったことが分かるのは体が見えているときだけで、手元まで寄ると何が変わったのか伝わらない。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場所は参考動画と同じで最後まで使い回し、人と服と色だけを入れ替える。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始まりはキーケースの寄り。ピントを外した状態から、手が入って取り上げ、ピントが合う。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そこから鏡で鞄を合わせ、玄関のドアを開ける。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ドアが開いた瞬間、もう別の服になっている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── この一本の決まりごとを、いちばん最初に見せてしまう。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支度が一色目。そこから四回着替えて、全部で五色。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支度をのぞく一つの場面は、二カットだけ撮る。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全体（全身が入る引き）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で服と鞄の色が変わったことを見せ、②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腰より上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に寄って表情と鞄の色を同時に見せる。この二枚を五回くり返す。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色が切り替わる瞬間は、必ず手前を何かが横切る。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①玄関のドアが開く（冒頭）②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が横切る ③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駅の柱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が横切る ④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が横切る ⑤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ロビーの柱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が横切る。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横切るものは各シーンの見出しに書いてある。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いずれも抜けた瞬間に服と色が変わっている。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参考動画は木の幹の前ボケでつないでいるので、並木道の二場面ではそれも使える。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参考動画はスーツケースの広告なので場所が空港になっている。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こちらは通勤路に置き換える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（並木道 → 駅 → 会社のエントランス）。玄関・並木道・駅・会社のロビーの四か所で撮り切れる。売り込みはひとつも入れない。</a:t>
            </a:r>
            <a:endParaRPr lang="en-US" sz="494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22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服が変われば、合う革の色も変わる。同じ革・同じ色で、財布からバッグまで揃う。</a:t>
            </a:r>
            <a:endParaRPr lang="en-US" sz="494" dirty="0"/>
          </a:p>
        </p:txBody>
      </p:sp>
      <p:sp>
        <p:nvSpPr>
          <p:cNvPr id="12" name="Shape 10"/>
          <p:cNvSpPr/>
          <p:nvPr/>
        </p:nvSpPr>
        <p:spPr>
          <a:xfrm>
            <a:off x="6324448" y="1923208"/>
            <a:ext cx="5455768" cy="8595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89040" y="2014648"/>
            <a:ext cx="5126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 ロ ッ プ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89040" y="2215816"/>
            <a:ext cx="5126584" cy="21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28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同じ道を、違う私で。</a:t>
            </a:r>
            <a:endParaRPr lang="en-US" sz="728" dirty="0"/>
          </a:p>
        </p:txBody>
      </p:sp>
      <p:sp>
        <p:nvSpPr>
          <p:cNvPr id="15" name="Text 13"/>
          <p:cNvSpPr/>
          <p:nvPr/>
        </p:nvSpPr>
        <p:spPr>
          <a:xfrm>
            <a:off x="6489040" y="2473816"/>
            <a:ext cx="5126584" cy="162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8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 SAME ROUTE, A DIFFERENT ME.</a:t>
            </a:r>
            <a:endParaRPr lang="en-US" sz="468" dirty="0"/>
          </a:p>
        </p:txBody>
      </p:sp>
      <p:sp>
        <p:nvSpPr>
          <p:cNvPr id="16" name="Text 14"/>
          <p:cNvSpPr/>
          <p:nvPr/>
        </p:nvSpPr>
        <p:spPr>
          <a:xfrm>
            <a:off x="6324448" y="2892439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 め の 一 カ ッ ト に 重 ね る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324448" y="3075319"/>
            <a:ext cx="5455768" cy="550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テロップ　同じ道を、違う私で。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 SAME ROUTE, A DIFFERENT ME.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ナレーション　毎日をカラフルに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Make every day colourful.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五色が並ぶ画の上にテロップを重ね、そこにナレーションを一言だけ入れて、そのままロゴで終える。</a:t>
            </a:r>
            <a:endParaRPr lang="en-US" sz="442" dirty="0"/>
          </a:p>
        </p:txBody>
      </p:sp>
      <p:sp>
        <p:nvSpPr>
          <p:cNvPr id="18" name="Text 16"/>
          <p:cNvSpPr/>
          <p:nvPr/>
        </p:nvSpPr>
        <p:spPr>
          <a:xfrm>
            <a:off x="3309584" y="4012539"/>
            <a:ext cx="2580524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 三色目・並木道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9-13秒　｜　切り替わり＝手前を車が横切る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09584" y="4394758"/>
            <a:ext cx="799215" cy="1420826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0" descr="/home/user/dougaseisaku/assets/ref4/1_S3_01_服が変わり色も変わる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584" y="4847948"/>
            <a:ext cx="799215" cy="514446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309584" y="4394758"/>
            <a:ext cx="799215" cy="1420826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09584" y="5852160"/>
            <a:ext cx="799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車が抜けると、服も鞄の色も変わっている。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4200239" y="4394758"/>
            <a:ext cx="799215" cy="1420826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1" descr="/home/user/dougaseisaku/assets/ref4/1_S3_02_三色目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239" y="4847948"/>
            <a:ext cx="799215" cy="514446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200239" y="4394758"/>
            <a:ext cx="799215" cy="1420826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200239" y="5852160"/>
            <a:ext cx="799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腰より上。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サングラスを直す。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ここは笑っている表情で。</a:t>
            </a:r>
            <a:endParaRPr lang="en-US" sz="720" dirty="0"/>
          </a:p>
        </p:txBody>
      </p:sp>
      <p:sp>
        <p:nvSpPr>
          <p:cNvPr id="27" name="Text 23"/>
          <p:cNvSpPr/>
          <p:nvPr/>
        </p:nvSpPr>
        <p:spPr>
          <a:xfrm>
            <a:off x="6301588" y="4012539"/>
            <a:ext cx="2580524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S4 四色目・駅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13-17秒　｜　切り替わり＝手前を駅の柱が横切る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301588" y="4394758"/>
            <a:ext cx="799215" cy="1420826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9" name="Image 2" descr="/home/user/dougaseisaku/assets/ref4/1_S4_02_抜けたら四色目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588" y="4847948"/>
            <a:ext cx="799215" cy="514446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6301588" y="4394758"/>
            <a:ext cx="799215" cy="1420826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301588" y="5852160"/>
            <a:ext cx="799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柱が抜けると、場所が駅に変わっている。</a:t>
            </a:r>
            <a:endParaRPr lang="en-US" sz="720" dirty="0"/>
          </a:p>
        </p:txBody>
      </p:sp>
      <p:sp>
        <p:nvSpPr>
          <p:cNvPr id="32" name="Shape 27"/>
          <p:cNvSpPr/>
          <p:nvPr/>
        </p:nvSpPr>
        <p:spPr>
          <a:xfrm>
            <a:off x="7192242" y="4394758"/>
            <a:ext cx="799215" cy="1420826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3" name="Image 3" descr="/home/user/dougaseisaku/assets/ref4/1_S4_03_場所が変わる_構内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2242" y="4847948"/>
            <a:ext cx="799215" cy="514446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7192242" y="4394758"/>
            <a:ext cx="799215" cy="1420826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192242" y="5852160"/>
            <a:ext cx="799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腰より上。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構内を歩く。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少し急ぎ足の表情。</a:t>
            </a:r>
            <a:endParaRPr lang="en-US" sz="720" dirty="0"/>
          </a:p>
        </p:txBody>
      </p:sp>
      <p:sp>
        <p:nvSpPr>
          <p:cNvPr id="36" name="Text 30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/ 31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/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その日の服に、その日の色。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 Colour for Every Outfit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30秒 ／ 17ショット（支度をのぞき、一場面につき全体と腰より上の二枚）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対象＝新規・リピーター　／　全媒体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参考動画＝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（innovator SWEDEN）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2110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家を出てから会社に着くまでの三十秒。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変わるのは服と、合わせる革の色。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（何色を使うかは撮影までに決めます）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カメラは固定しない。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服が変わるたびに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その人の表情も変える。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すまし顔・笑う・振り返る・立ち止まる ── 服装ごとに気分が違うことを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ポップに、テンポよく描写する。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音楽に合わせて切り替えると、色の変化が気持ちよくつながる。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手元の超アップは、冒頭のキーケース以外は使わない。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そこから先は全身の引きと、腰より上の二枚だけで撮る ── 変わったことが分かるのは体が見えているときだけで、手元まで寄ると何が変わったのか伝わらない。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場所は参考動画と同じで最後まで使い回し、人と服と色だけを入れ替える。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始まりはキーケースの寄り。ピントを外した状態から、手が入って取り上げ、ピントが合う。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そこから鏡で鞄を合わせ、玄関のドアを開ける。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ドアが開いた瞬間、もう別の服になっている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── この一本の決まりごとを、いちばん最初に見せてしまう。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支度が一色目。そこから四回着替えて、全部で五色。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支度をのぞく一つの場面は、二カットだけ撮る。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全体（全身が入る引き）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で服と鞄の色が変わったことを見せ、②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腰より上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に寄って表情と鞄の色を同時に見せる。この二枚を五回くり返す。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色が切り替わる瞬間は、必ず手前を何かが横切る。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①玄関のドアが開く（冒頭）②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が横切る ③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駅の柱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が横切る ④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が横切る ⑤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ロビーの柱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が横切る。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横切るものは各シーンの見出しに書いてある。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いずれも抜けた瞬間に服と色が変わっている。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参考動画は木の幹の前ボケでつないでいるので、並木道の二場面ではそれも使える。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参考動画はスーツケースの広告なので場所が空港になっている。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こちらは通勤路に置き換える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（並木道 → 駅 → 会社のエントランス）。玄関・並木道・駅・会社のロビーの四か所で撮り切れる。売り込みはひとつも入れない。</a:t>
            </a:r>
            <a:endParaRPr lang="en-US" sz="494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22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服が変われば、合う革の色も変わる。同じ革・同じ色で、財布からバッグまで揃う。</a:t>
            </a:r>
            <a:endParaRPr lang="en-US" sz="494" dirty="0"/>
          </a:p>
        </p:txBody>
      </p:sp>
      <p:sp>
        <p:nvSpPr>
          <p:cNvPr id="12" name="Shape 10"/>
          <p:cNvSpPr/>
          <p:nvPr/>
        </p:nvSpPr>
        <p:spPr>
          <a:xfrm>
            <a:off x="6324448" y="1923208"/>
            <a:ext cx="5455768" cy="8595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89040" y="2014648"/>
            <a:ext cx="5126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 ロ ッ プ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89040" y="2215816"/>
            <a:ext cx="5126584" cy="21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28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同じ道を、違う私で。</a:t>
            </a:r>
            <a:endParaRPr lang="en-US" sz="728" dirty="0"/>
          </a:p>
        </p:txBody>
      </p:sp>
      <p:sp>
        <p:nvSpPr>
          <p:cNvPr id="15" name="Text 13"/>
          <p:cNvSpPr/>
          <p:nvPr/>
        </p:nvSpPr>
        <p:spPr>
          <a:xfrm>
            <a:off x="6489040" y="2473816"/>
            <a:ext cx="5126584" cy="162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8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 SAME ROUTE, A DIFFERENT ME.</a:t>
            </a:r>
            <a:endParaRPr lang="en-US" sz="468" dirty="0"/>
          </a:p>
        </p:txBody>
      </p:sp>
      <p:sp>
        <p:nvSpPr>
          <p:cNvPr id="16" name="Text 14"/>
          <p:cNvSpPr/>
          <p:nvPr/>
        </p:nvSpPr>
        <p:spPr>
          <a:xfrm>
            <a:off x="6324448" y="2892439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 め の 一 カ ッ ト に 重 ね る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324448" y="3075319"/>
            <a:ext cx="5455768" cy="550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テロップ　同じ道を、違う私で。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 SAME ROUTE, A DIFFERENT ME.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ナレーション　毎日をカラフルに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Make every day colourful.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五色が並ぶ画の上にテロップを重ね、そこにナレーションを一言だけ入れて、そのままロゴで終える。</a:t>
            </a:r>
            <a:endParaRPr lang="en-US" sz="442" dirty="0"/>
          </a:p>
        </p:txBody>
      </p:sp>
      <p:sp>
        <p:nvSpPr>
          <p:cNvPr id="18" name="Text 16"/>
          <p:cNvSpPr/>
          <p:nvPr/>
        </p:nvSpPr>
        <p:spPr>
          <a:xfrm>
            <a:off x="3315500" y="4012539"/>
            <a:ext cx="2574608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S5 五色目・駅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17-21秒　｜　切り替わり＝手前を人が横切る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15500" y="4394758"/>
            <a:ext cx="797243" cy="141732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0" descr="/home/user/dougaseisaku/assets/ref4/1_S5_02_通路を歩く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500" y="4846830"/>
            <a:ext cx="797243" cy="513176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315500" y="4394758"/>
            <a:ext cx="797243" cy="1417320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15500" y="5848654"/>
            <a:ext cx="7972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人が抜けると五色目。通路を横移動で追う。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4204183" y="4394758"/>
            <a:ext cx="797243" cy="141732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1" descr="/home/user/dougaseisaku/assets/ref4/1_S5_03_入口に着く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4183" y="4846830"/>
            <a:ext cx="797243" cy="513176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204183" y="4394758"/>
            <a:ext cx="797243" cy="1417320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204183" y="5848654"/>
            <a:ext cx="7972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腰より上。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入口に着く。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顔を上げる。</a:t>
            </a:r>
            <a:endParaRPr lang="en-US" sz="720" dirty="0"/>
          </a:p>
        </p:txBody>
      </p:sp>
      <p:sp>
        <p:nvSpPr>
          <p:cNvPr id="27" name="Text 23"/>
          <p:cNvSpPr/>
          <p:nvPr/>
        </p:nvSpPr>
        <p:spPr>
          <a:xfrm>
            <a:off x="6301588" y="4012539"/>
            <a:ext cx="2574608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S6 会社に着く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21-25秒　｜　切り替わり＝手前をロビーの柱が横切る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301588" y="4394758"/>
            <a:ext cx="797243" cy="141732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9" name="Image 2" descr="/home/user/dougaseisaku/assets/ref4/1_S6_03_立ち止まる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588" y="4846830"/>
            <a:ext cx="797243" cy="513176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6301588" y="4394758"/>
            <a:ext cx="797243" cy="1417320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301588" y="5848654"/>
            <a:ext cx="7972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60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全体。</a:t>
            </a:r>
            <a:pPr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柱が抜けるとロビー。立ち止まる。</a:t>
            </a:r>
            <a:pPr indent="0" marL="0">
              <a:lnSpc>
                <a:spcPct val="124000"/>
              </a:lnSpc>
              <a:buNone/>
            </a:pPr>
            <a:r>
              <a:rPr lang="en-US" sz="60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ここが到着点。最初のファッションに戻る。</a:t>
            </a:r>
            <a:endParaRPr lang="en-US" sz="600" dirty="0"/>
          </a:p>
        </p:txBody>
      </p:sp>
      <p:sp>
        <p:nvSpPr>
          <p:cNvPr id="32" name="Shape 27"/>
          <p:cNvSpPr/>
          <p:nvPr/>
        </p:nvSpPr>
        <p:spPr>
          <a:xfrm>
            <a:off x="7190270" y="4394758"/>
            <a:ext cx="797243" cy="141732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3" name="Image 3" descr="/home/user/dougaseisaku/assets/ref4/1_S6_04_腰より上_到着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0270" y="4646933"/>
            <a:ext cx="797243" cy="912971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7190270" y="4394758"/>
            <a:ext cx="797243" cy="1417320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190270" y="5848654"/>
            <a:ext cx="7972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腰より上。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肩の鞄を掛け直して笑う。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三十秒でいちばん明るい表情。</a:t>
            </a:r>
            <a:endParaRPr lang="en-US" sz="720" dirty="0"/>
          </a:p>
        </p:txBody>
      </p:sp>
      <p:sp>
        <p:nvSpPr>
          <p:cNvPr id="36" name="Text 30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 / 31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/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その日の服に、その日の色。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 Colour for Every Outfit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30秒 ／ 17ショット（支度をのぞき、一場面につき全体と腰より上の二枚）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対象＝新規・リピーター　／　全媒体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参考動画＝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（innovator SWEDEN）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2110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家を出てから会社に着くまでの三十秒。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変わるのは服と、合わせる革の色。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（何色を使うかは撮影までに決めます）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カメラは固定しない。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服が変わるたびに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その人の表情も変える。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すまし顔・笑う・振り返る・立ち止まる ── 服装ごとに気分が違うことを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ポップに、テンポよく描写する。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音楽に合わせて切り替えると、色の変化が気持ちよくつながる。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手元の超アップは、冒頭のキーケース以外は使わない。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そこから先は全身の引きと、腰より上の二枚だけで撮る ── 変わったことが分かるのは体が見えているときだけで、手元まで寄ると何が変わったのか伝わらない。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場所は参考動画と同じで最後まで使い回し、人と服と色だけを入れ替える。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始まりはキーケースの寄り。ピントを外した状態から、手が入って取り上げ、ピントが合う。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そこから鏡で鞄を合わせ、玄関のドアを開ける。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ドアが開いた瞬間、もう別の服になっている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── この一本の決まりごとを、いちばん最初に見せてしまう。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支度が一色目。そこから四回着替えて、全部で五色。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支度をのぞく一つの場面は、二カットだけ撮る。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全体（全身が入る引き）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で服と鞄の色が変わったことを見せ、②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腰より上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に寄って表情と鞄の色を同時に見せる。この二枚を五回くり返す。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色が切り替わる瞬間は、必ず手前を何かが横切る。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①玄関のドアが開く（冒頭）②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が横切る ③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駅の柱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が横切る ④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が横切る ⑤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ロビーの柱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が横切る。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横切るものは各シーンの見出しに書いてある。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いずれも抜けた瞬間に服と色が変わっている。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参考動画は木の幹の前ボケでつないでいるので、並木道の二場面ではそれも使える。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参考動画はスーツケースの広告なので場所が空港になっている。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こちらは通勤路に置き換える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（並木道 → 駅 → 会社のエントランス）。玄関・並木道・駅・会社のロビーの四か所で撮り切れる。売り込みはひとつも入れない。</a:t>
            </a:r>
            <a:endParaRPr lang="en-US" sz="494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22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服が変われば、合う革の色も変わる。同じ革・同じ色で、財布からバッグまで揃う。</a:t>
            </a:r>
            <a:endParaRPr lang="en-US" sz="494" dirty="0"/>
          </a:p>
        </p:txBody>
      </p:sp>
      <p:sp>
        <p:nvSpPr>
          <p:cNvPr id="12" name="Shape 10"/>
          <p:cNvSpPr/>
          <p:nvPr/>
        </p:nvSpPr>
        <p:spPr>
          <a:xfrm>
            <a:off x="6324448" y="1923208"/>
            <a:ext cx="5455768" cy="8595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89040" y="2014648"/>
            <a:ext cx="5126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 ロ ッ プ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89040" y="2215816"/>
            <a:ext cx="5126584" cy="21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28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同じ道を、違う私で。</a:t>
            </a:r>
            <a:endParaRPr lang="en-US" sz="728" dirty="0"/>
          </a:p>
        </p:txBody>
      </p:sp>
      <p:sp>
        <p:nvSpPr>
          <p:cNvPr id="15" name="Text 13"/>
          <p:cNvSpPr/>
          <p:nvPr/>
        </p:nvSpPr>
        <p:spPr>
          <a:xfrm>
            <a:off x="6489040" y="2473816"/>
            <a:ext cx="5126584" cy="162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8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 SAME ROUTE, A DIFFERENT ME.</a:t>
            </a:r>
            <a:endParaRPr lang="en-US" sz="468" dirty="0"/>
          </a:p>
        </p:txBody>
      </p:sp>
      <p:sp>
        <p:nvSpPr>
          <p:cNvPr id="16" name="Text 14"/>
          <p:cNvSpPr/>
          <p:nvPr/>
        </p:nvSpPr>
        <p:spPr>
          <a:xfrm>
            <a:off x="6324448" y="2892439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 め の 一 カ ッ ト に 重 ね る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324448" y="3075319"/>
            <a:ext cx="5455768" cy="550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テロップ　同じ道を、違う私で。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 SAME ROUTE, A DIFFERENT ME.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ナレーション　毎日をカラフルに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Make every day colourful.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五色が並ぶ画の上にテロップを重ね、そこにナレーションを一言だけ入れて、そのままロゴで終える。</a:t>
            </a:r>
            <a:endParaRPr lang="en-US" sz="442" dirty="0"/>
          </a:p>
        </p:txBody>
      </p:sp>
      <p:sp>
        <p:nvSpPr>
          <p:cNvPr id="18" name="Text 16"/>
          <p:cNvSpPr/>
          <p:nvPr/>
        </p:nvSpPr>
        <p:spPr>
          <a:xfrm>
            <a:off x="3315500" y="4012539"/>
            <a:ext cx="257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S7 並べて終わる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25-30秒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15500" y="4268571"/>
            <a:ext cx="797243" cy="141732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0" descr="/home/user/dougaseisaku/assets/ref4/1_S7_01_人が出て小物だけが残る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500" y="4720643"/>
            <a:ext cx="797243" cy="513176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315500" y="4268571"/>
            <a:ext cx="797243" cy="1417320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15500" y="5722467"/>
            <a:ext cx="797243" cy="6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バッグのアップショット。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4204183" y="4268571"/>
            <a:ext cx="797243" cy="141732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1" descr="/home/user/dougaseisaku/assets/ref4/1_S7_02_全色が並ぶ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4183" y="4720643"/>
            <a:ext cx="797243" cy="513176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204183" y="4268571"/>
            <a:ext cx="797243" cy="1417320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204183" y="5722467"/>
            <a:ext cx="797243" cy="6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60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五色が並ぶ。</a:t>
            </a:r>
            <a:pPr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この画にテロップ「同じ道を、違う私で。」を重ね、ナレーション「毎日をカラフルに」が一言だけ入る。</a:t>
            </a:r>
            <a:endParaRPr lang="en-US" sz="600" dirty="0"/>
          </a:p>
        </p:txBody>
      </p:sp>
      <p:sp>
        <p:nvSpPr>
          <p:cNvPr id="27" name="Shape 23"/>
          <p:cNvSpPr/>
          <p:nvPr/>
        </p:nvSpPr>
        <p:spPr>
          <a:xfrm>
            <a:off x="5092865" y="4268571"/>
            <a:ext cx="797243" cy="141732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8" name="Image 2" descr="/home/user/dougaseisaku/assets/ref4/共通_ロゴのみ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865" y="4268571"/>
            <a:ext cx="797243" cy="141732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5092865" y="4268571"/>
            <a:ext cx="797243" cy="1417320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092865" y="5722467"/>
            <a:ext cx="797243" cy="6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そのままロゴ。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締めのテロップは出さない。</a:t>
            </a:r>
            <a:endParaRPr lang="en-US" sz="720" dirty="0"/>
          </a:p>
        </p:txBody>
      </p:sp>
      <p:sp>
        <p:nvSpPr>
          <p:cNvPr id="31" name="Text 26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 / 31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/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この道、20年。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Twenty Years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40秒 ／ 22ショット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対象＝新規（まだ知らない人）　／　EC Promotionタブ・公式Instagram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参考動画＝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（@kankula667）　＋　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（コバ塗り・477万再生）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1166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製造工程のリアリティを伝える一本。作業音をそのまま入れる（バック音声あり）。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刃が革に入る音、槌の音、糸が締まる音、コバを磨く摩擦音。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音があるだけで、本当にここで作っていることが伝わる。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ナレーションは入れない。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アングルは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真俯瞰と横の二つ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ガンマイク使用。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一工程あたり一〜三カット、一カットは一〜二秒。二十二カットを四十秒に詰めることで、手が止まらない感じが出る。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S6のコバ塗りが見せ場。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塗料が乗った瞬間に断面の色が変わる ── 一カットの中でビフォーアフターが起きる。参考動画が四百七十七万回見られた理由がこれ。ここだけカットを割らずに長回しする。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最後は作業机で終わらせず、使われている場所に置いて終える。</a:t>
            </a:r>
            <a:endParaRPr lang="en-US" sz="494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22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ここで作っている。工程の四割は、この断面に使われている。</a:t>
            </a:r>
            <a:endParaRPr lang="en-US" sz="494" dirty="0"/>
          </a:p>
        </p:txBody>
      </p:sp>
      <p:sp>
        <p:nvSpPr>
          <p:cNvPr id="12" name="Shape 10"/>
          <p:cNvSpPr/>
          <p:nvPr/>
        </p:nvSpPr>
        <p:spPr>
          <a:xfrm>
            <a:off x="6324448" y="1923208"/>
            <a:ext cx="5455768" cy="8595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89040" y="2014648"/>
            <a:ext cx="5126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 ロ ッ プ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89040" y="2215816"/>
            <a:ext cx="5126584" cy="21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28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神は細部に宿る。</a:t>
            </a:r>
            <a:endParaRPr lang="en-US" sz="728" dirty="0"/>
          </a:p>
        </p:txBody>
      </p:sp>
      <p:sp>
        <p:nvSpPr>
          <p:cNvPr id="15" name="Text 13"/>
          <p:cNvSpPr/>
          <p:nvPr/>
        </p:nvSpPr>
        <p:spPr>
          <a:xfrm>
            <a:off x="6489040" y="2473816"/>
            <a:ext cx="5126584" cy="162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8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God is in the details.</a:t>
            </a:r>
            <a:endParaRPr lang="en-US" sz="468" dirty="0"/>
          </a:p>
        </p:txBody>
      </p:sp>
      <p:sp>
        <p:nvSpPr>
          <p:cNvPr id="16" name="Text 14"/>
          <p:cNvSpPr/>
          <p:nvPr/>
        </p:nvSpPr>
        <p:spPr>
          <a:xfrm>
            <a:off x="6324448" y="2892439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 バ 塗 り の カ ッ ト で 出 す テ ロ ッ プ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324448" y="3075319"/>
            <a:ext cx="5455768" cy="38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一つの製品の、四割の時間は、この断面に使われます。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Forty percent of the making goes into this one edge.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コバの色はキャメル（生成りの断面）を推奨。差がいちばん出ます。</a:t>
            </a:r>
            <a:endParaRPr lang="en-US" sz="442" dirty="0"/>
          </a:p>
        </p:txBody>
      </p:sp>
      <p:sp>
        <p:nvSpPr>
          <p:cNvPr id="18" name="Text 16"/>
          <p:cNvSpPr/>
          <p:nvPr/>
        </p:nvSpPr>
        <p:spPr>
          <a:xfrm>
            <a:off x="2683380" y="3767643"/>
            <a:ext cx="32067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S1 裁つ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0-5秒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683380" y="4023675"/>
            <a:ext cx="1007949" cy="1791909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0" descr="/home/user/dougaseisaku/assets/ref4/2_S1_01_刃が革に入る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738" y="4023675"/>
            <a:ext cx="929233" cy="1791909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683380" y="4023675"/>
            <a:ext cx="1007949" cy="1791909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683380" y="5852160"/>
            <a:ext cx="10079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マクロ。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刃が革に入る瞬間。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「スッ」と抜ける一音だけ。BGM小さく。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3782769" y="4023675"/>
            <a:ext cx="1007949" cy="1791909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1" descr="/home/user/dougaseisaku/assets/ref4/2_S1_02_刃が切り進む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27" y="4023675"/>
            <a:ext cx="929233" cy="1791909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3782769" y="4023675"/>
            <a:ext cx="1007949" cy="1791909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782769" y="5852160"/>
            <a:ext cx="10079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刃が進み、革の繊維が開いていく（同じ画角のまま）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4882159" y="4023675"/>
            <a:ext cx="1007949" cy="1791909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8" name="Image 2" descr="/home/user/dougaseisaku/assets/ref4/2_S1_03_切り終わりの断面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1517" y="4023675"/>
            <a:ext cx="929233" cy="1791909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882159" y="4023675"/>
            <a:ext cx="1007949" cy="1791909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882159" y="5852160"/>
            <a:ext cx="10079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切り終わり。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断面がまだ生成りのまま残っている。</a:t>
            </a:r>
            <a:endParaRPr lang="en-US" sz="720" dirty="0"/>
          </a:p>
        </p:txBody>
      </p:sp>
      <p:sp>
        <p:nvSpPr>
          <p:cNvPr id="31" name="Text 26"/>
          <p:cNvSpPr/>
          <p:nvPr/>
        </p:nvSpPr>
        <p:spPr>
          <a:xfrm>
            <a:off x="6301588" y="3767643"/>
            <a:ext cx="32067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S2 形を出す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5-11秒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6301588" y="4023675"/>
            <a:ext cx="1007949" cy="1791909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3" name="Image 3" descr="/home/user/dougaseisaku/assets/ref4/2_S2_01_金属定規で直線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0946" y="4023675"/>
            <a:ext cx="929233" cy="1791909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301588" y="4023675"/>
            <a:ext cx="1007949" cy="1791909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301588" y="5852160"/>
            <a:ext cx="10079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真俯瞰。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金属定規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を当てて直線を一気に引く。</a:t>
            </a:r>
            <a:endParaRPr lang="en-US" sz="720" dirty="0"/>
          </a:p>
        </p:txBody>
      </p:sp>
      <p:sp>
        <p:nvSpPr>
          <p:cNvPr id="36" name="Shape 30"/>
          <p:cNvSpPr/>
          <p:nvPr/>
        </p:nvSpPr>
        <p:spPr>
          <a:xfrm>
            <a:off x="7400977" y="4023675"/>
            <a:ext cx="1007949" cy="1791909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7" name="Image 4" descr="/home/user/dougaseisaku/assets/ref4/2_S2_02_角を回して切る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0335" y="4023675"/>
            <a:ext cx="929233" cy="1791909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7400977" y="4023675"/>
            <a:ext cx="1007949" cy="1791909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7400977" y="5852160"/>
            <a:ext cx="10079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角を回して切る（横）</a:t>
            </a:r>
            <a:endParaRPr lang="en-US" sz="720" dirty="0"/>
          </a:p>
        </p:txBody>
      </p:sp>
      <p:sp>
        <p:nvSpPr>
          <p:cNvPr id="40" name="Shape 33"/>
          <p:cNvSpPr/>
          <p:nvPr/>
        </p:nvSpPr>
        <p:spPr>
          <a:xfrm>
            <a:off x="8500366" y="4023675"/>
            <a:ext cx="1007949" cy="1791909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1" name="Image 5" descr="/home/user/dougaseisaku/assets/ref4/2_S2_03_ヘリを落とす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9724" y="4023675"/>
            <a:ext cx="929233" cy="1791909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8500366" y="4023675"/>
            <a:ext cx="1007949" cy="1791909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8500366" y="5852160"/>
            <a:ext cx="10079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ヘリを落とす。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断面の角が丸くなる（超マクロ）</a:t>
            </a:r>
            <a:endParaRPr lang="en-US" sz="720" dirty="0"/>
          </a:p>
        </p:txBody>
      </p:sp>
      <p:sp>
        <p:nvSpPr>
          <p:cNvPr id="44" name="Text 36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45" name="Text 37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 / 31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/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この道、20年。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Twenty Years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40秒 ／ 22ショット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対象＝新規（まだ知らない人）　／　EC Promotionタブ・公式Instagram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参考動画＝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（@kankula667）　＋　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（コバ塗り・477万再生）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1166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製造工程のリアリティを伝える一本。作業音をそのまま入れる（バック音声あり）。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刃が革に入る音、槌の音、糸が締まる音、コバを磨く摩擦音。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音があるだけで、本当にここで作っていることが伝わる。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ナレーションは入れない。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アングルは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真俯瞰と横の二つ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ガンマイク使用。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一工程あたり一〜三カット、一カットは一〜二秒。二十二カットを四十秒に詰めることで、手が止まらない感じが出る。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S6のコバ塗りが見せ場。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塗料が乗った瞬間に断面の色が変わる ── 一カットの中でビフォーアフターが起きる。参考動画が四百七十七万回見られた理由がこれ。ここだけカットを割らずに長回しする。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最後は作業机で終わらせず、使われている場所に置いて終える。</a:t>
            </a:r>
            <a:endParaRPr lang="en-US" sz="494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22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ここで作っている。工程の四割は、この断面に使われている。</a:t>
            </a:r>
            <a:endParaRPr lang="en-US" sz="494" dirty="0"/>
          </a:p>
        </p:txBody>
      </p:sp>
      <p:sp>
        <p:nvSpPr>
          <p:cNvPr id="12" name="Shape 10"/>
          <p:cNvSpPr/>
          <p:nvPr/>
        </p:nvSpPr>
        <p:spPr>
          <a:xfrm>
            <a:off x="6324448" y="1923208"/>
            <a:ext cx="5455768" cy="8595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89040" y="2014648"/>
            <a:ext cx="5126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 ロ ッ プ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89040" y="2215816"/>
            <a:ext cx="5126584" cy="21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28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神は細部に宿る。</a:t>
            </a:r>
            <a:endParaRPr lang="en-US" sz="728" dirty="0"/>
          </a:p>
        </p:txBody>
      </p:sp>
      <p:sp>
        <p:nvSpPr>
          <p:cNvPr id="15" name="Text 13"/>
          <p:cNvSpPr/>
          <p:nvPr/>
        </p:nvSpPr>
        <p:spPr>
          <a:xfrm>
            <a:off x="6489040" y="2473816"/>
            <a:ext cx="5126584" cy="162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8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God is in the details.</a:t>
            </a:r>
            <a:endParaRPr lang="en-US" sz="468" dirty="0"/>
          </a:p>
        </p:txBody>
      </p:sp>
      <p:sp>
        <p:nvSpPr>
          <p:cNvPr id="16" name="Text 14"/>
          <p:cNvSpPr/>
          <p:nvPr/>
        </p:nvSpPr>
        <p:spPr>
          <a:xfrm>
            <a:off x="6324448" y="2892439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 バ 塗 り の カ ッ ト で 出 す テ ロ ッ プ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324448" y="3075319"/>
            <a:ext cx="5455768" cy="38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一つの製品の、四割の時間は、この断面に使われます。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Forty percent of the making goes into this one edge.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コバの色はキャメル（生成りの断面）を推奨。差がいちばん出ます。</a:t>
            </a:r>
            <a:endParaRPr lang="en-US" sz="442" dirty="0"/>
          </a:p>
        </p:txBody>
      </p:sp>
      <p:sp>
        <p:nvSpPr>
          <p:cNvPr id="18" name="Text 16"/>
          <p:cNvSpPr/>
          <p:nvPr/>
        </p:nvSpPr>
        <p:spPr>
          <a:xfrm>
            <a:off x="2683380" y="3767643"/>
            <a:ext cx="32067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 穴を開ける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11-17秒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683380" y="4023675"/>
            <a:ext cx="1007949" cy="1791909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0" descr="/home/user/dougaseisaku/assets/ref4/2_S3_01_目打ちで印をつける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738" y="4023675"/>
            <a:ext cx="929233" cy="1791909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683380" y="4023675"/>
            <a:ext cx="1007949" cy="1791909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683380" y="5852160"/>
            <a:ext cx="10079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目打ちで縫う位置に印をつける。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3782769" y="4023675"/>
            <a:ext cx="1007949" cy="1791909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1" descr="/home/user/dougaseisaku/assets/ref4/2_S3_02_菱目打ちを打ち込む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27" y="4023675"/>
            <a:ext cx="929233" cy="1791909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3782769" y="4023675"/>
            <a:ext cx="1007949" cy="1791909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782769" y="5852160"/>
            <a:ext cx="10079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菱目打ちを槌で打つ。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同じ音が三回続く（横）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4882159" y="4023675"/>
            <a:ext cx="1007949" cy="1791909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8" name="Image 2" descr="/home/user/dougaseisaku/assets/ref4/2_S3_03_等間隔に並んだ穴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1517" y="4023675"/>
            <a:ext cx="929233" cy="1791909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882159" y="4023675"/>
            <a:ext cx="1007949" cy="1791909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882159" y="5852160"/>
            <a:ext cx="10079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アップにして再度穴を開ける。</a:t>
            </a:r>
            <a:endParaRPr lang="en-US" sz="720" dirty="0"/>
          </a:p>
        </p:txBody>
      </p:sp>
      <p:sp>
        <p:nvSpPr>
          <p:cNvPr id="31" name="Text 26"/>
          <p:cNvSpPr/>
          <p:nvPr/>
        </p:nvSpPr>
        <p:spPr>
          <a:xfrm>
            <a:off x="6301588" y="3767643"/>
            <a:ext cx="32067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S4 金具をつける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17-22秒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6301588" y="4023675"/>
            <a:ext cx="1007949" cy="1791909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3" name="Image 3" descr="/home/user/dougaseisaku/assets/ref4/2_S4_01_ボール盤で穴をあける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1588" y="4066482"/>
            <a:ext cx="1007949" cy="1706294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301588" y="4023675"/>
            <a:ext cx="1007949" cy="1791909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301588" y="5852160"/>
            <a:ext cx="10079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ボール盤で金具用の穴をあける。</a:t>
            </a:r>
            <a:endParaRPr lang="en-US" sz="720" dirty="0"/>
          </a:p>
        </p:txBody>
      </p:sp>
      <p:sp>
        <p:nvSpPr>
          <p:cNvPr id="36" name="Shape 30"/>
          <p:cNvSpPr/>
          <p:nvPr/>
        </p:nvSpPr>
        <p:spPr>
          <a:xfrm>
            <a:off x="7400977" y="4023675"/>
            <a:ext cx="1007949" cy="1791909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7" name="Image 4" descr="/home/user/dougaseisaku/assets/ref4/2_S4_02_カシメを打つ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0335" y="4023675"/>
            <a:ext cx="929233" cy="1791909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7400977" y="4023675"/>
            <a:ext cx="1007949" cy="1791909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7400977" y="5852160"/>
            <a:ext cx="10079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ラインを引く。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金属が革に沈む一音。</a:t>
            </a:r>
            <a:endParaRPr lang="en-US" sz="720" dirty="0"/>
          </a:p>
        </p:txBody>
      </p:sp>
      <p:sp>
        <p:nvSpPr>
          <p:cNvPr id="40" name="Shape 33"/>
          <p:cNvSpPr/>
          <p:nvPr/>
        </p:nvSpPr>
        <p:spPr>
          <a:xfrm>
            <a:off x="8500366" y="4023675"/>
            <a:ext cx="1007949" cy="1791909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1" name="Image 5" descr="/home/user/dougaseisaku/assets/ref4/2_S4_03_刻印を押す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9724" y="4023675"/>
            <a:ext cx="929233" cy="1791909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8500366" y="4023675"/>
            <a:ext cx="1007949" cy="1791909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8500366" y="5852160"/>
            <a:ext cx="10079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刻印を押す。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斜めから光を当てて、窪みに影を作る。</a:t>
            </a:r>
            <a:endParaRPr lang="en-US" sz="720" dirty="0"/>
          </a:p>
        </p:txBody>
      </p:sp>
      <p:sp>
        <p:nvSpPr>
          <p:cNvPr id="44" name="Text 36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45" name="Text 37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 / 31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/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この道、20年。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Twenty Years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40秒 ／ 22ショット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対象＝新規（まだ知らない人）　／　EC Promotionタブ・公式Instagram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参考動画＝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（@kankula667）　＋　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（コバ塗り・477万再生）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1166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製造工程のリアリティを伝える一本。作業音をそのまま入れる（バック音声あり）。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刃が革に入る音、槌の音、糸が締まる音、コバを磨く摩擦音。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音があるだけで、本当にここで作っていることが伝わる。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ナレーションは入れない。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アングルは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真俯瞰と横の二つ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ガンマイク使用。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一工程あたり一〜三カット、一カットは一〜二秒。二十二カットを四十秒に詰めることで、手が止まらない感じが出る。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S6のコバ塗りが見せ場。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塗料が乗った瞬間に断面の色が変わる ── 一カットの中でビフォーアフターが起きる。参考動画が四百七十七万回見られた理由がこれ。ここだけカットを割らずに長回しする。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最後は作業机で終わらせず、使われている場所に置いて終える。</a:t>
            </a:r>
            <a:endParaRPr lang="en-US" sz="494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22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ここで作っている。工程の四割は、この断面に使われている。</a:t>
            </a:r>
            <a:endParaRPr lang="en-US" sz="494" dirty="0"/>
          </a:p>
        </p:txBody>
      </p:sp>
      <p:sp>
        <p:nvSpPr>
          <p:cNvPr id="12" name="Shape 10"/>
          <p:cNvSpPr/>
          <p:nvPr/>
        </p:nvSpPr>
        <p:spPr>
          <a:xfrm>
            <a:off x="6324448" y="1923208"/>
            <a:ext cx="5455768" cy="8595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89040" y="2014648"/>
            <a:ext cx="5126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 ロ ッ プ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89040" y="2215816"/>
            <a:ext cx="5126584" cy="21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28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神は細部に宿る。</a:t>
            </a:r>
            <a:endParaRPr lang="en-US" sz="728" dirty="0"/>
          </a:p>
        </p:txBody>
      </p:sp>
      <p:sp>
        <p:nvSpPr>
          <p:cNvPr id="15" name="Text 13"/>
          <p:cNvSpPr/>
          <p:nvPr/>
        </p:nvSpPr>
        <p:spPr>
          <a:xfrm>
            <a:off x="6489040" y="2473816"/>
            <a:ext cx="5126584" cy="162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8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God is in the details.</a:t>
            </a:r>
            <a:endParaRPr lang="en-US" sz="468" dirty="0"/>
          </a:p>
        </p:txBody>
      </p:sp>
      <p:sp>
        <p:nvSpPr>
          <p:cNvPr id="16" name="Text 14"/>
          <p:cNvSpPr/>
          <p:nvPr/>
        </p:nvSpPr>
        <p:spPr>
          <a:xfrm>
            <a:off x="6324448" y="2892439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 バ 塗 り の カ ッ ト で 出 す テ ロ ッ プ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324448" y="3075319"/>
            <a:ext cx="5455768" cy="38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一つの製品の、四割の時間は、この断面に使われます。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Forty percent of the making goes into this one edge.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コバの色はキャメル（生成りの断面）を推奨。差がいちばん出ます。</a:t>
            </a:r>
            <a:endParaRPr lang="en-US" sz="442" dirty="0"/>
          </a:p>
        </p:txBody>
      </p:sp>
      <p:sp>
        <p:nvSpPr>
          <p:cNvPr id="18" name="Text 16"/>
          <p:cNvSpPr/>
          <p:nvPr/>
        </p:nvSpPr>
        <p:spPr>
          <a:xfrm>
            <a:off x="2691775" y="3767643"/>
            <a:ext cx="31983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S5 縫う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22-28秒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691775" y="4023675"/>
            <a:ext cx="1005151" cy="178693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0" descr="/home/user/dougaseisaku/assets/ref4/2_S5_01_針が革を抜ける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023" y="4023675"/>
            <a:ext cx="926653" cy="1786935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691775" y="4023675"/>
            <a:ext cx="1005151" cy="178693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691775" y="5847186"/>
            <a:ext cx="10051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針が革を抜ける（寄り）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3788366" y="4023675"/>
            <a:ext cx="1005151" cy="178693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1" descr="/home/user/dougaseisaku/assets/ref4/2_S5_02_二本の糸が交差する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7614" y="4023675"/>
            <a:ext cx="926653" cy="1786935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3788366" y="4023675"/>
            <a:ext cx="1005151" cy="178693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788366" y="5847186"/>
            <a:ext cx="10051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二本の糸が交差して締まる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（超マクロ）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4884957" y="4023675"/>
            <a:ext cx="1005151" cy="178693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8" name="Image 2" descr="/home/user/dougaseisaku/assets/ref4/2_S5_03_縫い目に沿って仕上げる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4205" y="4023675"/>
            <a:ext cx="926653" cy="1786935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884957" y="4023675"/>
            <a:ext cx="1005151" cy="178693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884957" y="5847186"/>
            <a:ext cx="10051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焼く。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糸の端を焼いて留める。</a:t>
            </a:r>
            <a:endParaRPr lang="en-US" sz="720" dirty="0"/>
          </a:p>
        </p:txBody>
      </p:sp>
      <p:sp>
        <p:nvSpPr>
          <p:cNvPr id="31" name="Text 26"/>
          <p:cNvSpPr/>
          <p:nvPr/>
        </p:nvSpPr>
        <p:spPr>
          <a:xfrm>
            <a:off x="6301588" y="3767643"/>
            <a:ext cx="31983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S6 コバ塗り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28-34秒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6301588" y="4023675"/>
            <a:ext cx="1005151" cy="178693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3" name="Image 3" descr="/home/user/dougaseisaku/assets/ref4/2_S6_01_道具の先が断面に触れる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1588" y="4229356"/>
            <a:ext cx="1005151" cy="1375573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301588" y="4023675"/>
            <a:ext cx="1005151" cy="178693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301588" y="5847186"/>
            <a:ext cx="10051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塗り始め。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道具の先が断面に触れる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（超マクロ）</a:t>
            </a:r>
            <a:endParaRPr lang="en-US" sz="720" dirty="0"/>
          </a:p>
        </p:txBody>
      </p:sp>
      <p:sp>
        <p:nvSpPr>
          <p:cNvPr id="36" name="Shape 30"/>
          <p:cNvSpPr/>
          <p:nvPr/>
        </p:nvSpPr>
        <p:spPr>
          <a:xfrm>
            <a:off x="7398179" y="4023675"/>
            <a:ext cx="1005151" cy="178693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7" name="Image 4" descr="/home/user/dougaseisaku/assets/ref4/2_S6_02_コバ塗り_塗り進む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8179" y="4229356"/>
            <a:ext cx="1005151" cy="1375573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7398179" y="4023675"/>
            <a:ext cx="1005151" cy="178693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7398179" y="5847186"/>
            <a:ext cx="10051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0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この一本の見せ場。</a:t>
            </a:r>
            <a:pPr indent="0" marL="0">
              <a:lnSpc>
                <a:spcPct val="124000"/>
              </a:lnSpc>
              <a:buNone/>
            </a:pPr>
            <a:r>
              <a:rPr lang="en-US" sz="70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塗った側と塗っていない側が同じ画面に入る。</a:t>
            </a:r>
            <a:pPr indent="0" marL="0">
              <a:lnSpc>
                <a:spcPct val="124000"/>
              </a:lnSpc>
              <a:buNone/>
            </a:pPr>
            <a:r>
              <a:rPr lang="en-US" sz="70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長回し・カットを割らない。</a:t>
            </a:r>
            <a:endParaRPr lang="en-US" sz="700" dirty="0"/>
          </a:p>
        </p:txBody>
      </p:sp>
      <p:sp>
        <p:nvSpPr>
          <p:cNvPr id="40" name="Shape 33"/>
          <p:cNvSpPr/>
          <p:nvPr/>
        </p:nvSpPr>
        <p:spPr>
          <a:xfrm>
            <a:off x="8494770" y="4023675"/>
            <a:ext cx="1005151" cy="178693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1" name="Image 5" descr="/home/user/dougaseisaku/assets/ref4/2_S6_03_塗り終わりの断面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4770" y="4229356"/>
            <a:ext cx="1005151" cy="1375573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8494770" y="4023675"/>
            <a:ext cx="1005151" cy="178693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8494770" y="5847186"/>
            <a:ext cx="10051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塗り終わり。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同じ画角のまま断面の色が変わりきっている。</a:t>
            </a:r>
            <a:endParaRPr lang="en-US" sz="720" dirty="0"/>
          </a:p>
        </p:txBody>
      </p:sp>
      <p:sp>
        <p:nvSpPr>
          <p:cNvPr id="44" name="Text 36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45" name="Text 37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 / 31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/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この道、20年。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Twenty Years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40秒 ／ 22ショット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対象＝新規（まだ知らない人）　／　EC Promotionタブ・公式Instagram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参考動画＝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（@kankula667）　＋　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（コバ塗り・477万再生）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1166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製造工程のリアリティを伝える一本。作業音をそのまま入れる（バック音声あり）。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刃が革に入る音、槌の音、糸が締まる音、コバを磨く摩擦音。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音があるだけで、本当にここで作っていることが伝わる。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ナレーションは入れない。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アングルは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真俯瞰と横の二つ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ガンマイク使用。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一工程あたり一〜三カット、一カットは一〜二秒。二十二カットを四十秒に詰めることで、手が止まらない感じが出る。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S6のコバ塗りが見せ場。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塗料が乗った瞬間に断面の色が変わる ── 一カットの中でビフォーアフターが起きる。参考動画が四百七十七万回見られた理由がこれ。ここだけカットを割らずに長回しする。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最後は作業机で終わらせず、使われている場所に置いて終える。</a:t>
            </a:r>
            <a:endParaRPr lang="en-US" sz="494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22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ここで作っている。工程の四割は、この断面に使われている。</a:t>
            </a:r>
            <a:endParaRPr lang="en-US" sz="494" dirty="0"/>
          </a:p>
        </p:txBody>
      </p:sp>
      <p:sp>
        <p:nvSpPr>
          <p:cNvPr id="12" name="Shape 10"/>
          <p:cNvSpPr/>
          <p:nvPr/>
        </p:nvSpPr>
        <p:spPr>
          <a:xfrm>
            <a:off x="6324448" y="1923208"/>
            <a:ext cx="5455768" cy="8595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89040" y="2014648"/>
            <a:ext cx="5126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 ロ ッ プ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89040" y="2215816"/>
            <a:ext cx="5126584" cy="21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28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神は細部に宿る。</a:t>
            </a:r>
            <a:endParaRPr lang="en-US" sz="728" dirty="0"/>
          </a:p>
        </p:txBody>
      </p:sp>
      <p:sp>
        <p:nvSpPr>
          <p:cNvPr id="15" name="Text 13"/>
          <p:cNvSpPr/>
          <p:nvPr/>
        </p:nvSpPr>
        <p:spPr>
          <a:xfrm>
            <a:off x="6489040" y="2473816"/>
            <a:ext cx="5126584" cy="162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8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God is in the details.</a:t>
            </a:r>
            <a:endParaRPr lang="en-US" sz="468" dirty="0"/>
          </a:p>
        </p:txBody>
      </p:sp>
      <p:sp>
        <p:nvSpPr>
          <p:cNvPr id="16" name="Text 14"/>
          <p:cNvSpPr/>
          <p:nvPr/>
        </p:nvSpPr>
        <p:spPr>
          <a:xfrm>
            <a:off x="6324448" y="2892439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 バ 塗 り の カ ッ ト で 出 す テ ロ ッ プ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324448" y="3075319"/>
            <a:ext cx="5455768" cy="38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一つの製品の、四割の時間は、この断面に使われます。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Forty percent of the making goes into this one edge.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コバの色はキャメル（生成りの断面）を推奨。差がいちばん出ます。</a:t>
            </a:r>
            <a:endParaRPr lang="en-US" sz="442" dirty="0"/>
          </a:p>
        </p:txBody>
      </p:sp>
      <p:sp>
        <p:nvSpPr>
          <p:cNvPr id="18" name="Text 16"/>
          <p:cNvSpPr/>
          <p:nvPr/>
        </p:nvSpPr>
        <p:spPr>
          <a:xfrm>
            <a:off x="2683380" y="3767643"/>
            <a:ext cx="32067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S7 磨く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34-38秒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683380" y="4023675"/>
            <a:ext cx="1007949" cy="1791909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0" descr="/home/user/dougaseisaku/assets/ref4/2_S7_01_ヘラで仕上げ剤を塗る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738" y="4023675"/>
            <a:ext cx="929233" cy="1791909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683380" y="4023675"/>
            <a:ext cx="1007949" cy="1791909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683380" y="5852160"/>
            <a:ext cx="10079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ヘラで仕上げ剤を薄く伸ばす。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3782769" y="4023675"/>
            <a:ext cx="1007949" cy="1791909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1" descr="/home/user/dougaseisaku/assets/ref4/2_S7_02_コバを磨く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27" y="4023675"/>
            <a:ext cx="929233" cy="1791909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3782769" y="4023675"/>
            <a:ext cx="1007949" cy="1791909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782769" y="5852160"/>
            <a:ext cx="10079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超マクロ。コバを磨く。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摩擦音。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4882159" y="4023675"/>
            <a:ext cx="1007949" cy="1791909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8" name="Image 2" descr="/home/user/dougaseisaku/assets/ref4/2_S7_03_磨き終わった断面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1517" y="4023675"/>
            <a:ext cx="929233" cy="1791909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882159" y="4023675"/>
            <a:ext cx="1007949" cy="1791909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882159" y="5852160"/>
            <a:ext cx="10079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磨き終わった断面に、光が一本だけ走る。</a:t>
            </a:r>
            <a:endParaRPr lang="en-US" sz="720" dirty="0"/>
          </a:p>
        </p:txBody>
      </p:sp>
      <p:sp>
        <p:nvSpPr>
          <p:cNvPr id="31" name="Text 26"/>
          <p:cNvSpPr/>
          <p:nvPr/>
        </p:nvSpPr>
        <p:spPr>
          <a:xfrm>
            <a:off x="6301588" y="3767643"/>
            <a:ext cx="32067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S8 使われる場所へ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38-40秒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6301588" y="4023675"/>
            <a:ext cx="1007949" cy="1791909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3" name="Image 3" descr="/home/user/dougaseisaku/assets/ref4/2_S8_01_使われる場所に置く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0946" y="4023675"/>
            <a:ext cx="929233" cy="1791909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301588" y="4023675"/>
            <a:ext cx="1007949" cy="1791909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301588" y="5852160"/>
            <a:ext cx="10079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作業机ではなく、使われている場所に置く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→ テロップ → ロゴ。</a:t>
            </a:r>
            <a:endParaRPr lang="en-US" sz="720" dirty="0"/>
          </a:p>
        </p:txBody>
      </p:sp>
      <p:sp>
        <p:nvSpPr>
          <p:cNvPr id="36" name="Text 30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 / 31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/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 Making of the Voyage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Voyageの作り方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28秒 ／ 15ショット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対象＝メディア関係者・ハイエンド層　／　公式Instagram・B supply ホームページ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参考動画＝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（delvaux）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85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ブランドの格を上げる一本。</a:t>
            </a:r>
            <a:pPr indent="0" marL="0">
              <a:lnSpc>
                <a:spcPct val="134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黒い布一枚とライト一灯</a:t>
            </a:r>
            <a:pPr indent="0" marL="0">
              <a:lnSpc>
                <a:spcPct val="134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で撮れる。工房の蛍光灯は全部消す。</a:t>
            </a:r>
            <a:pPr indent="0" marL="0">
              <a:lnSpc>
                <a:spcPct val="134000"/>
              </a:lnSpc>
              <a:buNone/>
            </a:pPr>
            <a:endParaRPr lang="en-US" sz="950" dirty="0"/>
          </a:p>
          <a:p>
            <a:pPr indent="0" marL="0">
              <a:lnSpc>
                <a:spcPct val="134000"/>
              </a:lnSpc>
              <a:buNone/>
            </a:pPr>
            <a:endParaRPr lang="en-US" sz="9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6本目との違い</a:t>
            </a:r>
            <a:pPr indent="0" marL="0">
              <a:lnSpc>
                <a:spcPct val="134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：背景（黒／実景）・光（一灯／自然光）・被写体（手だけ／人と機械）・カメラ（固定）・音（BGM／作業音）・終わり方（ロゴ）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30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一点の革製品が生まれるまでを、美しさだけで見せる。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24448" y="2065218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 後 は ロ ゴ だ け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324448" y="2248098"/>
            <a:ext cx="5455768" cy="290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テロップは出さない。BGMが終わり、ロゴが0.5秒。それで終える。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26519" y="2904317"/>
            <a:ext cx="46635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S1 超マクロ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0-4秒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226519" y="3160349"/>
            <a:ext cx="1493570" cy="265523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 0" descr="/home/user/dougaseisaku/assets/ref4/3_S1_01_闇に光の帯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519" y="3943478"/>
            <a:ext cx="1493570" cy="1088977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226519" y="3160349"/>
            <a:ext cx="1493570" cy="265523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26519" y="5852160"/>
            <a:ext cx="1493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真っ黒。細い光の帯が一本だけ立つ。</a:t>
            </a:r>
            <a:endParaRPr lang="en-US" sz="720" dirty="0"/>
          </a:p>
        </p:txBody>
      </p:sp>
      <p:sp>
        <p:nvSpPr>
          <p:cNvPr id="19" name="Shape 16"/>
          <p:cNvSpPr/>
          <p:nvPr/>
        </p:nvSpPr>
        <p:spPr>
          <a:xfrm>
            <a:off x="2811529" y="3160349"/>
            <a:ext cx="1493570" cy="265523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1" descr="/home/user/dougaseisaku/assets/ref4/3_S1_02_光の帯が動く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529" y="4102747"/>
            <a:ext cx="1493570" cy="770439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2811529" y="3160349"/>
            <a:ext cx="1493570" cy="265523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811529" y="5852160"/>
            <a:ext cx="1493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光の帯がゆっくり動く。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無音から低いBGMが立ち上がる。</a:t>
            </a:r>
            <a:endParaRPr lang="en-US" sz="720" dirty="0"/>
          </a:p>
        </p:txBody>
      </p:sp>
      <p:sp>
        <p:nvSpPr>
          <p:cNvPr id="23" name="Text 19"/>
          <p:cNvSpPr/>
          <p:nvPr/>
        </p:nvSpPr>
        <p:spPr>
          <a:xfrm>
            <a:off x="6301588" y="2904317"/>
            <a:ext cx="46635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S2 貼り合わせ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4-8秒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301588" y="3160349"/>
            <a:ext cx="1493570" cy="265523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5" name="Image 2" descr="/home/user/dougaseisaku/assets/ref4/3_S2_01_道具と染料が並ぶ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588" y="4134150"/>
            <a:ext cx="1493570" cy="707633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301588" y="3160349"/>
            <a:ext cx="1493570" cy="265523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301588" y="5852160"/>
            <a:ext cx="1493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作業台に革を置く。奥に染料と道具が並ぶ。</a:t>
            </a:r>
            <a:endParaRPr lang="en-US" sz="720" dirty="0"/>
          </a:p>
        </p:txBody>
      </p:sp>
      <p:sp>
        <p:nvSpPr>
          <p:cNvPr id="28" name="Shape 23"/>
          <p:cNvSpPr/>
          <p:nvPr/>
        </p:nvSpPr>
        <p:spPr>
          <a:xfrm>
            <a:off x="7886597" y="3160349"/>
            <a:ext cx="1493570" cy="265523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9" name="Image 3" descr="/home/user/dougaseisaku/assets/ref4/3_S2_02_手が革を持つ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6597" y="4005819"/>
            <a:ext cx="1493570" cy="964295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7886597" y="3160349"/>
            <a:ext cx="1493570" cy="265523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886597" y="5852160"/>
            <a:ext cx="1493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二枚を合わせて位置を決める。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腕時計・指輪は外す。</a:t>
            </a:r>
            <a:endParaRPr lang="en-US" sz="720" dirty="0"/>
          </a:p>
        </p:txBody>
      </p:sp>
      <p:sp>
        <p:nvSpPr>
          <p:cNvPr id="32" name="Shape 26"/>
          <p:cNvSpPr/>
          <p:nvPr/>
        </p:nvSpPr>
        <p:spPr>
          <a:xfrm>
            <a:off x="9471607" y="3160349"/>
            <a:ext cx="1493570" cy="265523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3" name="Image 4" descr="/home/user/dougaseisaku/assets/ref4/3_S2_03_暗がりで革を手に取る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1607" y="4097898"/>
            <a:ext cx="1493570" cy="780136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9471607" y="3160349"/>
            <a:ext cx="1493570" cy="265523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9471607" y="5852160"/>
            <a:ext cx="1493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合わせた革を押さえる。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ここから形になっていく。</a:t>
            </a:r>
            <a:endParaRPr lang="en-US" sz="720" dirty="0"/>
          </a:p>
        </p:txBody>
      </p:sp>
      <p:sp>
        <p:nvSpPr>
          <p:cNvPr id="36" name="Text 29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 / 31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/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 Making of the Voyage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Voyageの作り方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28秒 ／ 15ショット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対象＝メディア関係者・ハイエンド層　／　公式Instagram・B supply ホームページ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参考動画＝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（delvaux）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85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ブランドの格を上げる一本。</a:t>
            </a:r>
            <a:pPr indent="0" marL="0">
              <a:lnSpc>
                <a:spcPct val="134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黒い布一枚とライト一灯</a:t>
            </a:r>
            <a:pPr indent="0" marL="0">
              <a:lnSpc>
                <a:spcPct val="134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で撮れる。工房の蛍光灯は全部消す。</a:t>
            </a:r>
            <a:pPr indent="0" marL="0">
              <a:lnSpc>
                <a:spcPct val="134000"/>
              </a:lnSpc>
              <a:buNone/>
            </a:pPr>
            <a:endParaRPr lang="en-US" sz="950" dirty="0"/>
          </a:p>
          <a:p>
            <a:pPr indent="0" marL="0">
              <a:lnSpc>
                <a:spcPct val="134000"/>
              </a:lnSpc>
              <a:buNone/>
            </a:pPr>
            <a:endParaRPr lang="en-US" sz="9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6本目との違い</a:t>
            </a:r>
            <a:pPr indent="0" marL="0">
              <a:lnSpc>
                <a:spcPct val="134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：背景（黒／実景）・光（一灯／自然光）・被写体（手だけ／人と機械）・カメラ（固定）・音（BGM／作業音）・終わり方（ロゴ）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30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一点の革製品が生まれるまでを、美しさだけで見せる。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24448" y="2065218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 後 は ロ ゴ だ け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324448" y="2248098"/>
            <a:ext cx="5455768" cy="290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テロップは出さない。BGMが終わり、ロゴが0.5秒。それで終える。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26519" y="2904317"/>
            <a:ext cx="46635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 形をつくる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8-15秒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226519" y="3160349"/>
            <a:ext cx="1493570" cy="265523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 0" descr="/home/user/dougaseisaku/assets/ref4/3_S3_01_手で革を折る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519" y="3989114"/>
            <a:ext cx="1493570" cy="99770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226519" y="3160349"/>
            <a:ext cx="1493570" cy="265523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26519" y="5852160"/>
            <a:ext cx="1493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手だけ。革を折り上げる。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暗がりに革の面だけが浮く。</a:t>
            </a:r>
            <a:endParaRPr lang="en-US" sz="720" dirty="0"/>
          </a:p>
        </p:txBody>
      </p:sp>
      <p:sp>
        <p:nvSpPr>
          <p:cNvPr id="19" name="Shape 16"/>
          <p:cNvSpPr/>
          <p:nvPr/>
        </p:nvSpPr>
        <p:spPr>
          <a:xfrm>
            <a:off x="2811529" y="3160349"/>
            <a:ext cx="1493570" cy="265523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1" descr="/home/user/dougaseisaku/assets/ref4/3_S3_02_縁を押さえる_マクロ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529" y="4052221"/>
            <a:ext cx="1493570" cy="871491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2811529" y="3160349"/>
            <a:ext cx="1493570" cy="265523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811529" y="5852160"/>
            <a:ext cx="1493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縁を押さえる（超マクロ）</a:t>
            </a:r>
            <a:endParaRPr lang="en-US" sz="720" dirty="0"/>
          </a:p>
        </p:txBody>
      </p:sp>
      <p:sp>
        <p:nvSpPr>
          <p:cNvPr id="23" name="Shape 19"/>
          <p:cNvSpPr/>
          <p:nvPr/>
        </p:nvSpPr>
        <p:spPr>
          <a:xfrm>
            <a:off x="4396538" y="3160349"/>
            <a:ext cx="1493570" cy="265523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2" descr="/home/user/dougaseisaku/assets/ref4/3_S3_03_角が立ち上がる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6538" y="4205929"/>
            <a:ext cx="1493570" cy="564076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396538" y="3160349"/>
            <a:ext cx="1493570" cy="265523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396538" y="5852160"/>
            <a:ext cx="1493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角が立ち上がる。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ここまで顔は一切映さない。</a:t>
            </a:r>
            <a:endParaRPr lang="en-US" sz="720" dirty="0"/>
          </a:p>
        </p:txBody>
      </p:sp>
      <p:sp>
        <p:nvSpPr>
          <p:cNvPr id="27" name="Text 22"/>
          <p:cNvSpPr/>
          <p:nvPr/>
        </p:nvSpPr>
        <p:spPr>
          <a:xfrm>
            <a:off x="6301588" y="2904317"/>
            <a:ext cx="46635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S4 金具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15-19秒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301588" y="3160349"/>
            <a:ext cx="1493570" cy="265523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9" name="Image 3" descr="/home/user/dougaseisaku/assets/ref4/3_S4_01_白手袋で金具を持つ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1588" y="4114574"/>
            <a:ext cx="1493570" cy="746785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301588" y="3160349"/>
            <a:ext cx="1493570" cy="265523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301588" y="5852160"/>
            <a:ext cx="1493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白手袋で金具を革に取り付ける。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金属が触れる音。</a:t>
            </a:r>
            <a:endParaRPr lang="en-US" sz="720" dirty="0"/>
          </a:p>
        </p:txBody>
      </p:sp>
      <p:sp>
        <p:nvSpPr>
          <p:cNvPr id="32" name="Shape 26"/>
          <p:cNvSpPr/>
          <p:nvPr/>
        </p:nvSpPr>
        <p:spPr>
          <a:xfrm>
            <a:off x="7886597" y="3160349"/>
            <a:ext cx="1493570" cy="265523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3" name="Image 4" descr="/home/user/dougaseisaku/assets/ref4/3_S4_02_金具を取り付ける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6597" y="4005819"/>
            <a:ext cx="1493570" cy="964295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7886597" y="3160349"/>
            <a:ext cx="1493570" cy="265523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7886597" y="5852160"/>
            <a:ext cx="1493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取り付いた金具を手に取って確かめる（超マクロ）。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カチリと一音。</a:t>
            </a:r>
            <a:endParaRPr lang="en-US" sz="720" dirty="0"/>
          </a:p>
        </p:txBody>
      </p:sp>
      <p:sp>
        <p:nvSpPr>
          <p:cNvPr id="36" name="Shape 29"/>
          <p:cNvSpPr/>
          <p:nvPr/>
        </p:nvSpPr>
        <p:spPr>
          <a:xfrm>
            <a:off x="9471607" y="3160349"/>
            <a:ext cx="1493570" cy="265523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7" name="Image 5" descr="/home/user/dougaseisaku/assets/ref4/3_S4_03_金具の寄り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1607" y="3992346"/>
            <a:ext cx="1493570" cy="991241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9471607" y="3160349"/>
            <a:ext cx="1493570" cy="265523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9471607" y="5852160"/>
            <a:ext cx="1493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取り付いた金具の寄り。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ここだけ光が回った明るい画にする。</a:t>
            </a:r>
            <a:endParaRPr lang="en-US" sz="720" dirty="0"/>
          </a:p>
        </p:txBody>
      </p:sp>
      <p:sp>
        <p:nvSpPr>
          <p:cNvPr id="40" name="Text 32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41" name="Text 33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 / 31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/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 Making of the Voyage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Voyageの作り方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28秒 ／ 15ショット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対象＝メディア関係者・ハイエンド層　／　公式Instagram・B supply ホームページ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参考動画＝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（delvaux）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85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ブランドの格を上げる一本。</a:t>
            </a:r>
            <a:pPr indent="0" marL="0">
              <a:lnSpc>
                <a:spcPct val="134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黒い布一枚とライト一灯</a:t>
            </a:r>
            <a:pPr indent="0" marL="0">
              <a:lnSpc>
                <a:spcPct val="134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で撮れる。工房の蛍光灯は全部消す。</a:t>
            </a:r>
            <a:pPr indent="0" marL="0">
              <a:lnSpc>
                <a:spcPct val="134000"/>
              </a:lnSpc>
              <a:buNone/>
            </a:pPr>
            <a:endParaRPr lang="en-US" sz="950" dirty="0"/>
          </a:p>
          <a:p>
            <a:pPr indent="0" marL="0">
              <a:lnSpc>
                <a:spcPct val="134000"/>
              </a:lnSpc>
              <a:buNone/>
            </a:pPr>
            <a:endParaRPr lang="en-US" sz="9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6本目との違い</a:t>
            </a:r>
            <a:pPr indent="0" marL="0">
              <a:lnSpc>
                <a:spcPct val="134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：背景（黒／実景）・光（一灯／自然光）・被写体（手だけ／人と機械）・カメラ（固定）・音（BGM／作業音）・終わり方（ロゴ）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30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一点の革製品が生まれるまでを、美しさだけで見せる。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24448" y="2065218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 後 は ロ ゴ だ け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324448" y="2248098"/>
            <a:ext cx="5455768" cy="290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テロップは出さない。BGMが終わり、ロゴが0.5秒。それで終える。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26519" y="2904317"/>
            <a:ext cx="46635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S5 完成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19-28秒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226519" y="3160349"/>
            <a:ext cx="1097317" cy="1950786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 0" descr="/home/user/dougaseisaku/assets/ref4/3_S5_01_道具の前で持ち上げる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519" y="3824126"/>
            <a:ext cx="1097317" cy="62323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226519" y="3160349"/>
            <a:ext cx="1097317" cy="1950786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26519" y="5147711"/>
            <a:ext cx="1097317" cy="1234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工房の奥、道具の前で完成品を持ち上げる。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ここだけ背景に道具が入る。</a:t>
            </a:r>
            <a:endParaRPr lang="en-US" sz="720" dirty="0"/>
          </a:p>
        </p:txBody>
      </p:sp>
      <p:sp>
        <p:nvSpPr>
          <p:cNvPr id="19" name="Shape 16"/>
          <p:cNvSpPr/>
          <p:nvPr/>
        </p:nvSpPr>
        <p:spPr>
          <a:xfrm>
            <a:off x="2415276" y="3160349"/>
            <a:ext cx="1097317" cy="1950786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1" descr="/home/user/dougaseisaku/assets/ref4/3_S5_02_完成品を両手で持つ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276" y="3897686"/>
            <a:ext cx="1097317" cy="476113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2415276" y="3160349"/>
            <a:ext cx="1097317" cy="1950786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415276" y="5147711"/>
            <a:ext cx="1097317" cy="1234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黒い背景に戻り、完成品を両手で持つ。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上から一灯だけ。</a:t>
            </a:r>
            <a:endParaRPr lang="en-US" sz="720" dirty="0"/>
          </a:p>
        </p:txBody>
      </p:sp>
      <p:sp>
        <p:nvSpPr>
          <p:cNvPr id="23" name="Shape 19"/>
          <p:cNvSpPr/>
          <p:nvPr/>
        </p:nvSpPr>
        <p:spPr>
          <a:xfrm>
            <a:off x="3604033" y="3160349"/>
            <a:ext cx="1097317" cy="1950786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2" descr="/home/user/dougaseisaku/assets/ref4/3_S5_03_完成品が作業台に立つ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4033" y="3771613"/>
            <a:ext cx="1097317" cy="728259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3604033" y="3160349"/>
            <a:ext cx="1097317" cy="1950786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604033" y="5147711"/>
            <a:ext cx="1097317" cy="1234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完成品が工房の作業台に立つ。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道具に囲まれた引き。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ここが着地点。</a:t>
            </a:r>
            <a:endParaRPr lang="en-US" sz="720" dirty="0"/>
          </a:p>
        </p:txBody>
      </p:sp>
      <p:sp>
        <p:nvSpPr>
          <p:cNvPr id="27" name="Shape 22"/>
          <p:cNvSpPr/>
          <p:nvPr/>
        </p:nvSpPr>
        <p:spPr>
          <a:xfrm>
            <a:off x="4792790" y="3160349"/>
            <a:ext cx="1097317" cy="1950786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8" name="Image 3" descr="/home/user/dougaseisaku/assets/ref4/共通_ロゴのみ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2790" y="3160349"/>
            <a:ext cx="1097317" cy="1950786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4792790" y="3160349"/>
            <a:ext cx="1097317" cy="1950786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792790" y="5147711"/>
            <a:ext cx="1097317" cy="1234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BGMが止まる → 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ロゴのみ。テロップは出さない。</a:t>
            </a:r>
            <a:endParaRPr lang="en-US" sz="720" dirty="0"/>
          </a:p>
        </p:txBody>
      </p:sp>
      <p:sp>
        <p:nvSpPr>
          <p:cNvPr id="31" name="Text 2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 / 31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/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持ち歩くものが、その人をつくる。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What You Carry Makes You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30秒 ／ 11ショット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対象＝仕事道具として買う人・贈る人　／　全媒体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参考動画＝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（parisawangny）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1217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鞄を街に置いて撮る。</a:t>
            </a:r>
            <a:pPr indent="0" marL="0">
              <a:lnSpc>
                <a:spcPct val="134000"/>
              </a:lnSpc>
              <a:buNone/>
            </a:pPr>
            <a:endParaRPr lang="en-US" sz="950" dirty="0"/>
          </a:p>
          <a:p>
            <a:pPr indent="0" marL="0">
              <a:lnSpc>
                <a:spcPct val="134000"/>
              </a:lnSpc>
              <a:buNone/>
            </a:pPr>
            <a:endParaRPr lang="en-US" sz="9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次の画へ横にスライドしてつなぐ。顔を主役にしない。カバンの中身を映す。ドラマ風の演出で実用性を訴求する。</a:t>
            </a:r>
            <a:pPr indent="0" marL="0">
              <a:lnSpc>
                <a:spcPct val="134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置き画で終えて、そのままロゴだけにする。</a:t>
            </a:r>
            <a:pPr indent="0" marL="0">
              <a:lnSpc>
                <a:spcPct val="134000"/>
              </a:lnSpc>
              <a:buNone/>
            </a:pPr>
            <a:endParaRPr lang="en-US" sz="950" dirty="0"/>
          </a:p>
          <a:p>
            <a:pPr indent="0" marL="0">
              <a:lnSpc>
                <a:spcPct val="134000"/>
              </a:lnSpc>
              <a:buNone/>
            </a:pPr>
            <a:endParaRPr lang="en-US" sz="9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自然光のみ。曇りの日でよい。三脚で完全に止める。</a:t>
            </a:r>
            <a:pPr indent="0" marL="0">
              <a:lnSpc>
                <a:spcPct val="134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一人で完結させる。</a:t>
            </a:r>
            <a:pPr indent="0" marL="0">
              <a:lnSpc>
                <a:spcPct val="134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誰とも話さない。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30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鞄を街に置くだけで絵になる。中身も、持った姿も、同じ一本で見せる。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24448" y="2065218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 面 に テ ロ ッ プ は 出 さ な い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324448" y="2248098"/>
            <a:ext cx="5455768" cy="777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言葉は投稿の本文に置く。</a:t>
            </a:r>
            <a:pPr indent="0" marL="0">
              <a:lnSpc>
                <a:spcPct val="134000"/>
              </a:lnSpc>
              <a:buNone/>
            </a:pPr>
            <a:endParaRPr lang="en-US" sz="8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8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例：持ち歩くものが、その人をつくる。／ What you carry makes you.</a:t>
            </a:r>
            <a:pPr indent="0" marL="0">
              <a:lnSpc>
                <a:spcPct val="134000"/>
              </a:lnSpc>
              <a:buNone/>
            </a:pPr>
            <a:endParaRPr lang="en-US" sz="8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85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参考動画のキャプションの言い回し（New York polish, designed to carry your everyday）は使わない。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057282" y="3391647"/>
            <a:ext cx="38328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S1 街に置く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0-8秒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057282" y="3647679"/>
            <a:ext cx="1216649" cy="2162931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 0" descr="/home/user/dougaseisaku/assets/ref4/4_S1_01_フェンスに掛ける_引き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282" y="3803984"/>
            <a:ext cx="1216649" cy="185032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2057282" y="3647679"/>
            <a:ext cx="1216649" cy="2162931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057282" y="5847186"/>
            <a:ext cx="12166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フェンスに掛ける（引き・三脚で固定）。カメラは止めたまま、背景の街だけが動く。</a:t>
            </a:r>
            <a:endParaRPr lang="en-US" sz="720" dirty="0"/>
          </a:p>
        </p:txBody>
      </p:sp>
      <p:sp>
        <p:nvSpPr>
          <p:cNvPr id="19" name="Shape 16"/>
          <p:cNvSpPr/>
          <p:nvPr/>
        </p:nvSpPr>
        <p:spPr>
          <a:xfrm>
            <a:off x="3365370" y="3647679"/>
            <a:ext cx="1216649" cy="2162931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1" descr="/home/user/dougaseisaku/assets/ref4/4_S1_02_肩に掛けて立つ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370" y="3886362"/>
            <a:ext cx="1216649" cy="1685565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3365370" y="3647679"/>
            <a:ext cx="1216649" cy="2162931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365370" y="5847186"/>
            <a:ext cx="12166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鞄を肩に掛けて立つ（横・引き）</a:t>
            </a:r>
            <a:endParaRPr lang="en-US" sz="720" dirty="0"/>
          </a:p>
        </p:txBody>
      </p:sp>
      <p:sp>
        <p:nvSpPr>
          <p:cNvPr id="23" name="Shape 19"/>
          <p:cNvSpPr/>
          <p:nvPr/>
        </p:nvSpPr>
        <p:spPr>
          <a:xfrm>
            <a:off x="4673459" y="3647679"/>
            <a:ext cx="1216649" cy="2162931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2" descr="/home/user/dougaseisaku/assets/ref4/4_S1_03_石壁の前で全身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459" y="3803984"/>
            <a:ext cx="1216649" cy="185032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673459" y="3647679"/>
            <a:ext cx="1216649" cy="2162931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673459" y="5847186"/>
            <a:ext cx="12166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石壁の前。全身の引き。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顔は主役にしない。</a:t>
            </a:r>
            <a:endParaRPr lang="en-US" sz="720" dirty="0"/>
          </a:p>
        </p:txBody>
      </p:sp>
      <p:sp>
        <p:nvSpPr>
          <p:cNvPr id="27" name="Text 22"/>
          <p:cNvSpPr/>
          <p:nvPr/>
        </p:nvSpPr>
        <p:spPr>
          <a:xfrm>
            <a:off x="6301588" y="3391647"/>
            <a:ext cx="38328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S2 中を見せる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8-15秒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301588" y="3647679"/>
            <a:ext cx="1216649" cy="2162931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9" name="Image 3" descr="/home/user/dougaseisaku/assets/ref4/4_S2_01_真俯瞰_口を開ける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1588" y="3803984"/>
            <a:ext cx="1216649" cy="185032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301588" y="3647679"/>
            <a:ext cx="1216649" cy="2162931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301588" y="5847186"/>
            <a:ext cx="12166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真俯瞰。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鞄の口を開ける。</a:t>
            </a:r>
            <a:endParaRPr lang="en-US" sz="720" dirty="0"/>
          </a:p>
        </p:txBody>
      </p:sp>
      <p:sp>
        <p:nvSpPr>
          <p:cNvPr id="32" name="Shape 26"/>
          <p:cNvSpPr/>
          <p:nvPr/>
        </p:nvSpPr>
        <p:spPr>
          <a:xfrm>
            <a:off x="7609676" y="3647679"/>
            <a:ext cx="1216649" cy="2162931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3" name="Image 4" descr="/home/user/dougaseisaku/assets/ref4/4_S2_02_真俯瞰_中身を整える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9676" y="3803984"/>
            <a:ext cx="1216649" cy="185032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7609676" y="3647679"/>
            <a:ext cx="1216649" cy="2162931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7609676" y="5847186"/>
            <a:ext cx="12166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真俯瞰。中身を整える手（寄り）</a:t>
            </a:r>
            <a:endParaRPr lang="en-US" sz="720" dirty="0"/>
          </a:p>
        </p:txBody>
      </p:sp>
      <p:sp>
        <p:nvSpPr>
          <p:cNvPr id="36" name="Shape 29"/>
          <p:cNvSpPr/>
          <p:nvPr/>
        </p:nvSpPr>
        <p:spPr>
          <a:xfrm>
            <a:off x="8917765" y="3647679"/>
            <a:ext cx="1216649" cy="2162931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7" name="Image 5" descr="/home/user/dougaseisaku/assets/ref4/4_S2_03_横にスライドしてつなぐ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7765" y="3803984"/>
            <a:ext cx="1216649" cy="1850320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917765" y="3647679"/>
            <a:ext cx="1216649" cy="2162931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8917765" y="5847186"/>
            <a:ext cx="12166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次の画へ横にスライドしてつなぐ。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参考動画のつなぎ方はこれ一つだけ。</a:t>
            </a:r>
            <a:endParaRPr lang="en-US" sz="720" dirty="0"/>
          </a:p>
        </p:txBody>
      </p:sp>
      <p:sp>
        <p:nvSpPr>
          <p:cNvPr id="40" name="Text 32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41" name="Text 33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 / 31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/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持ち歩くものが、その人をつくる。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What You Carry Makes You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30秒 ／ 11ショット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対象＝仕事道具として買う人・贈る人　／　全媒体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参考動画＝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（parisawangny）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1217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鞄を街に置いて撮る。</a:t>
            </a:r>
            <a:pPr indent="0" marL="0">
              <a:lnSpc>
                <a:spcPct val="134000"/>
              </a:lnSpc>
              <a:buNone/>
            </a:pPr>
            <a:endParaRPr lang="en-US" sz="950" dirty="0"/>
          </a:p>
          <a:p>
            <a:pPr indent="0" marL="0">
              <a:lnSpc>
                <a:spcPct val="134000"/>
              </a:lnSpc>
              <a:buNone/>
            </a:pPr>
            <a:endParaRPr lang="en-US" sz="9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次の画へ横にスライドしてつなぐ。顔を主役にしない。カバンの中身を映す。ドラマ風の演出で実用性を訴求する。</a:t>
            </a:r>
            <a:pPr indent="0" marL="0">
              <a:lnSpc>
                <a:spcPct val="134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置き画で終えて、そのままロゴだけにする。</a:t>
            </a:r>
            <a:pPr indent="0" marL="0">
              <a:lnSpc>
                <a:spcPct val="134000"/>
              </a:lnSpc>
              <a:buNone/>
            </a:pPr>
            <a:endParaRPr lang="en-US" sz="950" dirty="0"/>
          </a:p>
          <a:p>
            <a:pPr indent="0" marL="0">
              <a:lnSpc>
                <a:spcPct val="134000"/>
              </a:lnSpc>
              <a:buNone/>
            </a:pPr>
            <a:endParaRPr lang="en-US" sz="9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自然光のみ。曇りの日でよい。三脚で完全に止める。</a:t>
            </a:r>
            <a:pPr indent="0" marL="0">
              <a:lnSpc>
                <a:spcPct val="134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一人で完結させる。</a:t>
            </a:r>
            <a:pPr indent="0" marL="0">
              <a:lnSpc>
                <a:spcPct val="134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誰とも話さない。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30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鞄を街に置くだけで絵になる。中身も、持った姿も、同じ一本で見せる。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24448" y="2065218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 面 に テ ロ ッ プ は 出 さ な い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324448" y="2248098"/>
            <a:ext cx="5455768" cy="777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言葉は投稿の本文に置く。</a:t>
            </a:r>
            <a:pPr indent="0" marL="0">
              <a:lnSpc>
                <a:spcPct val="134000"/>
              </a:lnSpc>
              <a:buNone/>
            </a:pPr>
            <a:endParaRPr lang="en-US" sz="8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8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例：持ち歩くものが、その人をつくる。／ What you carry makes you.</a:t>
            </a:r>
            <a:pPr indent="0" marL="0">
              <a:lnSpc>
                <a:spcPct val="134000"/>
              </a:lnSpc>
              <a:buNone/>
            </a:pPr>
            <a:endParaRPr lang="en-US" sz="8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85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参考動画のキャプションの言い回し（New York polish, designed to carry your everyday）は使わない。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048888" y="3391647"/>
            <a:ext cx="3841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 街を歩く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15-22秒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048888" y="3647679"/>
            <a:ext cx="1219447" cy="216790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 0" descr="/home/user/dougaseisaku/assets/ref4/4_S3_01_高架を歩く_引き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888" y="3804344"/>
            <a:ext cx="1219447" cy="1854575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2048888" y="3647679"/>
            <a:ext cx="1219447" cy="216790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048888" y="5852160"/>
            <a:ext cx="12194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高い通路を歩く（引き）</a:t>
            </a:r>
            <a:endParaRPr lang="en-US" sz="720" dirty="0"/>
          </a:p>
        </p:txBody>
      </p:sp>
      <p:sp>
        <p:nvSpPr>
          <p:cNvPr id="19" name="Shape 16"/>
          <p:cNvSpPr/>
          <p:nvPr/>
        </p:nvSpPr>
        <p:spPr>
          <a:xfrm>
            <a:off x="3359774" y="3647679"/>
            <a:ext cx="1219447" cy="216790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1" descr="/home/user/dougaseisaku/assets/ref4/4_S3_02_肩の鞄に寄る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774" y="3804344"/>
            <a:ext cx="1219447" cy="1854575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3359774" y="3647679"/>
            <a:ext cx="1219447" cy="216790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359774" y="5852160"/>
            <a:ext cx="12194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肩に掛かった鞄に寄る。</a:t>
            </a:r>
            <a:endParaRPr lang="en-US" sz="720" dirty="0"/>
          </a:p>
        </p:txBody>
      </p:sp>
      <p:sp>
        <p:nvSpPr>
          <p:cNvPr id="23" name="Text 19"/>
          <p:cNvSpPr/>
          <p:nvPr/>
        </p:nvSpPr>
        <p:spPr>
          <a:xfrm>
            <a:off x="6301588" y="3391647"/>
            <a:ext cx="3841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S4 立ち止まって終わる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22-30秒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301588" y="3647679"/>
            <a:ext cx="1219447" cy="216790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5" name="Image 2" descr="/home/user/dougaseisaku/assets/ref4/4_S4_01_立ち止まる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588" y="3804344"/>
            <a:ext cx="1219447" cy="1854575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301588" y="3647679"/>
            <a:ext cx="1219447" cy="216790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301588" y="5852160"/>
            <a:ext cx="12194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フェンスの前で立ち止まる。</a:t>
            </a:r>
            <a:endParaRPr lang="en-US" sz="720" dirty="0"/>
          </a:p>
        </p:txBody>
      </p:sp>
      <p:sp>
        <p:nvSpPr>
          <p:cNvPr id="28" name="Shape 23"/>
          <p:cNvSpPr/>
          <p:nvPr/>
        </p:nvSpPr>
        <p:spPr>
          <a:xfrm>
            <a:off x="7612474" y="3647679"/>
            <a:ext cx="1219447" cy="216790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9" name="Image 3" descr="/home/user/dougaseisaku/assets/ref4/4_S4_02_真俯瞰_持ち物を並べる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2474" y="3804344"/>
            <a:ext cx="1219447" cy="1854575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7612474" y="3647679"/>
            <a:ext cx="1219447" cy="216790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612474" y="5852160"/>
            <a:ext cx="12194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真俯瞰。鞄と持ち物・靴を並べる置き画。この画で終わる。</a:t>
            </a:r>
            <a:endParaRPr lang="en-US" sz="720" dirty="0"/>
          </a:p>
        </p:txBody>
      </p:sp>
      <p:sp>
        <p:nvSpPr>
          <p:cNvPr id="32" name="Shape 26"/>
          <p:cNvSpPr/>
          <p:nvPr/>
        </p:nvSpPr>
        <p:spPr>
          <a:xfrm>
            <a:off x="8923361" y="3647679"/>
            <a:ext cx="1219447" cy="216790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3" name="Image 4" descr="/home/user/dougaseisaku/assets/ref4/共通_ロゴのみ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3361" y="3647679"/>
            <a:ext cx="1219447" cy="2167905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8923361" y="3647679"/>
            <a:ext cx="1219447" cy="216790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8923361" y="5852160"/>
            <a:ext cx="12194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そのままロゴだけ。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テロップは出さない。</a:t>
            </a:r>
            <a:endParaRPr lang="en-US" sz="720" dirty="0"/>
          </a:p>
        </p:txBody>
      </p:sp>
      <p:sp>
        <p:nvSpPr>
          <p:cNvPr id="36" name="Text 29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 / 31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/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コーポレートムービー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Corporate Film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七十五秒（最長でも九十秒まで） ／ 23ショット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対象＝メディア関係者・OEMの調達担当・新規　／　コーポレートサイト・YouTube・商談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参考動画＝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（鍛治島工業）　＋　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＋　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（Kawazen Leather）　＋　インタビュー動画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1449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会社を一本で説明できる映像がない。公式サイトのHISTORYページは中身が作られないまま公開されている。</a:t>
            </a:r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空撮（バードアイ）から入り、沿革 → 企画 → 設計 → 製造 → 店舗 → 購入 → 使用</a:t>
            </a:r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の順で、会社の全体像を満遍なく、あっさり見せる。一つの工程を掘り下げない。</a:t>
            </a:r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語り手は三人。</a:t>
            </a:r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永尾社長（冒頭と締め）・佐藤さん（製造の頭）・くさがやさん（店舗の頭）。</a:t>
            </a:r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画に映るのは佐藤さんとくさがやさんが一カットずつ、永尾社長だけ冒頭と締めの二カット。あとは声だけが画の上に流れ続ける。</a:t>
            </a:r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佐藤さんとくさがやさんは別の画角にして、同じ絵の繰り返しにしない。</a:t>
            </a:r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永尾社長の締めは、冒頭と同じ画角に戻す</a:t>
            </a:r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── 頭と終わりを同じ顔で挟むと、七十五秒が一本にまとまる。</a:t>
            </a:r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つなぎはすべてJカット。</a:t>
            </a:r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次に話す人の声を、画が切り替わる前から流しはじめる。画と音をずらすことで、七十五秒の中で話者が三人替わっても切れ目が目立たなくなる。</a:t>
            </a:r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製造は簡潔に。</a:t>
            </a:r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工程の詳しい説明は6本目（OEM案内）で行う。</a:t>
            </a:r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入れないもの</a:t>
            </a:r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：工程の詳しい説明、技術の解説、商品スペック、締めのテロップ。</a:t>
            </a:r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最後はロゴだけで終える。</a:t>
            </a:r>
            <a:endParaRPr lang="en-US" sz="532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22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1979年から続く会社が、いま向島の工房と一つになった。空から店頭まで、会社の全体を七十五秒で見せる。</a:t>
            </a:r>
            <a:endParaRPr lang="en-US" sz="532" dirty="0"/>
          </a:p>
        </p:txBody>
      </p:sp>
      <p:sp>
        <p:nvSpPr>
          <p:cNvPr id="12" name="Text 10"/>
          <p:cNvSpPr/>
          <p:nvPr/>
        </p:nvSpPr>
        <p:spPr>
          <a:xfrm>
            <a:off x="6324448" y="1930470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 ン タ ビ ュ ー の 撮 り 方 （ 三 人 共 通 ）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324448" y="2113350"/>
            <a:ext cx="5455768" cy="764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76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別の画角で撮り分ける。</a:t>
            </a:r>
            <a:pPr indent="0" marL="0">
              <a:lnSpc>
                <a:spcPct val="134000"/>
              </a:lnSpc>
              <a:buNone/>
            </a:pPr>
            <a:r>
              <a:rPr lang="en-US" sz="476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永尾社長＝①バストショット（顔の下に役職テロップ・冒頭と締めの二回）／佐藤さん＝②引き（背景に工房）／くさがやさん＝③横顔（空いた側に見出しテロップ）。</a:t>
            </a:r>
            <a:pPr indent="0" marL="0">
              <a:lnSpc>
                <a:spcPct val="134000"/>
              </a:lnSpc>
              <a:buNone/>
            </a:pPr>
            <a:r>
              <a:rPr lang="en-US" sz="476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背景は必ず大きくボカす。</a:t>
            </a:r>
            <a:pPr indent="0" marL="0">
              <a:lnSpc>
                <a:spcPct val="134000"/>
              </a:lnSpc>
              <a:buNone/>
            </a:pPr>
            <a:endParaRPr lang="en-US" sz="476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76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永尾社長の締めの一言は、収録の最後に必ず撮っておく</a:t>
            </a:r>
            <a:pPr indent="0" marL="0">
              <a:lnSpc>
                <a:spcPct val="134000"/>
              </a:lnSpc>
              <a:buNone/>
            </a:pPr>
            <a:r>
              <a:rPr lang="en-US" sz="476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（三十分の収録のどこかから抜くのではなく、締め用に一本言い切ってもらう）。</a:t>
            </a:r>
            <a:pPr indent="0" marL="0">
              <a:lnSpc>
                <a:spcPct val="134000"/>
              </a:lnSpc>
              <a:buNone/>
            </a:pPr>
            <a:endParaRPr lang="en-US" sz="476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76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三人とも三画角すべて撮っておく</a:t>
            </a:r>
            <a:pPr indent="0" marL="0">
              <a:lnSpc>
                <a:spcPct val="134000"/>
              </a:lnSpc>
              <a:buNone/>
            </a:pPr>
            <a:r>
              <a:rPr lang="en-US" sz="476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（編集で入れ替えられるように）。役職テロップは日英二行（例：BROOKLYN MUSEUM ／ 代表取締役　永尾 ○○ ／ ○○ Nagao）。</a:t>
            </a:r>
            <a:pPr indent="0" marL="0">
              <a:lnSpc>
                <a:spcPct val="134000"/>
              </a:lnSpc>
              <a:buNone/>
            </a:pPr>
            <a:endParaRPr lang="en-US" sz="476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76" b="1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年表テロップ（S2）は画面の右端に寄せて出す。</a:t>
            </a:r>
            <a:pPr indent="0" marL="0">
              <a:lnSpc>
                <a:spcPct val="134000"/>
              </a:lnSpc>
              <a:buNone/>
            </a:pPr>
            <a:r>
              <a:rPr lang="en-US" sz="476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1979 東京千駄ヶ谷にて創業／1980 SHIPS／1982 BEAMS／1984 To Boot New York／1990 UNITED ARROWS／1991 Paul Smith／2011 RALPH LAUREN 全直営店のカルトン</a:t>
            </a:r>
            <a:pPr indent="0" marL="0">
              <a:lnSpc>
                <a:spcPct val="134000"/>
              </a:lnSpc>
              <a:buNone/>
            </a:pPr>
            <a:endParaRPr lang="en-US" sz="476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76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締めのテロップは出さない。最後はロゴだけ。</a:t>
            </a:r>
            <a:endParaRPr lang="en-US" sz="476" dirty="0"/>
          </a:p>
        </p:txBody>
      </p:sp>
      <p:sp>
        <p:nvSpPr>
          <p:cNvPr id="14" name="Text 12"/>
          <p:cNvSpPr/>
          <p:nvPr/>
        </p:nvSpPr>
        <p:spPr>
          <a:xfrm>
            <a:off x="2413501" y="3351682"/>
            <a:ext cx="34766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S1 空から入る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0-6秒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413501" y="3607714"/>
            <a:ext cx="1097909" cy="195183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 0" descr="/home/user/dougaseisaku/assets/ref4/5_S1_01_空撮_街と工房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501" y="4284499"/>
            <a:ext cx="1097909" cy="598267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2413501" y="3607714"/>
            <a:ext cx="1097909" cy="1951838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13501" y="5596128"/>
            <a:ext cx="109790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バードアイショット。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東京の空から降り、向島の街と工房を見つける。</a:t>
            </a:r>
            <a:endParaRPr lang="en-US" sz="720" dirty="0"/>
          </a:p>
        </p:txBody>
      </p:sp>
      <p:sp>
        <p:nvSpPr>
          <p:cNvPr id="19" name="Shape 16"/>
          <p:cNvSpPr/>
          <p:nvPr/>
        </p:nvSpPr>
        <p:spPr>
          <a:xfrm>
            <a:off x="3602850" y="3607714"/>
            <a:ext cx="1097909" cy="195183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1" descr="/home/user/dougaseisaku/assets/ref4/5_S1_02_空撮_建物に寄る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850" y="4284499"/>
            <a:ext cx="1097909" cy="598267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3602850" y="3607714"/>
            <a:ext cx="1097909" cy="1951838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602850" y="5596128"/>
            <a:ext cx="109790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高度を下げ、建物に寄る。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ここで永尾社長の声が先に入りはじめる（Jカット）</a:t>
            </a:r>
            <a:endParaRPr lang="en-US" sz="720" dirty="0"/>
          </a:p>
        </p:txBody>
      </p:sp>
      <p:sp>
        <p:nvSpPr>
          <p:cNvPr id="23" name="Shape 19"/>
          <p:cNvSpPr/>
          <p:nvPr/>
        </p:nvSpPr>
        <p:spPr>
          <a:xfrm>
            <a:off x="4792199" y="3607714"/>
            <a:ext cx="1097909" cy="195183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2" descr="/home/user/dougaseisaku/assets/ref4/5_S3_01_バストショット_役職テロップ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2199" y="4350095"/>
            <a:ext cx="1097909" cy="467076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792199" y="3607714"/>
            <a:ext cx="1097909" cy="1951838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792199" y="5596128"/>
            <a:ext cx="109790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永尾社長。この一カットだけ画に映る。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バストショット、顔の下に役職テロップ。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声は次のシーンにかぶったまま続く。</a:t>
            </a:r>
            <a:endParaRPr lang="en-US" sz="720" dirty="0"/>
          </a:p>
        </p:txBody>
      </p:sp>
      <p:sp>
        <p:nvSpPr>
          <p:cNvPr id="27" name="Text 22"/>
          <p:cNvSpPr/>
          <p:nvPr/>
        </p:nvSpPr>
        <p:spPr>
          <a:xfrm>
            <a:off x="6301588" y="3351682"/>
            <a:ext cx="34766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S2 歴史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6-20秒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301588" y="3607714"/>
            <a:ext cx="1097909" cy="195183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9" name="Image 3" descr="/home/user/dougaseisaku/assets/ref4/5_S2_02_1984_ToBootNewYork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1588" y="4179382"/>
            <a:ext cx="1097909" cy="808502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301588" y="3607714"/>
            <a:ext cx="1097909" cy="1951838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301588" y="5596128"/>
            <a:ext cx="109790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60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コラボの実績から入る。</a:t>
            </a:r>
            <a:pPr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年号テロップを</a:t>
            </a:r>
            <a:pPr indent="0" marL="0">
              <a:lnSpc>
                <a:spcPct val="124000"/>
              </a:lnSpc>
              <a:buNone/>
            </a:pPr>
            <a:r>
              <a:rPr lang="en-US" sz="60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画面の右端に</a:t>
            </a:r>
            <a:pPr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次々に重ねる（1980 SHIPS ／ 1982 BEAMS ／ 1984 To Boot New York ／ 1990 UNITED ARROWS ／ 1991 Paul Smith ／ 2011 RALPH LAUREN）</a:t>
            </a:r>
            <a:endParaRPr lang="en-US" sz="600" dirty="0"/>
          </a:p>
        </p:txBody>
      </p:sp>
      <p:sp>
        <p:nvSpPr>
          <p:cNvPr id="32" name="Shape 26"/>
          <p:cNvSpPr/>
          <p:nvPr/>
        </p:nvSpPr>
        <p:spPr>
          <a:xfrm>
            <a:off x="7490936" y="3607714"/>
            <a:ext cx="1097909" cy="195183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3" name="Image 4" descr="/home/user/dougaseisaku/assets/ref4/5_S2_01_1979創業_店舗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0936" y="4226976"/>
            <a:ext cx="1097909" cy="713315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7490936" y="3607714"/>
            <a:ext cx="1097909" cy="1951838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7490936" y="5596128"/>
            <a:ext cx="109790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昔の外観。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実績を並べたあと、はじまりの店先に戻る。テロップ「1979　東京千駄ヶ谷にて創業」を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右端に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出す。</a:t>
            </a:r>
            <a:endParaRPr lang="en-US" sz="720" dirty="0"/>
          </a:p>
        </p:txBody>
      </p:sp>
      <p:sp>
        <p:nvSpPr>
          <p:cNvPr id="36" name="Shape 29"/>
          <p:cNvSpPr/>
          <p:nvPr/>
        </p:nvSpPr>
        <p:spPr>
          <a:xfrm>
            <a:off x="8680285" y="3607714"/>
            <a:ext cx="1097909" cy="195183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7" name="Image 5" descr="/home/user/dougaseisaku/assets/ref4/5_S2_03_今の店舗_ショーウィンドウ越し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0285" y="4041197"/>
            <a:ext cx="1097909" cy="108487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680285" y="3607714"/>
            <a:ext cx="1097909" cy="1951838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8680285" y="5596128"/>
            <a:ext cx="109790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同じ構図のまま、今の外観へ。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昔の店先からそのまま移り変わる。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白黒からカラーに変わる。</a:t>
            </a:r>
            <a:endParaRPr lang="en-US" sz="720" dirty="0"/>
          </a:p>
        </p:txBody>
      </p:sp>
      <p:sp>
        <p:nvSpPr>
          <p:cNvPr id="40" name="Text 32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41" name="Text 33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 / 31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/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コーポレートムービー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Corporate Film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七十五秒（最長でも九十秒まで） ／ 23ショット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対象＝メディア関係者・OEMの調達担当・新規　／　コーポレートサイト・YouTube・商談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参考動画＝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（鍛治島工業）　＋　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＋　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（Kawazen Leather）　＋　インタビュー動画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1449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会社を一本で説明できる映像がない。公式サイトのHISTORYページは中身が作られないまま公開されている。</a:t>
            </a:r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空撮（バードアイ）から入り、沿革 → 企画 → 設計 → 製造 → 店舗 → 購入 → 使用</a:t>
            </a:r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の順で、会社の全体像を満遍なく、あっさり見せる。一つの工程を掘り下げない。</a:t>
            </a:r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語り手は三人。</a:t>
            </a:r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永尾社長（冒頭と締め）・佐藤さん（製造の頭）・くさがやさん（店舗の頭）。</a:t>
            </a:r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画に映るのは佐藤さんとくさがやさんが一カットずつ、永尾社長だけ冒頭と締めの二カット。あとは声だけが画の上に流れ続ける。</a:t>
            </a:r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佐藤さんとくさがやさんは別の画角にして、同じ絵の繰り返しにしない。</a:t>
            </a:r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永尾社長の締めは、冒頭と同じ画角に戻す</a:t>
            </a:r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── 頭と終わりを同じ顔で挟むと、七十五秒が一本にまとまる。</a:t>
            </a:r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つなぎはすべてJカット。</a:t>
            </a:r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次に話す人の声を、画が切り替わる前から流しはじめる。画と音をずらすことで、七十五秒の中で話者が三人替わっても切れ目が目立たなくなる。</a:t>
            </a:r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製造は簡潔に。</a:t>
            </a:r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工程の詳しい説明は6本目（OEM案内）で行う。</a:t>
            </a:r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入れないもの</a:t>
            </a:r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：工程の詳しい説明、技術の解説、商品スペック、締めのテロップ。</a:t>
            </a:r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最後はロゴだけで終える。</a:t>
            </a:r>
            <a:endParaRPr lang="en-US" sz="532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22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1979年から続く会社が、いま向島の工房と一つになった。空から店頭まで、会社の全体を七十五秒で見せる。</a:t>
            </a:r>
            <a:endParaRPr lang="en-US" sz="532" dirty="0"/>
          </a:p>
        </p:txBody>
      </p:sp>
      <p:sp>
        <p:nvSpPr>
          <p:cNvPr id="12" name="Text 10"/>
          <p:cNvSpPr/>
          <p:nvPr/>
        </p:nvSpPr>
        <p:spPr>
          <a:xfrm>
            <a:off x="6324448" y="1930470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 ン タ ビ ュ ー の 撮 り 方 （ 三 人 共 通 ）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324448" y="2113350"/>
            <a:ext cx="5455768" cy="764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76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別の画角で撮り分ける。</a:t>
            </a:r>
            <a:pPr indent="0" marL="0">
              <a:lnSpc>
                <a:spcPct val="134000"/>
              </a:lnSpc>
              <a:buNone/>
            </a:pPr>
            <a:r>
              <a:rPr lang="en-US" sz="476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永尾社長＝①バストショット（顔の下に役職テロップ・冒頭と締めの二回）／佐藤さん＝②引き（背景に工房）／くさがやさん＝③横顔（空いた側に見出しテロップ）。</a:t>
            </a:r>
            <a:pPr indent="0" marL="0">
              <a:lnSpc>
                <a:spcPct val="134000"/>
              </a:lnSpc>
              <a:buNone/>
            </a:pPr>
            <a:r>
              <a:rPr lang="en-US" sz="476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背景は必ず大きくボカす。</a:t>
            </a:r>
            <a:pPr indent="0" marL="0">
              <a:lnSpc>
                <a:spcPct val="134000"/>
              </a:lnSpc>
              <a:buNone/>
            </a:pPr>
            <a:endParaRPr lang="en-US" sz="476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76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永尾社長の締めの一言は、収録の最後に必ず撮っておく</a:t>
            </a:r>
            <a:pPr indent="0" marL="0">
              <a:lnSpc>
                <a:spcPct val="134000"/>
              </a:lnSpc>
              <a:buNone/>
            </a:pPr>
            <a:r>
              <a:rPr lang="en-US" sz="476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（三十分の収録のどこかから抜くのではなく、締め用に一本言い切ってもらう）。</a:t>
            </a:r>
            <a:pPr indent="0" marL="0">
              <a:lnSpc>
                <a:spcPct val="134000"/>
              </a:lnSpc>
              <a:buNone/>
            </a:pPr>
            <a:endParaRPr lang="en-US" sz="476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76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三人とも三画角すべて撮っておく</a:t>
            </a:r>
            <a:pPr indent="0" marL="0">
              <a:lnSpc>
                <a:spcPct val="134000"/>
              </a:lnSpc>
              <a:buNone/>
            </a:pPr>
            <a:r>
              <a:rPr lang="en-US" sz="476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（編集で入れ替えられるように）。役職テロップは日英二行（例：BROOKLYN MUSEUM ／ 代表取締役　永尾 ○○ ／ ○○ Nagao）。</a:t>
            </a:r>
            <a:pPr indent="0" marL="0">
              <a:lnSpc>
                <a:spcPct val="134000"/>
              </a:lnSpc>
              <a:buNone/>
            </a:pPr>
            <a:endParaRPr lang="en-US" sz="476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76" b="1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年表テロップ（S2）は画面の右端に寄せて出す。</a:t>
            </a:r>
            <a:pPr indent="0" marL="0">
              <a:lnSpc>
                <a:spcPct val="134000"/>
              </a:lnSpc>
              <a:buNone/>
            </a:pPr>
            <a:r>
              <a:rPr lang="en-US" sz="476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1979 東京千駄ヶ谷にて創業／1980 SHIPS／1982 BEAMS／1984 To Boot New York／1990 UNITED ARROWS／1991 Paul Smith／2011 RALPH LAUREN 全直営店のカルトン</a:t>
            </a:r>
            <a:pPr indent="0" marL="0">
              <a:lnSpc>
                <a:spcPct val="134000"/>
              </a:lnSpc>
              <a:buNone/>
            </a:pPr>
            <a:endParaRPr lang="en-US" sz="476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76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締めのテロップは出さない。最後はロゴだけ。</a:t>
            </a:r>
            <a:endParaRPr lang="en-US" sz="476" dirty="0"/>
          </a:p>
        </p:txBody>
      </p:sp>
      <p:sp>
        <p:nvSpPr>
          <p:cNvPr id="14" name="Text 12"/>
          <p:cNvSpPr/>
          <p:nvPr/>
        </p:nvSpPr>
        <p:spPr>
          <a:xfrm>
            <a:off x="1989841" y="3351682"/>
            <a:ext cx="3900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 企画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20-29秒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989841" y="3607714"/>
            <a:ext cx="1239129" cy="2202896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 0" descr="/home/user/dougaseisaku/assets/ref4/5_S3_01_色見本を見ながら打ち合わせ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9841" y="4296119"/>
            <a:ext cx="1239129" cy="826086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989841" y="3607714"/>
            <a:ext cx="1239129" cy="2202896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989841" y="5847186"/>
            <a:ext cx="12391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色見本を見ながら打ち合わせる。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二人で同じものを覗き込む（俯瞰気味）。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企画はここから始まる。</a:t>
            </a:r>
            <a:endParaRPr lang="en-US" sz="720" dirty="0"/>
          </a:p>
        </p:txBody>
      </p:sp>
      <p:sp>
        <p:nvSpPr>
          <p:cNvPr id="19" name="Shape 16"/>
          <p:cNvSpPr/>
          <p:nvPr/>
        </p:nvSpPr>
        <p:spPr>
          <a:xfrm>
            <a:off x="3320410" y="3607714"/>
            <a:ext cx="1239129" cy="2202896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1" descr="/home/user/dougaseisaku/assets/ref4/5_S4_01_革が色ごとに並ぶ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0410" y="4349499"/>
            <a:ext cx="1239129" cy="719325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3320410" y="3607714"/>
            <a:ext cx="1239129" cy="2202896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320410" y="5847186"/>
            <a:ext cx="12391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革を並べて色を決める。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扱える色数がそのまま伝わる。</a:t>
            </a:r>
            <a:endParaRPr lang="en-US" sz="720" dirty="0"/>
          </a:p>
        </p:txBody>
      </p:sp>
      <p:sp>
        <p:nvSpPr>
          <p:cNvPr id="23" name="Shape 19"/>
          <p:cNvSpPr/>
          <p:nvPr/>
        </p:nvSpPr>
        <p:spPr>
          <a:xfrm>
            <a:off x="4650979" y="3607714"/>
            <a:ext cx="1239129" cy="2202896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2" descr="/home/user/dougaseisaku/assets/ref4/5_S3_03_机に広がる色見本と資料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0979" y="4248824"/>
            <a:ext cx="1239129" cy="920676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650979" y="3607714"/>
            <a:ext cx="1239129" cy="2202896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650979" y="5847186"/>
            <a:ext cx="12391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机いっぱいに色見本と資料が広がる。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手が動いて話している（引き）</a:t>
            </a:r>
            <a:endParaRPr lang="en-US" sz="720" dirty="0"/>
          </a:p>
        </p:txBody>
      </p:sp>
      <p:sp>
        <p:nvSpPr>
          <p:cNvPr id="27" name="Text 22"/>
          <p:cNvSpPr/>
          <p:nvPr/>
        </p:nvSpPr>
        <p:spPr>
          <a:xfrm>
            <a:off x="6301588" y="3351682"/>
            <a:ext cx="3900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S4 設計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29-38秒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301588" y="3607714"/>
            <a:ext cx="1239129" cy="2202896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9" name="Image 3" descr="/home/user/dougaseisaku/assets/ref4/5_S5_01_図面をなぞる手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1588" y="4371552"/>
            <a:ext cx="1239129" cy="67522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301588" y="3607714"/>
            <a:ext cx="1239129" cy="2202896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301588" y="5847186"/>
            <a:ext cx="12391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手が図面をなぞる（寄り）</a:t>
            </a:r>
            <a:endParaRPr lang="en-US" sz="720" dirty="0"/>
          </a:p>
        </p:txBody>
      </p:sp>
      <p:sp>
        <p:nvSpPr>
          <p:cNvPr id="32" name="Shape 26"/>
          <p:cNvSpPr/>
          <p:nvPr/>
        </p:nvSpPr>
        <p:spPr>
          <a:xfrm>
            <a:off x="7632156" y="3607714"/>
            <a:ext cx="1239129" cy="2202896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3" name="Image 4" descr="/home/user/dougaseisaku/assets/ref4/5_S5_02_図面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2156" y="4374177"/>
            <a:ext cx="1239129" cy="66997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7632156" y="3607714"/>
            <a:ext cx="1239129" cy="2202896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7632156" y="5847186"/>
            <a:ext cx="12391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型紙・図面の俯瞰。</a:t>
            </a:r>
            <a:endParaRPr lang="en-US" sz="720" dirty="0"/>
          </a:p>
        </p:txBody>
      </p:sp>
      <p:sp>
        <p:nvSpPr>
          <p:cNvPr id="36" name="Shape 29"/>
          <p:cNvSpPr/>
          <p:nvPr/>
        </p:nvSpPr>
        <p:spPr>
          <a:xfrm>
            <a:off x="8962725" y="3607714"/>
            <a:ext cx="1239129" cy="2202896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7" name="Image 5" descr="/home/user/dougaseisaku/assets/ref4/5_S5_03_机で数値を入れる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2725" y="4371552"/>
            <a:ext cx="1239129" cy="675220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962725" y="3607714"/>
            <a:ext cx="1239129" cy="2202896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8962725" y="5847186"/>
            <a:ext cx="12391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机で数値を決める。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ここで佐藤さんの声が先に入りはじめる（Jカット）</a:t>
            </a:r>
            <a:endParaRPr lang="en-US" sz="720" dirty="0"/>
          </a:p>
        </p:txBody>
      </p:sp>
      <p:sp>
        <p:nvSpPr>
          <p:cNvPr id="40" name="Text 32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41" name="Text 33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 / 31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/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コーポレートムービー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Corporate Film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七十五秒（最長でも九十秒まで） ／ 23ショット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対象＝メディア関係者・OEMの調達担当・新規　／　コーポレートサイト・YouTube・商談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参考動画＝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（鍛治島工業）　＋　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＋　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（Kawazen Leather）　＋　インタビュー動画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1449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会社を一本で説明できる映像がない。公式サイトのHISTORYページは中身が作られないまま公開されている。</a:t>
            </a:r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空撮（バードアイ）から入り、沿革 → 企画 → 設計 → 製造 → 店舗 → 購入 → 使用</a:t>
            </a:r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の順で、会社の全体像を満遍なく、あっさり見せる。一つの工程を掘り下げない。</a:t>
            </a:r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語り手は三人。</a:t>
            </a:r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永尾社長（冒頭と締め）・佐藤さん（製造の頭）・くさがやさん（店舗の頭）。</a:t>
            </a:r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画に映るのは佐藤さんとくさがやさんが一カットずつ、永尾社長だけ冒頭と締めの二カット。あとは声だけが画の上に流れ続ける。</a:t>
            </a:r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佐藤さんとくさがやさんは別の画角にして、同じ絵の繰り返しにしない。</a:t>
            </a:r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永尾社長の締めは、冒頭と同じ画角に戻す</a:t>
            </a:r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── 頭と終わりを同じ顔で挟むと、七十五秒が一本にまとまる。</a:t>
            </a:r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つなぎはすべてJカット。</a:t>
            </a:r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次に話す人の声を、画が切り替わる前から流しはじめる。画と音をずらすことで、七十五秒の中で話者が三人替わっても切れ目が目立たなくなる。</a:t>
            </a:r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製造は簡潔に。</a:t>
            </a:r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工程の詳しい説明は6本目（OEM案内）で行う。</a:t>
            </a:r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入れないもの</a:t>
            </a:r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：工程の詳しい説明、技術の解説、商品スペック、締めのテロップ。</a:t>
            </a:r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最後はロゴだけで終える。</a:t>
            </a:r>
            <a:endParaRPr lang="en-US" sz="532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22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1979年から続く会社が、いま向島の工房と一つになった。空から店頭まで、会社の全体を七十五秒で見せる。</a:t>
            </a:r>
            <a:endParaRPr lang="en-US" sz="532" dirty="0"/>
          </a:p>
        </p:txBody>
      </p:sp>
      <p:sp>
        <p:nvSpPr>
          <p:cNvPr id="12" name="Text 10"/>
          <p:cNvSpPr/>
          <p:nvPr/>
        </p:nvSpPr>
        <p:spPr>
          <a:xfrm>
            <a:off x="6324448" y="1930470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 ン タ ビ ュ ー の 撮 り 方 （ 三 人 共 通 ）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324448" y="2113350"/>
            <a:ext cx="5455768" cy="764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76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別の画角で撮り分ける。</a:t>
            </a:r>
            <a:pPr indent="0" marL="0">
              <a:lnSpc>
                <a:spcPct val="134000"/>
              </a:lnSpc>
              <a:buNone/>
            </a:pPr>
            <a:r>
              <a:rPr lang="en-US" sz="476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永尾社長＝①バストショット（顔の下に役職テロップ・冒頭と締めの二回）／佐藤さん＝②引き（背景に工房）／くさがやさん＝③横顔（空いた側に見出しテロップ）。</a:t>
            </a:r>
            <a:pPr indent="0" marL="0">
              <a:lnSpc>
                <a:spcPct val="134000"/>
              </a:lnSpc>
              <a:buNone/>
            </a:pPr>
            <a:r>
              <a:rPr lang="en-US" sz="476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背景は必ず大きくボカす。</a:t>
            </a:r>
            <a:pPr indent="0" marL="0">
              <a:lnSpc>
                <a:spcPct val="134000"/>
              </a:lnSpc>
              <a:buNone/>
            </a:pPr>
            <a:endParaRPr lang="en-US" sz="476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76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永尾社長の締めの一言は、収録の最後に必ず撮っておく</a:t>
            </a:r>
            <a:pPr indent="0" marL="0">
              <a:lnSpc>
                <a:spcPct val="134000"/>
              </a:lnSpc>
              <a:buNone/>
            </a:pPr>
            <a:r>
              <a:rPr lang="en-US" sz="476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（三十分の収録のどこかから抜くのではなく、締め用に一本言い切ってもらう）。</a:t>
            </a:r>
            <a:pPr indent="0" marL="0">
              <a:lnSpc>
                <a:spcPct val="134000"/>
              </a:lnSpc>
              <a:buNone/>
            </a:pPr>
            <a:endParaRPr lang="en-US" sz="476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76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三人とも三画角すべて撮っておく</a:t>
            </a:r>
            <a:pPr indent="0" marL="0">
              <a:lnSpc>
                <a:spcPct val="134000"/>
              </a:lnSpc>
              <a:buNone/>
            </a:pPr>
            <a:r>
              <a:rPr lang="en-US" sz="476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（編集で入れ替えられるように）。役職テロップは日英二行（例：BROOKLYN MUSEUM ／ 代表取締役　永尾 ○○ ／ ○○ Nagao）。</a:t>
            </a:r>
            <a:pPr indent="0" marL="0">
              <a:lnSpc>
                <a:spcPct val="134000"/>
              </a:lnSpc>
              <a:buNone/>
            </a:pPr>
            <a:endParaRPr lang="en-US" sz="476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76" b="1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年表テロップ（S2）は画面の右端に寄せて出す。</a:t>
            </a:r>
            <a:pPr indent="0" marL="0">
              <a:lnSpc>
                <a:spcPct val="134000"/>
              </a:lnSpc>
              <a:buNone/>
            </a:pPr>
            <a:r>
              <a:rPr lang="en-US" sz="476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1979 東京千駄ヶ谷にて創業／1980 SHIPS／1982 BEAMS／1984 To Boot New York／1990 UNITED ARROWS／1991 Paul Smith／2011 RALPH LAUREN 全直営店のカルトン</a:t>
            </a:r>
            <a:pPr indent="0" marL="0">
              <a:lnSpc>
                <a:spcPct val="134000"/>
              </a:lnSpc>
              <a:buNone/>
            </a:pPr>
            <a:endParaRPr lang="en-US" sz="476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76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締めのテロップは出さない。最後はロゴだけ。</a:t>
            </a:r>
            <a:endParaRPr lang="en-US" sz="476" dirty="0"/>
          </a:p>
        </p:txBody>
      </p:sp>
      <p:sp>
        <p:nvSpPr>
          <p:cNvPr id="14" name="Text 12"/>
          <p:cNvSpPr/>
          <p:nvPr/>
        </p:nvSpPr>
        <p:spPr>
          <a:xfrm>
            <a:off x="2413501" y="3351682"/>
            <a:ext cx="34766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S5 製造（簡潔に）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38-52秒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413501" y="3607714"/>
            <a:ext cx="1097909" cy="195183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 0" descr="/home/user/dougaseisaku/assets/ref4/5_S3_02_引き_ロゴの壁を背に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501" y="4350095"/>
            <a:ext cx="1097909" cy="467076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2413501" y="3607714"/>
            <a:ext cx="1097909" cy="1951838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13501" y="5596128"/>
            <a:ext cx="109790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佐藤さん。この一カットだけ画に映る。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引き、背景に工房。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声は次のカットにかぶったまま続く。</a:t>
            </a:r>
            <a:endParaRPr lang="en-US" sz="720" dirty="0"/>
          </a:p>
        </p:txBody>
      </p:sp>
      <p:sp>
        <p:nvSpPr>
          <p:cNvPr id="19" name="Shape 16"/>
          <p:cNvSpPr/>
          <p:nvPr/>
        </p:nvSpPr>
        <p:spPr>
          <a:xfrm>
            <a:off x="3602850" y="3607714"/>
            <a:ext cx="1097909" cy="195183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1" descr="/home/user/dougaseisaku/assets/ref4/5_S5_02_大型の機械が動く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850" y="4264960"/>
            <a:ext cx="1097909" cy="637345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3602850" y="3607714"/>
            <a:ext cx="1097909" cy="1951838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602850" y="5596128"/>
            <a:ext cx="109790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大型の機械が動いている（引き）。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設備の規模がそのまま伝わる。</a:t>
            </a:r>
            <a:endParaRPr lang="en-US" sz="720" dirty="0"/>
          </a:p>
        </p:txBody>
      </p:sp>
      <p:sp>
        <p:nvSpPr>
          <p:cNvPr id="23" name="Shape 19"/>
          <p:cNvSpPr/>
          <p:nvPr/>
        </p:nvSpPr>
        <p:spPr>
          <a:xfrm>
            <a:off x="4792199" y="3607714"/>
            <a:ext cx="1097909" cy="195183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2" descr="/home/user/dougaseisaku/assets/ref4/5_S6_02_職人が革を扱う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2199" y="4264960"/>
            <a:ext cx="1097909" cy="637345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792199" y="3607714"/>
            <a:ext cx="1097909" cy="1951838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792199" y="5596128"/>
            <a:ext cx="109790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裁つ・縫う・磨く。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一工程一カット。説明はしない。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ここでくさがやさんの声が先に入りはじめる（Jカット）</a:t>
            </a:r>
            <a:endParaRPr lang="en-US" sz="720" dirty="0"/>
          </a:p>
        </p:txBody>
      </p:sp>
      <p:sp>
        <p:nvSpPr>
          <p:cNvPr id="27" name="Text 22"/>
          <p:cNvSpPr/>
          <p:nvPr/>
        </p:nvSpPr>
        <p:spPr>
          <a:xfrm>
            <a:off x="6301588" y="3351682"/>
            <a:ext cx="34766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S6 店舗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52-63秒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301588" y="3607714"/>
            <a:ext cx="1097909" cy="195183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9" name="Image 3" descr="/home/user/dougaseisaku/assets/ref4/5_S3_03_横顔_見出しテロップ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1588" y="4350095"/>
            <a:ext cx="1097909" cy="467076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301588" y="3607714"/>
            <a:ext cx="1097909" cy="1951838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301588" y="5596128"/>
            <a:ext cx="109790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くさがやさん。この一カットだけ画に映る。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横顔、空いた側に見出しテロップ。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声は次のカットにかぶったまま続く。</a:t>
            </a:r>
            <a:endParaRPr lang="en-US" sz="720" dirty="0"/>
          </a:p>
        </p:txBody>
      </p:sp>
      <p:sp>
        <p:nvSpPr>
          <p:cNvPr id="32" name="Shape 26"/>
          <p:cNvSpPr/>
          <p:nvPr/>
        </p:nvSpPr>
        <p:spPr>
          <a:xfrm>
            <a:off x="7490936" y="3607714"/>
            <a:ext cx="1097909" cy="195183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3" name="Image 4" descr="/home/user/dougaseisaku/assets/ref4/5_S6_02_店内_ショーケースと棚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0936" y="4228372"/>
            <a:ext cx="1097909" cy="710521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7490936" y="3607714"/>
            <a:ext cx="1097909" cy="1951838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7490936" y="5596128"/>
            <a:ext cx="109790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店内（引き）。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ショーケースと棚が並ぶ。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ロゴが入る位置まで見せる。</a:t>
            </a:r>
            <a:endParaRPr lang="en-US" sz="720" dirty="0"/>
          </a:p>
        </p:txBody>
      </p:sp>
      <p:sp>
        <p:nvSpPr>
          <p:cNvPr id="36" name="Shape 29"/>
          <p:cNvSpPr/>
          <p:nvPr/>
        </p:nvSpPr>
        <p:spPr>
          <a:xfrm>
            <a:off x="8680285" y="3607714"/>
            <a:ext cx="1097909" cy="195183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7" name="Image 5" descr="/home/user/dougaseisaku/assets/ref4/5_S2_03_今の店舗_ショーウィンドウ越し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0285" y="4041197"/>
            <a:ext cx="1097909" cy="108487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680285" y="3607714"/>
            <a:ext cx="1097909" cy="1951838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8680285" y="5596128"/>
            <a:ext cx="109790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6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ショーウィンドウ越しに店内を見せる。</a:t>
            </a:r>
            <a:pPr indent="0" marL="0">
              <a:lnSpc>
                <a:spcPct val="124000"/>
              </a:lnSpc>
              <a:buNone/>
            </a:pPr>
            <a:r>
              <a:rPr lang="en-US" sz="6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外から見た店の顔。</a:t>
            </a:r>
            <a:pPr indent="0" marL="0">
              <a:lnSpc>
                <a:spcPct val="124000"/>
              </a:lnSpc>
              <a:buNone/>
            </a:pPr>
            <a:r>
              <a:rPr lang="en-US" sz="62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S2の「今の外観」と同じ写真です（画角の参考として同じものを当てています）。</a:t>
            </a:r>
            <a:pPr indent="0" marL="0">
              <a:lnSpc>
                <a:spcPct val="124000"/>
              </a:lnSpc>
              <a:buNone/>
            </a:pPr>
            <a:r>
              <a:rPr lang="en-US" sz="620" b="1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棚から商品を手に取る寄りも撮っておく。</a:t>
            </a:r>
            <a:endParaRPr lang="en-US" sz="620" dirty="0"/>
          </a:p>
        </p:txBody>
      </p:sp>
      <p:sp>
        <p:nvSpPr>
          <p:cNvPr id="40" name="Text 32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41" name="Text 33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 / 31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/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コーポレートムービー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Corporate Film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七十五秒（最長でも九十秒まで） ／ 23ショット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対象＝メディア関係者・OEMの調達担当・新規　／　コーポレートサイト・YouTube・商談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参考動画＝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（鍛治島工業）　＋　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＋　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（Kawazen Leather）　＋　インタビュー動画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1449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会社を一本で説明できる映像がない。公式サイトのHISTORYページは中身が作られないまま公開されている。</a:t>
            </a:r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空撮（バードアイ）から入り、沿革 → 企画 → 設計 → 製造 → 店舗 → 購入 → 使用</a:t>
            </a:r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の順で、会社の全体像を満遍なく、あっさり見せる。一つの工程を掘り下げない。</a:t>
            </a:r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語り手は三人。</a:t>
            </a:r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永尾社長（冒頭と締め）・佐藤さん（製造の頭）・くさがやさん（店舗の頭）。</a:t>
            </a:r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画に映るのは佐藤さんとくさがやさんが一カットずつ、永尾社長だけ冒頭と締めの二カット。あとは声だけが画の上に流れ続ける。</a:t>
            </a:r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佐藤さんとくさがやさんは別の画角にして、同じ絵の繰り返しにしない。</a:t>
            </a:r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永尾社長の締めは、冒頭と同じ画角に戻す</a:t>
            </a:r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── 頭と終わりを同じ顔で挟むと、七十五秒が一本にまとまる。</a:t>
            </a:r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つなぎはすべてJカット。</a:t>
            </a:r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次に話す人の声を、画が切り替わる前から流しはじめる。画と音をずらすことで、七十五秒の中で話者が三人替わっても切れ目が目立たなくなる。</a:t>
            </a:r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製造は簡潔に。</a:t>
            </a:r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工程の詳しい説明は6本目（OEM案内）で行う。</a:t>
            </a:r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endParaRPr lang="en-US" sz="53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入れないもの</a:t>
            </a:r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：工程の詳しい説明、技術の解説、商品スペック、締めのテロップ。</a:t>
            </a:r>
            <a:pPr indent="0" marL="0">
              <a:lnSpc>
                <a:spcPct val="134000"/>
              </a:lnSpc>
              <a:buNone/>
            </a:pPr>
            <a:r>
              <a:rPr lang="en-US" sz="53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最後はロゴだけで終える。</a:t>
            </a:r>
            <a:endParaRPr lang="en-US" sz="532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22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53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1979年から続く会社が、いま向島の工房と一つになった。空から店頭まで、会社の全体を七十五秒で見せる。</a:t>
            </a:r>
            <a:endParaRPr lang="en-US" sz="532" dirty="0"/>
          </a:p>
        </p:txBody>
      </p:sp>
      <p:sp>
        <p:nvSpPr>
          <p:cNvPr id="12" name="Text 10"/>
          <p:cNvSpPr/>
          <p:nvPr/>
        </p:nvSpPr>
        <p:spPr>
          <a:xfrm>
            <a:off x="6324448" y="1930470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 ン タ ビ ュ ー の 撮 り 方 （ 三 人 共 通 ）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324448" y="2113350"/>
            <a:ext cx="5455768" cy="764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76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別の画角で撮り分ける。</a:t>
            </a:r>
            <a:pPr indent="0" marL="0">
              <a:lnSpc>
                <a:spcPct val="134000"/>
              </a:lnSpc>
              <a:buNone/>
            </a:pPr>
            <a:r>
              <a:rPr lang="en-US" sz="476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永尾社長＝①バストショット（顔の下に役職テロップ・冒頭と締めの二回）／佐藤さん＝②引き（背景に工房）／くさがやさん＝③横顔（空いた側に見出しテロップ）。</a:t>
            </a:r>
            <a:pPr indent="0" marL="0">
              <a:lnSpc>
                <a:spcPct val="134000"/>
              </a:lnSpc>
              <a:buNone/>
            </a:pPr>
            <a:r>
              <a:rPr lang="en-US" sz="476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背景は必ず大きくボカす。</a:t>
            </a:r>
            <a:pPr indent="0" marL="0">
              <a:lnSpc>
                <a:spcPct val="134000"/>
              </a:lnSpc>
              <a:buNone/>
            </a:pPr>
            <a:endParaRPr lang="en-US" sz="476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76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永尾社長の締めの一言は、収録の最後に必ず撮っておく</a:t>
            </a:r>
            <a:pPr indent="0" marL="0">
              <a:lnSpc>
                <a:spcPct val="134000"/>
              </a:lnSpc>
              <a:buNone/>
            </a:pPr>
            <a:r>
              <a:rPr lang="en-US" sz="476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（三十分の収録のどこかから抜くのではなく、締め用に一本言い切ってもらう）。</a:t>
            </a:r>
            <a:pPr indent="0" marL="0">
              <a:lnSpc>
                <a:spcPct val="134000"/>
              </a:lnSpc>
              <a:buNone/>
            </a:pPr>
            <a:endParaRPr lang="en-US" sz="476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76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三人とも三画角すべて撮っておく</a:t>
            </a:r>
            <a:pPr indent="0" marL="0">
              <a:lnSpc>
                <a:spcPct val="134000"/>
              </a:lnSpc>
              <a:buNone/>
            </a:pPr>
            <a:r>
              <a:rPr lang="en-US" sz="476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（編集で入れ替えられるように）。役職テロップは日英二行（例：BROOKLYN MUSEUM ／ 代表取締役　永尾 ○○ ／ ○○ Nagao）。</a:t>
            </a:r>
            <a:pPr indent="0" marL="0">
              <a:lnSpc>
                <a:spcPct val="134000"/>
              </a:lnSpc>
              <a:buNone/>
            </a:pPr>
            <a:endParaRPr lang="en-US" sz="476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76" b="1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年表テロップ（S2）は画面の右端に寄せて出す。</a:t>
            </a:r>
            <a:pPr indent="0" marL="0">
              <a:lnSpc>
                <a:spcPct val="134000"/>
              </a:lnSpc>
              <a:buNone/>
            </a:pPr>
            <a:r>
              <a:rPr lang="en-US" sz="476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1979 東京千駄ヶ谷にて創業／1980 SHIPS／1982 BEAMS／1984 To Boot New York／1990 UNITED ARROWS／1991 Paul Smith／2011 RALPH LAUREN 全直営店のカルトン</a:t>
            </a:r>
            <a:pPr indent="0" marL="0">
              <a:lnSpc>
                <a:spcPct val="134000"/>
              </a:lnSpc>
              <a:buNone/>
            </a:pPr>
            <a:endParaRPr lang="en-US" sz="476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76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締めのテロップは出さない。最後はロゴだけ。</a:t>
            </a:r>
            <a:endParaRPr lang="en-US" sz="476" dirty="0"/>
          </a:p>
        </p:txBody>
      </p:sp>
      <p:sp>
        <p:nvSpPr>
          <p:cNvPr id="14" name="Text 12"/>
          <p:cNvSpPr/>
          <p:nvPr/>
        </p:nvSpPr>
        <p:spPr>
          <a:xfrm>
            <a:off x="2207967" y="3351682"/>
            <a:ext cx="36821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S7 購入・使う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63-70秒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207967" y="3607714"/>
            <a:ext cx="1166420" cy="2073636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 0" descr="/home/user/dougaseisaku/assets/ref4/5_S7_01_会計_カウンターで応対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7967" y="4155628"/>
            <a:ext cx="1166420" cy="97780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2207967" y="3607714"/>
            <a:ext cx="1166420" cy="2073636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07967" y="5717926"/>
            <a:ext cx="1166420" cy="664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店員が応対する。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二人が同じ画面に入る。購入シーン、笑顔で見送る。</a:t>
            </a:r>
            <a:endParaRPr lang="en-US" sz="720" dirty="0"/>
          </a:p>
        </p:txBody>
      </p:sp>
      <p:sp>
        <p:nvSpPr>
          <p:cNvPr id="19" name="Shape 16"/>
          <p:cNvSpPr/>
          <p:nvPr/>
        </p:nvSpPr>
        <p:spPr>
          <a:xfrm>
            <a:off x="3465827" y="3607714"/>
            <a:ext cx="1166420" cy="2073636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1" descr="/home/user/dougaseisaku/assets/ref4/5_S7_02_手渡しと笑顔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5827" y="3915519"/>
            <a:ext cx="1166420" cy="1458025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3465827" y="3607714"/>
            <a:ext cx="1166420" cy="2073636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65827" y="5717926"/>
            <a:ext cx="1166420" cy="664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手渡される瞬間と、受け取った人の笑顔。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渡す側と受け取る側を一つの画に入れる。</a:t>
            </a:r>
            <a:endParaRPr lang="en-US" sz="720" dirty="0"/>
          </a:p>
        </p:txBody>
      </p:sp>
      <p:sp>
        <p:nvSpPr>
          <p:cNvPr id="23" name="Shape 19"/>
          <p:cNvSpPr/>
          <p:nvPr/>
        </p:nvSpPr>
        <p:spPr>
          <a:xfrm>
            <a:off x="4723687" y="3607714"/>
            <a:ext cx="1166420" cy="2073636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2" descr="/home/user/dougaseisaku/assets/ref4/5_S7_03_使っている手元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3687" y="4164776"/>
            <a:ext cx="1166420" cy="959511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723687" y="3607714"/>
            <a:ext cx="1166420" cy="2073636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723687" y="5717926"/>
            <a:ext cx="1166420" cy="664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実際に使われている手元。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ノートPCを入れる。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ここで永尾社長の声がもう一度入りはじめる（Jカット）</a:t>
            </a:r>
            <a:endParaRPr lang="en-US" sz="720" dirty="0"/>
          </a:p>
        </p:txBody>
      </p:sp>
      <p:sp>
        <p:nvSpPr>
          <p:cNvPr id="27" name="Text 22"/>
          <p:cNvSpPr/>
          <p:nvPr/>
        </p:nvSpPr>
        <p:spPr>
          <a:xfrm>
            <a:off x="6301588" y="3351682"/>
            <a:ext cx="36821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S8 締め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70-75秒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301588" y="3607714"/>
            <a:ext cx="1166420" cy="2073636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9" name="Image 3" descr="/home/user/dougaseisaku/assets/ref4/5_S3_01_バストショット_役職テロップ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1588" y="4396421"/>
            <a:ext cx="1166420" cy="496223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301588" y="3607714"/>
            <a:ext cx="1166420" cy="2073636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301588" y="5717926"/>
            <a:ext cx="1166420" cy="664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永尾社長。締めの一言。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冒頭と同じ画角に戻し、頭と終わりで挟む。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この一本で言いたいことを、本人の言葉で置く。</a:t>
            </a:r>
            <a:endParaRPr lang="en-US" sz="720" dirty="0"/>
          </a:p>
        </p:txBody>
      </p:sp>
      <p:sp>
        <p:nvSpPr>
          <p:cNvPr id="32" name="Shape 26"/>
          <p:cNvSpPr/>
          <p:nvPr/>
        </p:nvSpPr>
        <p:spPr>
          <a:xfrm>
            <a:off x="7559448" y="3607714"/>
            <a:ext cx="1166420" cy="2073636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3" name="Image 4" descr="/home/user/dougaseisaku/assets/ref4/共通_ロゴのみ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9448" y="3607714"/>
            <a:ext cx="1166420" cy="2073636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7559448" y="3607714"/>
            <a:ext cx="1166420" cy="2073636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7559448" y="5717926"/>
            <a:ext cx="1166420" cy="664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声が終わり、音が引く。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ロゴだけ。テロップは出さない。</a:t>
            </a:r>
            <a:endParaRPr lang="en-US" sz="720" dirty="0"/>
          </a:p>
        </p:txBody>
      </p:sp>
      <p:sp>
        <p:nvSpPr>
          <p:cNvPr id="36" name="Text 29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 / 31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/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選ばれる理由。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Why Brands Choose 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2分20秒 ／ 28ショット（展示会用の無音版 ×1）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対象＝OEMの調達・生産担当　／　商談・展示会・提案資料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参考動画＝⑤と同様。</a:t>
            </a:r>
            <a:pPr algn="r" indent="0" marL="0">
              <a:lnSpc>
                <a:spcPct val="132000"/>
              </a:lnSpc>
              <a:buNone/>
            </a:pPr>
            <a:r>
              <a:rPr lang="en-US" sz="750" b="1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空撮から入る工場見学ワンテイク型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を推奨（上から降りて入口へ、工程順に歩き、梱包場で終わる）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1260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OEMの粗利は36%。自社ブランドの財布・小物は76〜93%ある。訪問前に体制を伝えて、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価格ではなく品質で選ばれる状態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を作る。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語り手は佐藤さん。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冒頭で工房案内のはじまりとして画に映り、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そのあとは声だけが全編に流れ続ける。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最後にもう一度だけ画に戻り、話し終わる瞬間で締める。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当社の強みを本人の言葉で言ってもらう。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順番は工程どおり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：バードアイ → 工房の全体 → 革を選ぶ・金型 → 裁断 → 下仕事 → 縫製 → 検品 → 梱包。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Bロールとして職人の顔を各所に差し込む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（手元だけで終わらせず、誰が作っているかを見せる）。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3本目との違い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：3本目は黒背景・一灯・手だけ・固定・BGM・ロゴで終わる。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この6本目は工房の実景・自然光・人と機械・歩くカメラ・作業音・梱包と問い合わせ先で終わる。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同じ工程を撮っても別物になる。撮影日も分ける。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同じ素材から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展示会用の60秒無音版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を作る。</a:t>
            </a:r>
            <a:endParaRPr lang="en-US" sz="494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22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量産も少量生産もできる。検品まで自社で完結し、この形で届く。誰が作っているかまで見せる。</a:t>
            </a:r>
            <a:endParaRPr lang="en-US" sz="494" dirty="0"/>
          </a:p>
        </p:txBody>
      </p:sp>
      <p:sp>
        <p:nvSpPr>
          <p:cNvPr id="12" name="Shape 10"/>
          <p:cNvSpPr/>
          <p:nvPr/>
        </p:nvSpPr>
        <p:spPr>
          <a:xfrm>
            <a:off x="6324448" y="1923208"/>
            <a:ext cx="5455768" cy="8595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89040" y="2014648"/>
            <a:ext cx="5126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 ロ ッ プ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89040" y="2215816"/>
            <a:ext cx="5126584" cy="21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28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つくる、確かめる、包む。</a:t>
            </a:r>
            <a:endParaRPr lang="en-US" sz="728" dirty="0"/>
          </a:p>
        </p:txBody>
      </p:sp>
      <p:sp>
        <p:nvSpPr>
          <p:cNvPr id="15" name="Text 13"/>
          <p:cNvSpPr/>
          <p:nvPr/>
        </p:nvSpPr>
        <p:spPr>
          <a:xfrm>
            <a:off x="6489040" y="2473816"/>
            <a:ext cx="5126584" cy="162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8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Make. Check. Pack.</a:t>
            </a:r>
            <a:endParaRPr lang="en-US" sz="468" dirty="0"/>
          </a:p>
        </p:txBody>
      </p:sp>
      <p:sp>
        <p:nvSpPr>
          <p:cNvPr id="16" name="Text 14"/>
          <p:cNvSpPr/>
          <p:nvPr/>
        </p:nvSpPr>
        <p:spPr>
          <a:xfrm>
            <a:off x="6324448" y="2892439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 藤 さ ん に 話 し て も ら う 三 つ ／ テ ロ ッ プ は 工 程 名 だ け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324448" y="3075319"/>
            <a:ext cx="5455768" cy="465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pPr indent="0" marL="0">
              <a:lnSpc>
                <a:spcPct val="134000"/>
              </a:lnSpc>
              <a:buNone/>
            </a:pPr>
            <a:r>
              <a:rPr lang="en-US" sz="44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小ロットから量産まで、同じ場所でできる</a:t>
            </a:r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②</a:t>
            </a:r>
            <a:pPr indent="0" marL="0">
              <a:lnSpc>
                <a:spcPct val="134000"/>
              </a:lnSpc>
              <a:buNone/>
            </a:pPr>
            <a:r>
              <a:rPr lang="en-US" sz="44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裁断・縫製・仕上げ・検品・梱包まで自社で完結する</a:t>
            </a:r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③</a:t>
            </a:r>
            <a:pPr indent="0" marL="0">
              <a:lnSpc>
                <a:spcPct val="134000"/>
              </a:lnSpc>
              <a:buNone/>
            </a:pPr>
            <a:r>
              <a:rPr lang="en-US" sz="44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誰が作っているか、顔が見える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台本は作らない。工房を歩きながら話してもらい、後から画に合う順に並べ替える。この三つが言えていれば、順番はどうでもよい。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テロップは工程名だけ：</a:t>
            </a:r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金型裁断 Die Cutting／手裁断 Hand Cutting／折り目つけ Creasing／貼り合わせ Bonding／コバ塗り Edge Painting／機械縫製 Machine Stitching／検品 Inspection／梱包 Packing</a:t>
            </a:r>
            <a:endParaRPr lang="en-US" sz="442" dirty="0"/>
          </a:p>
        </p:txBody>
      </p:sp>
      <p:sp>
        <p:nvSpPr>
          <p:cNvPr id="18" name="Text 16"/>
          <p:cNvSpPr/>
          <p:nvPr/>
        </p:nvSpPr>
        <p:spPr>
          <a:xfrm>
            <a:off x="3257978" y="3852113"/>
            <a:ext cx="26321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S1 空から入る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0-10秒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57978" y="4108145"/>
            <a:ext cx="816416" cy="1451407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0" descr="/home/user/dougaseisaku/assets/ref4/5_S1_01_空撮_街と工房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7978" y="4611410"/>
            <a:ext cx="816416" cy="44487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257978" y="4108145"/>
            <a:ext cx="816416" cy="1451407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57978" y="5596128"/>
            <a:ext cx="8164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バードアイショット。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上から降りて、向島の工房を見つける。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4165835" y="4108145"/>
            <a:ext cx="816416" cy="1451407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1" descr="/home/user/dougaseisaku/assets/ref4/6_S1_02_空撮_建物の全景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835" y="4611410"/>
            <a:ext cx="816416" cy="444878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165835" y="4108145"/>
            <a:ext cx="816416" cy="1451407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165835" y="5596128"/>
            <a:ext cx="8164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高度を下げ、建物の全景へ。街の音。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5073691" y="4108145"/>
            <a:ext cx="816416" cy="1451407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8" name="Image 2" descr="/home/user/dougaseisaku/assets/ref4/5_S3_02_引き_ロゴの壁を背に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691" y="4660187"/>
            <a:ext cx="816416" cy="347323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5073691" y="4108145"/>
            <a:ext cx="816416" cy="1451407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073691" y="5596128"/>
            <a:ext cx="8164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6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佐藤さん。工房案内のはじまり。</a:t>
            </a:r>
            <a:pPr indent="0" marL="0">
              <a:lnSpc>
                <a:spcPct val="124000"/>
              </a:lnSpc>
              <a:buNone/>
            </a:pPr>
            <a:r>
              <a:rPr lang="en-US" sz="6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引き、背景に工房。</a:t>
            </a:r>
            <a:pPr indent="0" marL="0">
              <a:lnSpc>
                <a:spcPct val="124000"/>
              </a:lnSpc>
              <a:buNone/>
            </a:pPr>
            <a:r>
              <a:rPr lang="en-US" sz="6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ここから最後まで、佐藤さんの声が画の上に流れ続ける。</a:t>
            </a:r>
            <a:pPr indent="0" marL="0">
              <a:lnSpc>
                <a:spcPct val="124000"/>
              </a:lnSpc>
              <a:buNone/>
            </a:pPr>
            <a:r>
              <a:rPr lang="en-US" sz="6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各シーンで絵に合った強みを語る。</a:t>
            </a:r>
            <a:endParaRPr lang="en-US" sz="620" dirty="0"/>
          </a:p>
        </p:txBody>
      </p:sp>
      <p:sp>
        <p:nvSpPr>
          <p:cNvPr id="31" name="Text 26"/>
          <p:cNvSpPr/>
          <p:nvPr/>
        </p:nvSpPr>
        <p:spPr>
          <a:xfrm>
            <a:off x="6301588" y="3852113"/>
            <a:ext cx="26321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S2 工房の全体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10-25秒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6301588" y="4108145"/>
            <a:ext cx="816416" cy="1451407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3" name="Image 3" descr="/home/user/dougaseisaku/assets/ref4/6_S2_01_工房の全景_引き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588" y="4611410"/>
            <a:ext cx="816416" cy="444878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301588" y="4108145"/>
            <a:ext cx="816416" cy="1451407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301588" y="5596128"/>
            <a:ext cx="8164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入口を抜けて中へ。工房の全景（引き）。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規模が分かる画角。</a:t>
            </a:r>
            <a:endParaRPr lang="en-US" sz="720" dirty="0"/>
          </a:p>
        </p:txBody>
      </p:sp>
      <p:sp>
        <p:nvSpPr>
          <p:cNvPr id="36" name="Shape 30"/>
          <p:cNvSpPr/>
          <p:nvPr/>
        </p:nvSpPr>
        <p:spPr>
          <a:xfrm>
            <a:off x="7209444" y="4108145"/>
            <a:ext cx="816416" cy="1451407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7" name="Image 4" descr="/home/user/dougaseisaku/assets/ref4/6_S2_02_機械と人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9444" y="4596880"/>
            <a:ext cx="816416" cy="473937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7209444" y="4108145"/>
            <a:ext cx="816416" cy="1451407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7209444" y="5596128"/>
            <a:ext cx="8164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機械と人が同じ画面に入る。台数と人数が分かる。</a:t>
            </a:r>
            <a:endParaRPr lang="en-US" sz="720" dirty="0"/>
          </a:p>
        </p:txBody>
      </p:sp>
      <p:sp>
        <p:nvSpPr>
          <p:cNvPr id="40" name="Shape 33"/>
          <p:cNvSpPr/>
          <p:nvPr/>
        </p:nvSpPr>
        <p:spPr>
          <a:xfrm>
            <a:off x="8117300" y="4108145"/>
            <a:ext cx="816416" cy="1451407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1" name="Image 5" descr="/home/user/dougaseisaku/assets/ref4/6_S2_03_職人の顔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7300" y="4611410"/>
            <a:ext cx="816416" cy="444878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8117300" y="4108145"/>
            <a:ext cx="816416" cy="1451407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8117300" y="5596128"/>
            <a:ext cx="8164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Bロール：職人の顔。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手を止めずに作業している横顔（寄り）</a:t>
            </a:r>
            <a:endParaRPr lang="en-US" sz="720" dirty="0"/>
          </a:p>
        </p:txBody>
      </p:sp>
      <p:sp>
        <p:nvSpPr>
          <p:cNvPr id="44" name="Text 36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45" name="Text 37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 / 31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/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選ばれる理由。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Why Brands Choose 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2分20秒 ／ 28ショット（展示会用の無音版 ×1）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対象＝OEMの調達・生産担当　／　商談・展示会・提案資料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参考動画＝⑤と同様。</a:t>
            </a:r>
            <a:pPr algn="r" indent="0" marL="0">
              <a:lnSpc>
                <a:spcPct val="132000"/>
              </a:lnSpc>
              <a:buNone/>
            </a:pPr>
            <a:r>
              <a:rPr lang="en-US" sz="750" b="1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空撮から入る工場見学ワンテイク型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を推奨（上から降りて入口へ、工程順に歩き、梱包場で終わる）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1260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OEMの粗利は36%。自社ブランドの財布・小物は76〜93%ある。訪問前に体制を伝えて、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価格ではなく品質で選ばれる状態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を作る。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語り手は佐藤さん。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冒頭で工房案内のはじまりとして画に映り、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そのあとは声だけが全編に流れ続ける。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最後にもう一度だけ画に戻り、話し終わる瞬間で締める。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当社の強みを本人の言葉で言ってもらう。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順番は工程どおり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：バードアイ → 工房の全体 → 革を選ぶ・金型 → 裁断 → 下仕事 → 縫製 → 検品 → 梱包。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Bロールとして職人の顔を各所に差し込む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（手元だけで終わらせず、誰が作っているかを見せる）。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3本目との違い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：3本目は黒背景・一灯・手だけ・固定・BGM・ロゴで終わる。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この6本目は工房の実景・自然光・人と機械・歩くカメラ・作業音・梱包と問い合わせ先で終わる。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同じ工程を撮っても別物になる。撮影日も分ける。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同じ素材から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展示会用の60秒無音版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を作る。</a:t>
            </a:r>
            <a:endParaRPr lang="en-US" sz="494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22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量産も少量生産もできる。検品まで自社で完結し、この形で届く。誰が作っているかまで見せる。</a:t>
            </a:r>
            <a:endParaRPr lang="en-US" sz="494" dirty="0"/>
          </a:p>
        </p:txBody>
      </p:sp>
      <p:sp>
        <p:nvSpPr>
          <p:cNvPr id="12" name="Shape 10"/>
          <p:cNvSpPr/>
          <p:nvPr/>
        </p:nvSpPr>
        <p:spPr>
          <a:xfrm>
            <a:off x="6324448" y="1923208"/>
            <a:ext cx="5455768" cy="8595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89040" y="2014648"/>
            <a:ext cx="5126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 ロ ッ プ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89040" y="2215816"/>
            <a:ext cx="5126584" cy="21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28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つくる、確かめる、包む。</a:t>
            </a:r>
            <a:endParaRPr lang="en-US" sz="728" dirty="0"/>
          </a:p>
        </p:txBody>
      </p:sp>
      <p:sp>
        <p:nvSpPr>
          <p:cNvPr id="15" name="Text 13"/>
          <p:cNvSpPr/>
          <p:nvPr/>
        </p:nvSpPr>
        <p:spPr>
          <a:xfrm>
            <a:off x="6489040" y="2473816"/>
            <a:ext cx="5126584" cy="162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8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Make. Check. Pack.</a:t>
            </a:r>
            <a:endParaRPr lang="en-US" sz="468" dirty="0"/>
          </a:p>
        </p:txBody>
      </p:sp>
      <p:sp>
        <p:nvSpPr>
          <p:cNvPr id="16" name="Text 14"/>
          <p:cNvSpPr/>
          <p:nvPr/>
        </p:nvSpPr>
        <p:spPr>
          <a:xfrm>
            <a:off x="6324448" y="2892439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 藤 さ ん に 話 し て も ら う 三 つ ／ テ ロ ッ プ は 工 程 名 だ け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324448" y="3075319"/>
            <a:ext cx="5455768" cy="465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pPr indent="0" marL="0">
              <a:lnSpc>
                <a:spcPct val="134000"/>
              </a:lnSpc>
              <a:buNone/>
            </a:pPr>
            <a:r>
              <a:rPr lang="en-US" sz="44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小ロットから量産まで、同じ場所でできる</a:t>
            </a:r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②</a:t>
            </a:r>
            <a:pPr indent="0" marL="0">
              <a:lnSpc>
                <a:spcPct val="134000"/>
              </a:lnSpc>
              <a:buNone/>
            </a:pPr>
            <a:r>
              <a:rPr lang="en-US" sz="44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裁断・縫製・仕上げ・検品・梱包まで自社で完結する</a:t>
            </a:r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③</a:t>
            </a:r>
            <a:pPr indent="0" marL="0">
              <a:lnSpc>
                <a:spcPct val="134000"/>
              </a:lnSpc>
              <a:buNone/>
            </a:pPr>
            <a:r>
              <a:rPr lang="en-US" sz="44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誰が作っているか、顔が見える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台本は作らない。工房を歩きながら話してもらい、後から画に合う順に並べ替える。この三つが言えていれば、順番はどうでもよい。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テロップは工程名だけ：</a:t>
            </a:r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金型裁断 Die Cutting／手裁断 Hand Cutting／折り目つけ Creasing／貼り合わせ Bonding／コバ塗り Edge Painting／機械縫製 Machine Stitching／検品 Inspection／梱包 Packing</a:t>
            </a:r>
            <a:endParaRPr lang="en-US" sz="442" dirty="0"/>
          </a:p>
        </p:txBody>
      </p:sp>
      <p:sp>
        <p:nvSpPr>
          <p:cNvPr id="18" name="Text 16"/>
          <p:cNvSpPr/>
          <p:nvPr/>
        </p:nvSpPr>
        <p:spPr>
          <a:xfrm>
            <a:off x="2834318" y="3852113"/>
            <a:ext cx="30557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 革を選ぶ・金型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25-42秒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834318" y="4108145"/>
            <a:ext cx="957636" cy="170246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0" descr="/home/user/dougaseisaku/assets/ref4/6_S3_01_棚に並ぶ革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318" y="4681419"/>
            <a:ext cx="957636" cy="555916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834318" y="4108145"/>
            <a:ext cx="957636" cy="170246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834318" y="5847186"/>
            <a:ext cx="957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66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棚に革が並ぶシーン。奥行きがあるように撮影。</a:t>
            </a:r>
            <a:pPr indent="0" marL="0">
              <a:lnSpc>
                <a:spcPct val="124000"/>
              </a:lnSpc>
              <a:buNone/>
            </a:pPr>
            <a:r>
              <a:rPr lang="en-US" sz="66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扱える革の種類の多さと量がそのまま伝わる。</a:t>
            </a:r>
            <a:endParaRPr lang="en-US" sz="660" dirty="0"/>
          </a:p>
        </p:txBody>
      </p:sp>
      <p:sp>
        <p:nvSpPr>
          <p:cNvPr id="23" name="Shape 20"/>
          <p:cNvSpPr/>
          <p:nvPr/>
        </p:nvSpPr>
        <p:spPr>
          <a:xfrm>
            <a:off x="3883395" y="4108145"/>
            <a:ext cx="957636" cy="170246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1" descr="/home/user/dougaseisaku/assets/ref4/6_S3_02_金型が並ぶ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395" y="4698462"/>
            <a:ext cx="957636" cy="521831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3883395" y="4108145"/>
            <a:ext cx="957636" cy="170246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883395" y="5847186"/>
            <a:ext cx="957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金型・型紙が品番ごとに並ぶ。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手が一つを抜き出す。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4932471" y="4108145"/>
            <a:ext cx="957636" cy="170246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8" name="Image 2" descr="/home/user/dougaseisaku/assets/ref4/6_S3_03_取り都合を決める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471" y="4681419"/>
            <a:ext cx="957636" cy="555916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932471" y="4108145"/>
            <a:ext cx="957636" cy="170246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932471" y="5847186"/>
            <a:ext cx="957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革の上に型紙を置き、取り都合を決める（寄り）</a:t>
            </a:r>
            <a:endParaRPr lang="en-US" sz="720" dirty="0"/>
          </a:p>
        </p:txBody>
      </p:sp>
      <p:sp>
        <p:nvSpPr>
          <p:cNvPr id="31" name="Text 26"/>
          <p:cNvSpPr/>
          <p:nvPr/>
        </p:nvSpPr>
        <p:spPr>
          <a:xfrm>
            <a:off x="6301588" y="3852113"/>
            <a:ext cx="30557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S4 裁断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42-62秒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6301588" y="4108145"/>
            <a:ext cx="957636" cy="170246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3" name="Image 3" descr="/home/user/dougaseisaku/assets/ref4/6_S4_01_機械が下りる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588" y="4769067"/>
            <a:ext cx="957636" cy="38062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301588" y="4108145"/>
            <a:ext cx="957636" cy="170246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301588" y="5847186"/>
            <a:ext cx="957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金型が置かれ、裁断機が下りる。テロップ「金型裁断 Die Cutting」</a:t>
            </a:r>
            <a:endParaRPr lang="en-US" sz="720" dirty="0"/>
          </a:p>
        </p:txBody>
      </p:sp>
      <p:sp>
        <p:nvSpPr>
          <p:cNvPr id="36" name="Shape 30"/>
          <p:cNvSpPr/>
          <p:nvPr/>
        </p:nvSpPr>
        <p:spPr>
          <a:xfrm>
            <a:off x="7350664" y="4108145"/>
            <a:ext cx="957636" cy="170246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7" name="Image 4" descr="/home/user/dougaseisaku/assets/ref4/6_S4_02_手で切る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0664" y="4681419"/>
            <a:ext cx="957636" cy="555916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7350664" y="4108145"/>
            <a:ext cx="957636" cy="170246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7350664" y="5847186"/>
            <a:ext cx="957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革包丁で細部を切る。テロップ「手裁断 Hand Cutting」</a:t>
            </a:r>
            <a:endParaRPr lang="en-US" sz="720" dirty="0"/>
          </a:p>
        </p:txBody>
      </p:sp>
      <p:sp>
        <p:nvSpPr>
          <p:cNvPr id="40" name="Shape 33"/>
          <p:cNvSpPr/>
          <p:nvPr/>
        </p:nvSpPr>
        <p:spPr>
          <a:xfrm>
            <a:off x="8399740" y="4108145"/>
            <a:ext cx="957636" cy="170246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1" name="Image 5" descr="/home/user/dougaseisaku/assets/ref4/6_S4_03_パーツが並ぶ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9740" y="4698462"/>
            <a:ext cx="957636" cy="521831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8399740" y="4108145"/>
            <a:ext cx="957636" cy="170246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8399740" y="5847186"/>
            <a:ext cx="957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裁ち上がったパーツが並ぶ。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量産も少量も同じ場所でできる。</a:t>
            </a:r>
            <a:endParaRPr lang="en-US" sz="720" dirty="0"/>
          </a:p>
        </p:txBody>
      </p:sp>
      <p:sp>
        <p:nvSpPr>
          <p:cNvPr id="44" name="Text 36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45" name="Text 37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 / 31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/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選ばれる理由。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Why Brands Choose 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2分20秒 ／ 28ショット（展示会用の無音版 ×1）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対象＝OEMの調達・生産担当　／　商談・展示会・提案資料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参考動画＝⑤と同様。</a:t>
            </a:r>
            <a:pPr algn="r" indent="0" marL="0">
              <a:lnSpc>
                <a:spcPct val="132000"/>
              </a:lnSpc>
              <a:buNone/>
            </a:pPr>
            <a:r>
              <a:rPr lang="en-US" sz="750" b="1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空撮から入る工場見学ワンテイク型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を推奨（上から降りて入口へ、工程順に歩き、梱包場で終わる）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1260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OEMの粗利は36%。自社ブランドの財布・小物は76〜93%ある。訪問前に体制を伝えて、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価格ではなく品質で選ばれる状態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を作る。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語り手は佐藤さん。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冒頭で工房案内のはじまりとして画に映り、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そのあとは声だけが全編に流れ続ける。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最後にもう一度だけ画に戻り、話し終わる瞬間で締める。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当社の強みを本人の言葉で言ってもらう。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順番は工程どおり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：バードアイ → 工房の全体 → 革を選ぶ・金型 → 裁断 → 下仕事 → 縫製 → 検品 → 梱包。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Bロールとして職人の顔を各所に差し込む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（手元だけで終わらせず、誰が作っているかを見せる）。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3本目との違い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：3本目は黒背景・一灯・手だけ・固定・BGM・ロゴで終わる。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この6本目は工房の実景・自然光・人と機械・歩くカメラ・作業音・梱包と問い合わせ先で終わる。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同じ工程を撮っても別物になる。撮影日も分ける。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同じ素材から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展示会用の60秒無音版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を作る。</a:t>
            </a:r>
            <a:endParaRPr lang="en-US" sz="494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22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量産も少量生産もできる。検品まで自社で完結し、この形で届く。誰が作っているかまで見せる。</a:t>
            </a:r>
            <a:endParaRPr lang="en-US" sz="494" dirty="0"/>
          </a:p>
        </p:txBody>
      </p:sp>
      <p:sp>
        <p:nvSpPr>
          <p:cNvPr id="12" name="Shape 10"/>
          <p:cNvSpPr/>
          <p:nvPr/>
        </p:nvSpPr>
        <p:spPr>
          <a:xfrm>
            <a:off x="6324448" y="1923208"/>
            <a:ext cx="5455768" cy="8595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89040" y="2014648"/>
            <a:ext cx="5126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 ロ ッ プ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89040" y="2215816"/>
            <a:ext cx="5126584" cy="21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28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つくる、確かめる、包む。</a:t>
            </a:r>
            <a:endParaRPr lang="en-US" sz="728" dirty="0"/>
          </a:p>
        </p:txBody>
      </p:sp>
      <p:sp>
        <p:nvSpPr>
          <p:cNvPr id="15" name="Text 13"/>
          <p:cNvSpPr/>
          <p:nvPr/>
        </p:nvSpPr>
        <p:spPr>
          <a:xfrm>
            <a:off x="6489040" y="2473816"/>
            <a:ext cx="5126584" cy="162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8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Make. Check. Pack.</a:t>
            </a:r>
            <a:endParaRPr lang="en-US" sz="468" dirty="0"/>
          </a:p>
        </p:txBody>
      </p:sp>
      <p:sp>
        <p:nvSpPr>
          <p:cNvPr id="16" name="Text 14"/>
          <p:cNvSpPr/>
          <p:nvPr/>
        </p:nvSpPr>
        <p:spPr>
          <a:xfrm>
            <a:off x="6324448" y="2892439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 藤 さ ん に 話 し て も ら う 三 つ ／ テ ロ ッ プ は 工 程 名 だ け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324448" y="3075319"/>
            <a:ext cx="5455768" cy="465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pPr indent="0" marL="0">
              <a:lnSpc>
                <a:spcPct val="134000"/>
              </a:lnSpc>
              <a:buNone/>
            </a:pPr>
            <a:r>
              <a:rPr lang="en-US" sz="44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小ロットから量産まで、同じ場所でできる</a:t>
            </a:r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②</a:t>
            </a:r>
            <a:pPr indent="0" marL="0">
              <a:lnSpc>
                <a:spcPct val="134000"/>
              </a:lnSpc>
              <a:buNone/>
            </a:pPr>
            <a:r>
              <a:rPr lang="en-US" sz="44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裁断・縫製・仕上げ・検品・梱包まで自社で完結する</a:t>
            </a:r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③</a:t>
            </a:r>
            <a:pPr indent="0" marL="0">
              <a:lnSpc>
                <a:spcPct val="134000"/>
              </a:lnSpc>
              <a:buNone/>
            </a:pPr>
            <a:r>
              <a:rPr lang="en-US" sz="44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誰が作っているか、顔が見える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台本は作らない。工房を歩きながら話してもらい、後から画に合う順に並べ替える。この三つが言えていれば、順番はどうでもよい。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テロップは工程名だけ：</a:t>
            </a:r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金型裁断 Die Cutting／手裁断 Hand Cutting／折り目つけ Creasing／貼り合わせ Bonding／コバ塗り Edge Painting／機械縫製 Machine Stitching／検品 Inspection／梱包 Packing</a:t>
            </a:r>
            <a:endParaRPr lang="en-US" sz="442" dirty="0"/>
          </a:p>
        </p:txBody>
      </p:sp>
      <p:sp>
        <p:nvSpPr>
          <p:cNvPr id="18" name="Text 16"/>
          <p:cNvSpPr/>
          <p:nvPr/>
        </p:nvSpPr>
        <p:spPr>
          <a:xfrm>
            <a:off x="3052444" y="3852113"/>
            <a:ext cx="283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S5 下仕事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62-82秒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052444" y="4108145"/>
            <a:ext cx="640836" cy="1139264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0" descr="/home/user/dougaseisaku/assets/ref4/6_S5_01_折り目をつける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2444" y="4503176"/>
            <a:ext cx="640836" cy="349201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052444" y="4108145"/>
            <a:ext cx="640836" cy="1139264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052444" y="5283985"/>
            <a:ext cx="640836" cy="1098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へらで折り目をつけ、縁を折り返す（寄り）。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テロップ「折り目つけ Creasing」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3784720" y="4108145"/>
            <a:ext cx="640836" cy="1139264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1" descr="/home/user/dougaseisaku/assets/ref4/6_S5_02_スプレーを吹く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720" y="4503176"/>
            <a:ext cx="640836" cy="349201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3784720" y="4108145"/>
            <a:ext cx="640836" cy="1139264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784720" y="5283985"/>
            <a:ext cx="640836" cy="1098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革の裏にスプレーを吹き、貼り合わせる。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テロップ「貼り合わせ Bonding」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4516996" y="4108145"/>
            <a:ext cx="640836" cy="1139264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8" name="Image 2" descr="/home/user/dougaseisaku/assets/ref4/6_S5_03_コバ塗り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996" y="4286867"/>
            <a:ext cx="640836" cy="78182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516996" y="4108145"/>
            <a:ext cx="640836" cy="1139264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516996" y="5283985"/>
            <a:ext cx="640836" cy="1098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0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断面に塗料をのせる（超マクロ）。</a:t>
            </a:r>
            <a:pPr indent="0" marL="0">
              <a:lnSpc>
                <a:spcPct val="124000"/>
              </a:lnSpc>
              <a:buNone/>
            </a:pPr>
            <a:r>
              <a:rPr lang="en-US" sz="70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塗った側と塗っていない側が同じ画面に入る。テロップ「コバ塗り Edge Painting」</a:t>
            </a:r>
            <a:endParaRPr lang="en-US" sz="700" dirty="0"/>
          </a:p>
        </p:txBody>
      </p:sp>
      <p:sp>
        <p:nvSpPr>
          <p:cNvPr id="31" name="Shape 26"/>
          <p:cNvSpPr/>
          <p:nvPr/>
        </p:nvSpPr>
        <p:spPr>
          <a:xfrm>
            <a:off x="5249272" y="4108145"/>
            <a:ext cx="640836" cy="1139264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2" name="Image 3" descr="/home/user/dougaseisaku/assets/ref4/6_S5_04_職人の目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9272" y="4503538"/>
            <a:ext cx="640836" cy="348478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5249272" y="4108145"/>
            <a:ext cx="640836" cy="1139264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249272" y="5283985"/>
            <a:ext cx="640836" cy="1098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Bロール：職人の目だけの超マクロ。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手元を見ている目に寄る。テロップは出さない。</a:t>
            </a:r>
            <a:endParaRPr lang="en-US" sz="720" dirty="0"/>
          </a:p>
        </p:txBody>
      </p:sp>
      <p:sp>
        <p:nvSpPr>
          <p:cNvPr id="35" name="Text 29"/>
          <p:cNvSpPr/>
          <p:nvPr/>
        </p:nvSpPr>
        <p:spPr>
          <a:xfrm>
            <a:off x="6301588" y="3852113"/>
            <a:ext cx="283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S6 縫製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82-102秒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6301588" y="4108145"/>
            <a:ext cx="884928" cy="157320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7" name="Image 4" descr="/home/user/dougaseisaku/assets/ref4/6_S6_01_部品を手に取る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1588" y="4341668"/>
            <a:ext cx="884928" cy="1106160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6301588" y="4108145"/>
            <a:ext cx="884928" cy="157320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6301588" y="5717926"/>
            <a:ext cx="884928" cy="664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縫う部品を手に取り、ミシンへ向かう。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縫い目と糸端が見える（寄り・背景ボケ）</a:t>
            </a:r>
            <a:endParaRPr lang="en-US" sz="720" dirty="0"/>
          </a:p>
        </p:txBody>
      </p:sp>
      <p:sp>
        <p:nvSpPr>
          <p:cNvPr id="40" name="Shape 33"/>
          <p:cNvSpPr/>
          <p:nvPr/>
        </p:nvSpPr>
        <p:spPr>
          <a:xfrm>
            <a:off x="7277955" y="4108145"/>
            <a:ext cx="884928" cy="157320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1" name="Image 5" descr="/home/user/dougaseisaku/assets/ref4/6_S6_02_針が革に落ちる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7955" y="4471799"/>
            <a:ext cx="884928" cy="845898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7277955" y="4108145"/>
            <a:ext cx="884928" cy="157320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7277955" y="5717926"/>
            <a:ext cx="884928" cy="664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68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ミシンの針が革に落ちる（超マクロ）。</a:t>
            </a:r>
            <a:pPr indent="0" marL="0">
              <a:lnSpc>
                <a:spcPct val="124000"/>
              </a:lnSpc>
              <a:buNone/>
            </a:pPr>
            <a:r>
              <a:rPr lang="en-US" sz="68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押さえ金と革だけ。テロップ「機械縫製 Machine Stitching」</a:t>
            </a:r>
            <a:endParaRPr lang="en-US" sz="680" dirty="0"/>
          </a:p>
        </p:txBody>
      </p:sp>
      <p:sp>
        <p:nvSpPr>
          <p:cNvPr id="44" name="Shape 36"/>
          <p:cNvSpPr/>
          <p:nvPr/>
        </p:nvSpPr>
        <p:spPr>
          <a:xfrm>
            <a:off x="8254323" y="4108145"/>
            <a:ext cx="884928" cy="157320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5" name="Image 6" descr="/home/user/dougaseisaku/assets/ref4/6_S6_03_ミシンで縫い進める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4323" y="4348218"/>
            <a:ext cx="884928" cy="1093059"/>
          </a:xfrm>
          <a:prstGeom prst="rect">
            <a:avLst/>
          </a:prstGeom>
        </p:spPr>
      </p:pic>
      <p:sp>
        <p:nvSpPr>
          <p:cNvPr id="46" name="Shape 37"/>
          <p:cNvSpPr/>
          <p:nvPr/>
        </p:nvSpPr>
        <p:spPr>
          <a:xfrm>
            <a:off x="8254323" y="4108145"/>
            <a:ext cx="884928" cy="157320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8254323" y="5717926"/>
            <a:ext cx="884928" cy="664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両手が生地を送り、縫い進める（引き寄り）。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手の動きと機械の音が同時に入る。</a:t>
            </a:r>
            <a:endParaRPr lang="en-US" sz="720" dirty="0"/>
          </a:p>
        </p:txBody>
      </p:sp>
      <p:sp>
        <p:nvSpPr>
          <p:cNvPr id="48" name="Text 39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49" name="Text 40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 / 31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/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選ばれる理由。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Why Brands Choose 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2分20秒 ／ 28ショット（展示会用の無音版 ×1）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対象＝OEMの調達・生産担当　／　商談・展示会・提案資料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参考動画＝⑤と同様。</a:t>
            </a:r>
            <a:pPr algn="r" indent="0" marL="0">
              <a:lnSpc>
                <a:spcPct val="132000"/>
              </a:lnSpc>
              <a:buNone/>
            </a:pPr>
            <a:r>
              <a:rPr lang="en-US" sz="750" b="1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空撮から入る工場見学ワンテイク型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を推奨（上から降りて入口へ、工程順に歩き、梱包場で終わる）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1260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OEMの粗利は36%。自社ブランドの財布・小物は76〜93%ある。訪問前に体制を伝えて、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価格ではなく品質で選ばれる状態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を作る。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語り手は佐藤さん。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冒頭で工房案内のはじまりとして画に映り、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そのあとは声だけが全編に流れ続ける。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最後にもう一度だけ画に戻り、話し終わる瞬間で締める。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当社の強みを本人の言葉で言ってもらう。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順番は工程どおり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：バードアイ → 工房の全体 → 革を選ぶ・金型 → 裁断 → 下仕事 → 縫製 → 検品 → 梱包。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Bロールとして職人の顔を各所に差し込む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（手元だけで終わらせず、誰が作っているかを見せる）。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3本目との違い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：3本目は黒背景・一灯・手だけ・固定・BGM・ロゴで終わる。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この6本目は工房の実景・自然光・人と機械・歩くカメラ・作業音・梱包と問い合わせ先で終わる。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同じ工程を撮っても別物になる。撮影日も分ける。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同じ素材から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展示会用の60秒無音版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を作る。</a:t>
            </a:r>
            <a:endParaRPr lang="en-US" sz="494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22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量産も少量生産もできる。検品まで自社で完結し、この形で届く。誰が作っているかまで見せる。</a:t>
            </a:r>
            <a:endParaRPr lang="en-US" sz="494" dirty="0"/>
          </a:p>
        </p:txBody>
      </p:sp>
      <p:sp>
        <p:nvSpPr>
          <p:cNvPr id="12" name="Shape 10"/>
          <p:cNvSpPr/>
          <p:nvPr/>
        </p:nvSpPr>
        <p:spPr>
          <a:xfrm>
            <a:off x="6324448" y="1923208"/>
            <a:ext cx="5455768" cy="8595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89040" y="2014648"/>
            <a:ext cx="5126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 ロ ッ プ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89040" y="2215816"/>
            <a:ext cx="5126584" cy="21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28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つくる、確かめる、包む。</a:t>
            </a:r>
            <a:endParaRPr lang="en-US" sz="728" dirty="0"/>
          </a:p>
        </p:txBody>
      </p:sp>
      <p:sp>
        <p:nvSpPr>
          <p:cNvPr id="15" name="Text 13"/>
          <p:cNvSpPr/>
          <p:nvPr/>
        </p:nvSpPr>
        <p:spPr>
          <a:xfrm>
            <a:off x="6489040" y="2473816"/>
            <a:ext cx="5126584" cy="162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8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Make. Check. Pack.</a:t>
            </a:r>
            <a:endParaRPr lang="en-US" sz="468" dirty="0"/>
          </a:p>
        </p:txBody>
      </p:sp>
      <p:sp>
        <p:nvSpPr>
          <p:cNvPr id="16" name="Text 14"/>
          <p:cNvSpPr/>
          <p:nvPr/>
        </p:nvSpPr>
        <p:spPr>
          <a:xfrm>
            <a:off x="6324448" y="2892439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 藤 さ ん に 話 し て も ら う 三 つ ／ テ ロ ッ プ は 工 程 名 だ け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324448" y="3075319"/>
            <a:ext cx="5455768" cy="465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pPr indent="0" marL="0">
              <a:lnSpc>
                <a:spcPct val="134000"/>
              </a:lnSpc>
              <a:buNone/>
            </a:pPr>
            <a:r>
              <a:rPr lang="en-US" sz="44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小ロットから量産まで、同じ場所でできる</a:t>
            </a:r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②</a:t>
            </a:r>
            <a:pPr indent="0" marL="0">
              <a:lnSpc>
                <a:spcPct val="134000"/>
              </a:lnSpc>
              <a:buNone/>
            </a:pPr>
            <a:r>
              <a:rPr lang="en-US" sz="44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裁断・縫製・仕上げ・検品・梱包まで自社で完結する</a:t>
            </a:r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③</a:t>
            </a:r>
            <a:pPr indent="0" marL="0">
              <a:lnSpc>
                <a:spcPct val="134000"/>
              </a:lnSpc>
              <a:buNone/>
            </a:pPr>
            <a:r>
              <a:rPr lang="en-US" sz="44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誰が作っているか、顔が見える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台本は作らない。工房を歩きながら話してもらい、後から画に合う順に並べ替える。この三つが言えていれば、順番はどうでもよい。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テロップは工程名だけ：</a:t>
            </a:r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金型裁断 Die Cutting／手裁断 Hand Cutting／折り目つけ Creasing／貼り合わせ Bonding／コバ塗り Edge Painting／機械縫製 Machine Stitching／検品 Inspection／梱包 Packing</a:t>
            </a:r>
            <a:endParaRPr lang="en-US" sz="442" dirty="0"/>
          </a:p>
        </p:txBody>
      </p:sp>
      <p:sp>
        <p:nvSpPr>
          <p:cNvPr id="18" name="Text 16"/>
          <p:cNvSpPr/>
          <p:nvPr/>
        </p:nvSpPr>
        <p:spPr>
          <a:xfrm>
            <a:off x="2834318" y="3852113"/>
            <a:ext cx="30557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S7 検品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102-122秒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834318" y="4108145"/>
            <a:ext cx="957636" cy="170246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0" descr="/home/user/dougaseisaku/assets/ref4/6_S7_01_光にかざす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318" y="4698462"/>
            <a:ext cx="957636" cy="521831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834318" y="4108145"/>
            <a:ext cx="957636" cy="170246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834318" y="5847186"/>
            <a:ext cx="957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一点を手に取り、光にかざす。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作業音が消える。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3883395" y="4108145"/>
            <a:ext cx="957636" cy="170246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1" descr="/home/user/dougaseisaku/assets/ref4/6_S7_02_開いて内側を確かめる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395" y="4640310"/>
            <a:ext cx="957636" cy="638134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3883395" y="4108145"/>
            <a:ext cx="957636" cy="170246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883395" y="5847186"/>
            <a:ext cx="957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66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手に取って開き、内側と縫い目まで確かめる（寄り）。</a:t>
            </a:r>
            <a:pPr indent="0" marL="0">
              <a:lnSpc>
                <a:spcPct val="124000"/>
              </a:lnSpc>
              <a:buNone/>
            </a:pPr>
            <a:r>
              <a:rPr lang="en-US" sz="66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片方の手で押さえ、もう片方でめくる。</a:t>
            </a:r>
            <a:endParaRPr lang="en-US" sz="660" dirty="0"/>
          </a:p>
        </p:txBody>
      </p:sp>
      <p:sp>
        <p:nvSpPr>
          <p:cNvPr id="27" name="Shape 23"/>
          <p:cNvSpPr/>
          <p:nvPr/>
        </p:nvSpPr>
        <p:spPr>
          <a:xfrm>
            <a:off x="4932471" y="4108145"/>
            <a:ext cx="957636" cy="170246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8" name="Image 2" descr="/home/user/dougaseisaku/assets/ref4/6_S2_03_職人の顔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471" y="4698462"/>
            <a:ext cx="957636" cy="521831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932471" y="4108145"/>
            <a:ext cx="957636" cy="170246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932471" y="5847186"/>
            <a:ext cx="957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Bロール：職人の作業シーン。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テロップ「検品 Inspection」</a:t>
            </a:r>
            <a:endParaRPr lang="en-US" sz="720" dirty="0"/>
          </a:p>
        </p:txBody>
      </p:sp>
      <p:sp>
        <p:nvSpPr>
          <p:cNvPr id="31" name="Text 26"/>
          <p:cNvSpPr/>
          <p:nvPr/>
        </p:nvSpPr>
        <p:spPr>
          <a:xfrm>
            <a:off x="6301588" y="3852113"/>
            <a:ext cx="30557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S8 梱包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122-133秒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6301588" y="4108145"/>
            <a:ext cx="957636" cy="170246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3" name="Image 3" descr="/home/user/dougaseisaku/assets/ref4/6_S8_01_白手袋で包む_手元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588" y="4640790"/>
            <a:ext cx="957636" cy="637175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301588" y="4108145"/>
            <a:ext cx="957636" cy="170246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301588" y="5847186"/>
            <a:ext cx="957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梱包シーン。包む。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手元の寄り。不織布の角を折る。紙の音。</a:t>
            </a:r>
            <a:endParaRPr lang="en-US" sz="720" dirty="0"/>
          </a:p>
        </p:txBody>
      </p:sp>
      <p:sp>
        <p:nvSpPr>
          <p:cNvPr id="36" name="Shape 30"/>
          <p:cNvSpPr/>
          <p:nvPr/>
        </p:nvSpPr>
        <p:spPr>
          <a:xfrm>
            <a:off x="7350664" y="4108145"/>
            <a:ext cx="957636" cy="170246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7" name="Image 4" descr="/home/user/dougaseisaku/assets/ref4/6_S8_02_箱に納める_梱包場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0664" y="4666986"/>
            <a:ext cx="957636" cy="584783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7350664" y="4108145"/>
            <a:ext cx="957636" cy="170246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7350664" y="5847186"/>
            <a:ext cx="957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0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箱に納め、テープで閉じる。</a:t>
            </a:r>
            <a:pPr indent="0" marL="0">
              <a:lnSpc>
                <a:spcPct val="124000"/>
              </a:lnSpc>
              <a:buNone/>
            </a:pPr>
            <a:r>
              <a:rPr lang="en-US" sz="70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梱包場の引き。奥にも人が写る。テロップ「梱包 Packing」</a:t>
            </a:r>
            <a:endParaRPr lang="en-US" sz="700" dirty="0"/>
          </a:p>
        </p:txBody>
      </p:sp>
      <p:sp>
        <p:nvSpPr>
          <p:cNvPr id="40" name="Shape 33"/>
          <p:cNvSpPr/>
          <p:nvPr/>
        </p:nvSpPr>
        <p:spPr>
          <a:xfrm>
            <a:off x="8399740" y="4108145"/>
            <a:ext cx="957636" cy="170246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1" name="Image 5" descr="/home/user/dougaseisaku/assets/ref4/5_S3_01_バストショット_役職テロップ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9740" y="4755677"/>
            <a:ext cx="957636" cy="407401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8399740" y="4108145"/>
            <a:ext cx="957636" cy="170246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8399740" y="5847186"/>
            <a:ext cx="957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66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佐藤さん。話し終わる瞬間。</a:t>
            </a:r>
            <a:pPr indent="0" marL="0">
              <a:lnSpc>
                <a:spcPct val="124000"/>
              </a:lnSpc>
              <a:buNone/>
            </a:pPr>
            <a:r>
              <a:rPr lang="en-US" sz="66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バストショットに寄る。言い終えて口を閉じるところまで残す。</a:t>
            </a:r>
            <a:endParaRPr lang="en-US" sz="660" dirty="0"/>
          </a:p>
        </p:txBody>
      </p:sp>
      <p:sp>
        <p:nvSpPr>
          <p:cNvPr id="44" name="Text 36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45" name="Text 37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 / 31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 /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選ばれる理由。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Why Brands Choose 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2分20秒 ／ 28ショット（展示会用の無音版 ×1）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対象＝OEMの調達・生産担当　／　商談・展示会・提案資料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参考動画＝⑤と同様。</a:t>
            </a:r>
            <a:pPr algn="r" indent="0" marL="0">
              <a:lnSpc>
                <a:spcPct val="132000"/>
              </a:lnSpc>
              <a:buNone/>
            </a:pPr>
            <a:r>
              <a:rPr lang="en-US" sz="750" b="1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空撮から入る工場見学ワンテイク型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を推奨（上から降りて入口へ、工程順に歩き、梱包場で終わる）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1260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OEMの粗利は36%。自社ブランドの財布・小物は76〜93%ある。訪問前に体制を伝えて、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価格ではなく品質で選ばれる状態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を作る。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語り手は佐藤さん。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冒頭で工房案内のはじまりとして画に映り、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そのあとは声だけが全編に流れ続ける。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最後にもう一度だけ画に戻り、話し終わる瞬間で締める。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当社の強みを本人の言葉で言ってもらう。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順番は工程どおり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：バードアイ → 工房の全体 → 革を選ぶ・金型 → 裁断 → 下仕事 → 縫製 → 検品 → 梱包。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Bロールとして職人の顔を各所に差し込む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（手元だけで終わらせず、誰が作っているかを見せる）。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3本目との違い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：3本目は黒背景・一灯・手だけ・固定・BGM・ロゴで終わる。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この6本目は工房の実景・自然光・人と機械・歩くカメラ・作業音・梱包と問い合わせ先で終わる。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同じ工程を撮っても別物になる。撮影日も分ける。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同じ素材から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展示会用の60秒無音版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を作る。</a:t>
            </a:r>
            <a:endParaRPr lang="en-US" sz="494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22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量産も少量生産もできる。検品まで自社で完結し、この形で届く。誰が作っているかまで見せる。</a:t>
            </a:r>
            <a:endParaRPr lang="en-US" sz="494" dirty="0"/>
          </a:p>
        </p:txBody>
      </p:sp>
      <p:sp>
        <p:nvSpPr>
          <p:cNvPr id="12" name="Shape 10"/>
          <p:cNvSpPr/>
          <p:nvPr/>
        </p:nvSpPr>
        <p:spPr>
          <a:xfrm>
            <a:off x="6324448" y="1923208"/>
            <a:ext cx="5455768" cy="8595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89040" y="2014648"/>
            <a:ext cx="5126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 ロ ッ プ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89040" y="2215816"/>
            <a:ext cx="5126584" cy="21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28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つくる、確かめる、包む。</a:t>
            </a:r>
            <a:endParaRPr lang="en-US" sz="728" dirty="0"/>
          </a:p>
        </p:txBody>
      </p:sp>
      <p:sp>
        <p:nvSpPr>
          <p:cNvPr id="15" name="Text 13"/>
          <p:cNvSpPr/>
          <p:nvPr/>
        </p:nvSpPr>
        <p:spPr>
          <a:xfrm>
            <a:off x="6489040" y="2473816"/>
            <a:ext cx="5126584" cy="162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8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Make. Check. Pack.</a:t>
            </a:r>
            <a:endParaRPr lang="en-US" sz="468" dirty="0"/>
          </a:p>
        </p:txBody>
      </p:sp>
      <p:sp>
        <p:nvSpPr>
          <p:cNvPr id="16" name="Text 14"/>
          <p:cNvSpPr/>
          <p:nvPr/>
        </p:nvSpPr>
        <p:spPr>
          <a:xfrm>
            <a:off x="6324448" y="2892439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 藤 さ ん に 話 し て も ら う 三 つ ／ テ ロ ッ プ は 工 程 名 だ け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324448" y="3075319"/>
            <a:ext cx="5455768" cy="465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pPr indent="0" marL="0">
              <a:lnSpc>
                <a:spcPct val="134000"/>
              </a:lnSpc>
              <a:buNone/>
            </a:pPr>
            <a:r>
              <a:rPr lang="en-US" sz="44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小ロットから量産まで、同じ場所でできる</a:t>
            </a:r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②</a:t>
            </a:r>
            <a:pPr indent="0" marL="0">
              <a:lnSpc>
                <a:spcPct val="134000"/>
              </a:lnSpc>
              <a:buNone/>
            </a:pPr>
            <a:r>
              <a:rPr lang="en-US" sz="44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裁断・縫製・仕上げ・検品・梱包まで自社で完結する</a:t>
            </a:r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③</a:t>
            </a:r>
            <a:pPr indent="0" marL="0">
              <a:lnSpc>
                <a:spcPct val="134000"/>
              </a:lnSpc>
              <a:buNone/>
            </a:pPr>
            <a:r>
              <a:rPr lang="en-US" sz="44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誰が作っているか、顔が見える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台本は作らない。工房を歩きながら話してもらい、後から画に合う順に並べ替える。この三つが言えていれば、順番はどうでもよい。</a:t>
            </a:r>
            <a:pPr indent="0" marL="0">
              <a:lnSpc>
                <a:spcPct val="134000"/>
              </a:lnSpc>
              <a:buNone/>
            </a:pPr>
            <a:endParaRPr lang="en-US" sz="44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テロップは工程名だけ：</a:t>
            </a:r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金型裁断 Die Cutting／手裁断 Hand Cutting／折り目つけ Creasing／貼り合わせ Bonding／コバ塗り Edge Painting／機械縫製 Machine Stitching／検品 Inspection／梱包 Packing</a:t>
            </a:r>
            <a:endParaRPr lang="en-US" sz="442" dirty="0"/>
          </a:p>
        </p:txBody>
      </p:sp>
      <p:sp>
        <p:nvSpPr>
          <p:cNvPr id="18" name="Text 16"/>
          <p:cNvSpPr/>
          <p:nvPr/>
        </p:nvSpPr>
        <p:spPr>
          <a:xfrm>
            <a:off x="2834318" y="3852113"/>
            <a:ext cx="30557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S9 締めカード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133-140秒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834318" y="4108145"/>
            <a:ext cx="957636" cy="170246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0" descr="/home/user/dougaseisaku/assets/ref4/6_S9_01_締めカード_対応技法一覧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318" y="4690042"/>
            <a:ext cx="957636" cy="53867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834318" y="4108145"/>
            <a:ext cx="957636" cy="170246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834318" y="5847186"/>
            <a:ext cx="957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対応技法の一覧（この見本のとおり文字で出す）。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下段に「小ロットから量産まで」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3883395" y="4108145"/>
            <a:ext cx="957636" cy="170246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1" descr="/home/user/dougaseisaku/assets/ref4/6_S9_02_締めカード_問い合わせ先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395" y="4690042"/>
            <a:ext cx="957636" cy="53867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3883395" y="4108145"/>
            <a:ext cx="957636" cy="170246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883395" y="5847186"/>
            <a:ext cx="957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6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問い合わせ先とURL。</a:t>
            </a:r>
            <a:pPr indent="0" marL="0">
              <a:lnSpc>
                <a:spcPct val="124000"/>
              </a:lnSpc>
              <a:buNone/>
            </a:pPr>
            <a:r>
              <a:rPr lang="en-US" sz="6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社名・住所・TEL・メール・WEBを一画面。</a:t>
            </a:r>
            <a:pPr indent="0" marL="0">
              <a:lnSpc>
                <a:spcPct val="124000"/>
              </a:lnSpc>
              <a:buNone/>
            </a:pPr>
            <a:r>
              <a:rPr lang="en-US" sz="62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連絡先は確定したものに差し替え。</a:t>
            </a:r>
            <a:endParaRPr lang="en-US" sz="620" dirty="0"/>
          </a:p>
        </p:txBody>
      </p:sp>
      <p:sp>
        <p:nvSpPr>
          <p:cNvPr id="27" name="Shape 23"/>
          <p:cNvSpPr/>
          <p:nvPr/>
        </p:nvSpPr>
        <p:spPr>
          <a:xfrm>
            <a:off x="4932471" y="4108145"/>
            <a:ext cx="957636" cy="170246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8" name="Image 2" descr="/home/user/dougaseisaku/assets/ref4/6_S9_03_締めカード_ロゴのみ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471" y="4690042"/>
            <a:ext cx="957636" cy="53867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932471" y="4108145"/>
            <a:ext cx="957636" cy="170246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932471" y="5847186"/>
            <a:ext cx="957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白に反転してロゴだけ。ここでBGMも切る。</a:t>
            </a:r>
            <a:endParaRPr lang="en-US" sz="720" dirty="0"/>
          </a:p>
        </p:txBody>
      </p:sp>
      <p:sp>
        <p:nvSpPr>
          <p:cNvPr id="31" name="Text 26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 / 31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/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朝も仕事も、スマートに。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Smart from Morning to Work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25秒 ／ 14ショット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対象＝新規（買う直前の人）　／　EC商品ページ カートボタン直下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参考動画＝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（朝の出発前）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788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写真では入る量が伝わらない。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机の上に置かれた鞄から始める。正面固定、カメラは一度も動かさない。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「実際の収納力・サイズ感」を視覚化し、購入時の不安を解消する。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入る量と、入れ終わってそのまま持って出られることだけを見せる。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終わり方は参考動画と同じ。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人も鞄もフレームから出て、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何も乗っていない机だけが残る。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そこにテロップを重ね、ロゴで終わる。</a:t>
            </a:r>
            <a:endParaRPr lang="en-US" sz="494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22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A4もノートPCも入る。</a:t>
            </a:r>
            <a:endParaRPr lang="en-US" sz="494" dirty="0"/>
          </a:p>
        </p:txBody>
      </p:sp>
      <p:sp>
        <p:nvSpPr>
          <p:cNvPr id="12" name="Shape 10"/>
          <p:cNvSpPr/>
          <p:nvPr/>
        </p:nvSpPr>
        <p:spPr>
          <a:xfrm>
            <a:off x="6324448" y="1923208"/>
            <a:ext cx="5455768" cy="8595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89040" y="2014648"/>
            <a:ext cx="5126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 ロ ッ プ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89040" y="2215816"/>
            <a:ext cx="5126584" cy="21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28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支度も、仕事も、スマートに。</a:t>
            </a:r>
            <a:endParaRPr lang="en-US" sz="728" dirty="0"/>
          </a:p>
        </p:txBody>
      </p:sp>
      <p:sp>
        <p:nvSpPr>
          <p:cNvPr id="15" name="Text 13"/>
          <p:cNvSpPr/>
          <p:nvPr/>
        </p:nvSpPr>
        <p:spPr>
          <a:xfrm>
            <a:off x="6489040" y="2473816"/>
            <a:ext cx="5126584" cy="162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8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SMART FROM MORNING TO WORK.</a:t>
            </a:r>
            <a:endParaRPr lang="en-US" sz="468" dirty="0"/>
          </a:p>
        </p:txBody>
      </p:sp>
      <p:sp>
        <p:nvSpPr>
          <p:cNvPr id="16" name="Text 14"/>
          <p:cNvSpPr/>
          <p:nvPr/>
        </p:nvSpPr>
        <p:spPr>
          <a:xfrm>
            <a:off x="6324448" y="2892439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 さ く 添 え る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324448" y="3075319"/>
            <a:ext cx="5455768" cy="212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A4・13インチPC対応　／　返品送料無料</a:t>
            </a:r>
            <a:endParaRPr lang="en-US" sz="442" dirty="0"/>
          </a:p>
        </p:txBody>
      </p:sp>
      <p:sp>
        <p:nvSpPr>
          <p:cNvPr id="18" name="Text 16"/>
          <p:cNvSpPr/>
          <p:nvPr/>
        </p:nvSpPr>
        <p:spPr>
          <a:xfrm>
            <a:off x="2398293" y="3598702"/>
            <a:ext cx="3491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S1 机の上の鞄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0-4秒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398293" y="3854734"/>
            <a:ext cx="1102978" cy="19608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0" descr="/home/user/dougaseisaku/assets/ref4/7_S1_01_机の上の鞄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293" y="4080433"/>
            <a:ext cx="1102978" cy="1509452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398293" y="3854734"/>
            <a:ext cx="1102978" cy="1960850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398293" y="5852160"/>
            <a:ext cx="11029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机に鞄が一つ置いてある。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正面固定の引き。手前に入れるものが並べてある。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3592711" y="3854734"/>
            <a:ext cx="1102978" cy="19608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1" descr="/home/user/dougaseisaku/assets/ref4/7_S1_02_正面固定_同じ画角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711" y="4080433"/>
            <a:ext cx="1102978" cy="1509452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3592711" y="3854734"/>
            <a:ext cx="1102978" cy="1960850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592711" y="5852160"/>
            <a:ext cx="11029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ここから最後までこの画角のまま。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4787129" y="3854734"/>
            <a:ext cx="1102978" cy="19608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8" name="Image 2" descr="/home/user/dougaseisaku/assets/ref4/7_S1_03_鞄を開ける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129" y="4080433"/>
            <a:ext cx="1102978" cy="1509452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787129" y="3854734"/>
            <a:ext cx="1102978" cy="1960850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787129" y="5852160"/>
            <a:ext cx="11029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人が入ってきて、鞄の口を開ける。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中は空。顔は入れない。</a:t>
            </a:r>
            <a:endParaRPr lang="en-US" sz="720" dirty="0"/>
          </a:p>
        </p:txBody>
      </p:sp>
      <p:sp>
        <p:nvSpPr>
          <p:cNvPr id="31" name="Text 26"/>
          <p:cNvSpPr/>
          <p:nvPr/>
        </p:nvSpPr>
        <p:spPr>
          <a:xfrm>
            <a:off x="6301588" y="3598702"/>
            <a:ext cx="3491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S2 入れる①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4-10秒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6301588" y="3854734"/>
            <a:ext cx="1102978" cy="19608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3" name="Image 3" descr="/home/user/dougaseisaku/assets/ref4/7_S2_01_PCを入れる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1588" y="4080433"/>
            <a:ext cx="1102978" cy="1509452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301588" y="3854734"/>
            <a:ext cx="1102978" cy="1960850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301588" y="5852160"/>
            <a:ext cx="11029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A4書類とノートPCを入れる。</a:t>
            </a:r>
            <a:endParaRPr lang="en-US" sz="720" dirty="0"/>
          </a:p>
        </p:txBody>
      </p:sp>
      <p:sp>
        <p:nvSpPr>
          <p:cNvPr id="36" name="Shape 30"/>
          <p:cNvSpPr/>
          <p:nvPr/>
        </p:nvSpPr>
        <p:spPr>
          <a:xfrm>
            <a:off x="7496006" y="3854734"/>
            <a:ext cx="1102978" cy="19608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7" name="Image 4" descr="/home/user/dougaseisaku/assets/ref4/7_S2_02_底まで収まる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6006" y="4080433"/>
            <a:ext cx="1102978" cy="1509452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7496006" y="3854734"/>
            <a:ext cx="1102978" cy="1960850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7496006" y="5852160"/>
            <a:ext cx="11029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ノートPCが底まで収まる。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入れる音を拾う。</a:t>
            </a:r>
            <a:endParaRPr lang="en-US" sz="720" dirty="0"/>
          </a:p>
        </p:txBody>
      </p:sp>
      <p:sp>
        <p:nvSpPr>
          <p:cNvPr id="40" name="Shape 33"/>
          <p:cNvSpPr/>
          <p:nvPr/>
        </p:nvSpPr>
        <p:spPr>
          <a:xfrm>
            <a:off x="8690424" y="3854734"/>
            <a:ext cx="1102978" cy="19608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1" name="Image 5" descr="/home/user/dougaseisaku/assets/ref4/7_S2_03_手帳と小物を入れる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0424" y="4080433"/>
            <a:ext cx="1102978" cy="1509452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8690424" y="3854734"/>
            <a:ext cx="1102978" cy="1960850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8690424" y="5852160"/>
            <a:ext cx="11029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手帳・鍵・サングラス。</a:t>
            </a:r>
            <a:endParaRPr lang="en-US" sz="720" dirty="0"/>
          </a:p>
        </p:txBody>
      </p:sp>
      <p:sp>
        <p:nvSpPr>
          <p:cNvPr id="44" name="Text 36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45" name="Text 37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 / 31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/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朝も仕事も、スマートに。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Smart from Morning to Work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25秒 ／ 14ショット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対象＝新規（買う直前の人）　／　EC商品ページ カートボタン直下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参考動画＝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（朝の出発前）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788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写真では入る量が伝わらない。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机の上に置かれた鞄から始める。正面固定、カメラは一度も動かさない。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「実際の収納力・サイズ感」を視覚化し、購入時の不安を解消する。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入る量と、入れ終わってそのまま持って出られることだけを見せる。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終わり方は参考動画と同じ。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人も鞄もフレームから出て、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何も乗っていない机だけが残る。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そこにテロップを重ね、ロゴで終わる。</a:t>
            </a:r>
            <a:endParaRPr lang="en-US" sz="494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22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A4もノートPCも入る。</a:t>
            </a:r>
            <a:endParaRPr lang="en-US" sz="494" dirty="0"/>
          </a:p>
        </p:txBody>
      </p:sp>
      <p:sp>
        <p:nvSpPr>
          <p:cNvPr id="12" name="Shape 10"/>
          <p:cNvSpPr/>
          <p:nvPr/>
        </p:nvSpPr>
        <p:spPr>
          <a:xfrm>
            <a:off x="6324448" y="1923208"/>
            <a:ext cx="5455768" cy="8595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89040" y="2014648"/>
            <a:ext cx="5126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 ロ ッ プ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89040" y="2215816"/>
            <a:ext cx="5126584" cy="21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28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支度も、仕事も、スマートに。</a:t>
            </a:r>
            <a:endParaRPr lang="en-US" sz="728" dirty="0"/>
          </a:p>
        </p:txBody>
      </p:sp>
      <p:sp>
        <p:nvSpPr>
          <p:cNvPr id="15" name="Text 13"/>
          <p:cNvSpPr/>
          <p:nvPr/>
        </p:nvSpPr>
        <p:spPr>
          <a:xfrm>
            <a:off x="6489040" y="2473816"/>
            <a:ext cx="5126584" cy="162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8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SMART FROM MORNING TO WORK.</a:t>
            </a:r>
            <a:endParaRPr lang="en-US" sz="468" dirty="0"/>
          </a:p>
        </p:txBody>
      </p:sp>
      <p:sp>
        <p:nvSpPr>
          <p:cNvPr id="16" name="Text 14"/>
          <p:cNvSpPr/>
          <p:nvPr/>
        </p:nvSpPr>
        <p:spPr>
          <a:xfrm>
            <a:off x="6324448" y="2892439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 さ く 添 え る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324448" y="3075319"/>
            <a:ext cx="5455768" cy="212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A4・13インチPC対応　／　返品送料無料</a:t>
            </a:r>
            <a:endParaRPr lang="en-US" sz="442" dirty="0"/>
          </a:p>
        </p:txBody>
      </p:sp>
      <p:sp>
        <p:nvSpPr>
          <p:cNvPr id="18" name="Text 16"/>
          <p:cNvSpPr/>
          <p:nvPr/>
        </p:nvSpPr>
        <p:spPr>
          <a:xfrm>
            <a:off x="2398293" y="3598702"/>
            <a:ext cx="3491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 入れる②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10-15秒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398293" y="3854734"/>
            <a:ext cx="1102978" cy="19608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0" descr="/home/user/dougaseisaku/assets/ref4/7_S3_01_さらに入れる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293" y="4080433"/>
            <a:ext cx="1102978" cy="1509452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398293" y="3854734"/>
            <a:ext cx="1102978" cy="1960850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398293" y="5852160"/>
            <a:ext cx="11029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ペン・小物。入れる音を一つずつ拾う。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3592711" y="3854734"/>
            <a:ext cx="1102978" cy="19608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1" descr="/home/user/dougaseisaku/assets/ref4/7_S3_02_小物を入れる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711" y="4080433"/>
            <a:ext cx="1102978" cy="1509452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3592711" y="3854734"/>
            <a:ext cx="1102978" cy="1960850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592711" y="5852160"/>
            <a:ext cx="11029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傘・水筒まで入れる。それでもまだ閉まる。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4787129" y="3854734"/>
            <a:ext cx="1102978" cy="19608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8" name="Image 2" descr="/home/user/dougaseisaku/assets/ref4/7_S3_03_最後の一つを入れる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129" y="4153210"/>
            <a:ext cx="1102978" cy="1363898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787129" y="3854734"/>
            <a:ext cx="1102978" cy="1960850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787129" y="5852160"/>
            <a:ext cx="11029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最後の一つを入れる。ここで手が止まる。</a:t>
            </a:r>
            <a:endParaRPr lang="en-US" sz="720" dirty="0"/>
          </a:p>
        </p:txBody>
      </p:sp>
      <p:sp>
        <p:nvSpPr>
          <p:cNvPr id="31" name="Text 26"/>
          <p:cNvSpPr/>
          <p:nvPr/>
        </p:nvSpPr>
        <p:spPr>
          <a:xfrm>
            <a:off x="6301588" y="3598702"/>
            <a:ext cx="3491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S4 持って出る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15-20秒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6301588" y="3854734"/>
            <a:ext cx="1102978" cy="19608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3" name="Image 3" descr="/home/user/dougaseisaku/assets/ref4/7_S4_01_持ち上げる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1588" y="4080433"/>
            <a:ext cx="1102978" cy="1509452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301588" y="3854734"/>
            <a:ext cx="1102978" cy="1960850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301588" y="5852160"/>
            <a:ext cx="11029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持ち手をまとめて持ち上げる。</a:t>
            </a:r>
            <a:endParaRPr lang="en-US" sz="720" dirty="0"/>
          </a:p>
        </p:txBody>
      </p:sp>
      <p:sp>
        <p:nvSpPr>
          <p:cNvPr id="36" name="Shape 30"/>
          <p:cNvSpPr/>
          <p:nvPr/>
        </p:nvSpPr>
        <p:spPr>
          <a:xfrm>
            <a:off x="7496006" y="3854734"/>
            <a:ext cx="1102978" cy="19608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7" name="Image 4" descr="/home/user/dougaseisaku/assets/ref4/7_S4_02_肩に掛ける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6006" y="4080433"/>
            <a:ext cx="1102978" cy="1509452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7496006" y="3854734"/>
            <a:ext cx="1102978" cy="1960850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7496006" y="5852160"/>
            <a:ext cx="11029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肩に掛けて、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そのままフレームの外へ出ていく。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台は動かさない。</a:t>
            </a:r>
            <a:endParaRPr lang="en-US" sz="720" dirty="0"/>
          </a:p>
        </p:txBody>
      </p:sp>
      <p:sp>
        <p:nvSpPr>
          <p:cNvPr id="40" name="Text 33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41" name="Text 34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 / 31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/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朝も仕事も、スマートに。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Smart from Morning to Work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25秒 ／ 14ショット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対象＝新規（買う直前の人）　／　EC商品ページ カートボタン直下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参考動画＝</a:t>
            </a:r>
            <a:pPr algn="r" indent="0" marL="0">
              <a:lnSpc>
                <a:spcPct val="132000"/>
              </a:lnSpc>
              <a:buNone/>
            </a:pPr>
            <a:r>
              <a:rPr lang="en-US" sz="750" u="sng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pPr algn="r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（朝の出発前）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788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写真では入る量が伝わらない。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机の上に置かれた鞄から始める。正面固定、カメラは一度も動かさない。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「実際の収納力・サイズ感」を視覚化し、購入時の不安を解消する。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入る量と、入れ終わってそのまま持って出られることだけを見せる。</a:t>
            </a:r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endParaRPr lang="en-US" sz="49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終わり方は参考動画と同じ。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人も鞄もフレームから出て、</a:t>
            </a:r>
            <a:pPr indent="0" marL="0">
              <a:lnSpc>
                <a:spcPct val="134000"/>
              </a:lnSpc>
              <a:buNone/>
            </a:pPr>
            <a:r>
              <a:rPr lang="en-US" sz="49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何も乗っていない机だけが残る。</a:t>
            </a:r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そこにテロップを重ね、ロゴで終わる。</a:t>
            </a:r>
            <a:endParaRPr lang="en-US" sz="494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22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9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A4もノートPCも入る。</a:t>
            </a:r>
            <a:endParaRPr lang="en-US" sz="494" dirty="0"/>
          </a:p>
        </p:txBody>
      </p:sp>
      <p:sp>
        <p:nvSpPr>
          <p:cNvPr id="12" name="Shape 10"/>
          <p:cNvSpPr/>
          <p:nvPr/>
        </p:nvSpPr>
        <p:spPr>
          <a:xfrm>
            <a:off x="6324448" y="1923208"/>
            <a:ext cx="5455768" cy="8595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89040" y="2014648"/>
            <a:ext cx="5126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 ロ ッ プ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89040" y="2215816"/>
            <a:ext cx="5126584" cy="21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28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支度も、仕事も、スマートに。</a:t>
            </a:r>
            <a:endParaRPr lang="en-US" sz="728" dirty="0"/>
          </a:p>
        </p:txBody>
      </p:sp>
      <p:sp>
        <p:nvSpPr>
          <p:cNvPr id="15" name="Text 13"/>
          <p:cNvSpPr/>
          <p:nvPr/>
        </p:nvSpPr>
        <p:spPr>
          <a:xfrm>
            <a:off x="6489040" y="2473816"/>
            <a:ext cx="5126584" cy="162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8" dirty="0">
                <a:solidFill>
                  <a:srgbClr val="C9B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SMART FROM MORNING TO WORK.</a:t>
            </a:r>
            <a:endParaRPr lang="en-US" sz="468" dirty="0"/>
          </a:p>
        </p:txBody>
      </p:sp>
      <p:sp>
        <p:nvSpPr>
          <p:cNvPr id="16" name="Text 14"/>
          <p:cNvSpPr/>
          <p:nvPr/>
        </p:nvSpPr>
        <p:spPr>
          <a:xfrm>
            <a:off x="6324448" y="2892439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 さ く 添 え る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324448" y="3075319"/>
            <a:ext cx="5455768" cy="212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44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A4・13インチPC対応　／　返品送料無料</a:t>
            </a:r>
            <a:endParaRPr lang="en-US" sz="442" dirty="0"/>
          </a:p>
        </p:txBody>
      </p:sp>
      <p:sp>
        <p:nvSpPr>
          <p:cNvPr id="18" name="Text 16"/>
          <p:cNvSpPr/>
          <p:nvPr/>
        </p:nvSpPr>
        <p:spPr>
          <a:xfrm>
            <a:off x="2406687" y="3598702"/>
            <a:ext cx="34834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S5 机だけが残る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20-25秒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406687" y="3854734"/>
            <a:ext cx="1100180" cy="1955876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0" descr="/home/user/dougaseisaku/assets/ref4/7_S5_01_机だけが残る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687" y="4079636"/>
            <a:ext cx="1100180" cy="1506072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406687" y="3854734"/>
            <a:ext cx="1100180" cy="1955876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406687" y="5847186"/>
            <a:ext cx="11001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人も鞄もフレームから出て、何も乗っていない机だけが残る。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参考動画と同じ終わり方。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3598307" y="3854734"/>
            <a:ext cx="1100180" cy="1955876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1" descr="/home/user/dougaseisaku/assets/ref4/7_S5_02_テロップ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8307" y="3854734"/>
            <a:ext cx="1100180" cy="1955876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3598307" y="3854734"/>
            <a:ext cx="1100180" cy="1955876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598307" y="5847186"/>
            <a:ext cx="11001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その画にテロップを重ねる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「支度も、仕事も、スマートに。」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4789927" y="3854734"/>
            <a:ext cx="1100180" cy="1955876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8" name="Image 2" descr="/home/user/dougaseisaku/assets/ref4/共通_ロゴのみ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927" y="3854734"/>
            <a:ext cx="1100180" cy="1955876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789927" y="3854734"/>
            <a:ext cx="1100180" cy="1955876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789927" y="5847186"/>
            <a:ext cx="11001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ロゴ。</a:t>
            </a:r>
            <a:endParaRPr lang="en-US" sz="720" dirty="0"/>
          </a:p>
        </p:txBody>
      </p:sp>
      <p:sp>
        <p:nvSpPr>
          <p:cNvPr id="31" name="Text 26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27 / 31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/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購入者インタビュー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Customer Interview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60秒 ／ 22ショット（仮）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対象＝購入を迷っている新規　／　EC商品ページ・レビュー欄・Instagram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1565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買った人自身の言葉で語ってもらう。</a:t>
            </a:r>
            <a:pPr indent="0" marL="0">
              <a:lnSpc>
                <a:spcPct val="134000"/>
              </a:lnSpc>
              <a:buNone/>
            </a:pPr>
            <a:endParaRPr lang="en-US" sz="684" dirty="0"/>
          </a:p>
          <a:p>
            <a:pPr indent="0" marL="0">
              <a:lnSpc>
                <a:spcPct val="134000"/>
              </a:lnSpc>
              <a:buNone/>
            </a:pPr>
            <a:endParaRPr lang="en-US" sz="68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外観のロー → 外観の全景 → 作っているところ → 商品の寄り → 商品の真俯瞰 → 空間。</a:t>
            </a:r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人はまだ出さず、ロゴを重ねる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②</a:t>
            </a:r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話し手はバストショット。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窓を背にして、手前に植物や花を置いてボカす ③</a:t>
            </a:r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話している内容に合うBロールを、声の上に重ねる。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顔が出るのは各シーンの頭だけでよい ④</a:t>
            </a:r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話した言葉はすべてテロップで出す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（音を出さずに見る人が多いため）⑤</a:t>
            </a:r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締めは見送り。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店の前でスタッフが手を振り、画面の中央にロゴが重なり、映像が白に抜けてロゴだけが残る。</a:t>
            </a:r>
            <a:pPr indent="0" marL="0">
              <a:lnSpc>
                <a:spcPct val="134000"/>
              </a:lnSpc>
              <a:buNone/>
            </a:pPr>
            <a:endParaRPr lang="en-US" sz="684" dirty="0"/>
          </a:p>
          <a:p>
            <a:pPr indent="0" marL="0">
              <a:lnSpc>
                <a:spcPct val="134000"/>
              </a:lnSpc>
              <a:buNone/>
            </a:pPr>
            <a:endParaRPr lang="en-US" sz="68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インタビューの画は各シーンに一枚だけ。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同じ画角を並べても間が持たない。</a:t>
            </a:r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Bロールを多めに撮る。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足りないと声だけが続いて画がもたない。別紙「Bロール参考ショット集」の素材がそのまま使える。</a:t>
            </a:r>
            <a:pPr indent="0" marL="0">
              <a:lnSpc>
                <a:spcPct val="134000"/>
              </a:lnSpc>
              <a:buNone/>
            </a:pPr>
            <a:endParaRPr lang="en-US" sz="684" dirty="0"/>
          </a:p>
          <a:p>
            <a:pPr indent="0" marL="0">
              <a:lnSpc>
                <a:spcPct val="134000"/>
              </a:lnSpc>
              <a:buNone/>
            </a:pPr>
            <a:endParaRPr lang="en-US" sz="68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決めること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：誰に聞くか（既存の購入者か、社内の方に使用者として話してもらうか）、顔出しの範囲、質問内容、撮影場所。</a:t>
            </a:r>
            <a:endParaRPr lang="en-US" sz="684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258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他の七本が「見せる」動画なのに対し、これだけが「聞く」動画。買った人自身の言葉で語ってもらう。</a:t>
            </a:r>
            <a:endParaRPr lang="en-US" sz="684" dirty="0"/>
          </a:p>
        </p:txBody>
      </p:sp>
      <p:sp>
        <p:nvSpPr>
          <p:cNvPr id="12" name="Text 10"/>
          <p:cNvSpPr/>
          <p:nvPr/>
        </p:nvSpPr>
        <p:spPr>
          <a:xfrm>
            <a:off x="6324448" y="1968297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 ロ ッ プ の 出 し 方 と 締 め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324448" y="2151177"/>
            <a:ext cx="5455768" cy="595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61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話した言葉をそのまま、画面の下に一行で出す。</a:t>
            </a:r>
            <a:pPr indent="0" marL="0">
              <a:lnSpc>
                <a:spcPct val="134000"/>
              </a:lnSpc>
              <a:buNone/>
            </a:pPr>
            <a:endParaRPr lang="en-US" sz="61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612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参考動画は日本語だけだが、この八本は日英併記のルールなので、英訳も一行添える。</a:t>
            </a:r>
            <a:pPr indent="0" marL="0">
              <a:lnSpc>
                <a:spcPct val="134000"/>
              </a:lnSpc>
              <a:buNone/>
            </a:pPr>
            <a:endParaRPr lang="en-US" sz="61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61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締めは映像の中にロゴを重ねてから、白に抜く。</a:t>
            </a:r>
            <a:pPr indent="0" marL="0">
              <a:lnSpc>
                <a:spcPct val="134000"/>
              </a:lnSpc>
              <a:buNone/>
            </a:pPr>
            <a:r>
              <a:rPr lang="en-US" sz="61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他の七本（ロゴだけのカードで終わる）と唯一違う終わり方にする。</a:t>
            </a:r>
            <a:pPr indent="0" marL="0">
              <a:lnSpc>
                <a:spcPct val="134000"/>
              </a:lnSpc>
              <a:buNone/>
            </a:pPr>
            <a:endParaRPr lang="en-US" sz="61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612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締めのテロップの文言は、出演者と話す内容が決まってから決めます。</a:t>
            </a:r>
            <a:endParaRPr lang="en-US" sz="612" dirty="0"/>
          </a:p>
        </p:txBody>
      </p:sp>
      <p:sp>
        <p:nvSpPr>
          <p:cNvPr id="14" name="Text 12"/>
          <p:cNvSpPr/>
          <p:nvPr/>
        </p:nvSpPr>
        <p:spPr>
          <a:xfrm>
            <a:off x="2192339" y="3476655"/>
            <a:ext cx="369776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S1 つかみ①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0-5秒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192339" y="3732687"/>
            <a:ext cx="1171630" cy="2082897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 0" descr="/home/user/dougaseisaku/assets/ref4/8_S1_01_外観のロー_青空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2339" y="4526838"/>
            <a:ext cx="1171630" cy="494595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2192339" y="3732687"/>
            <a:ext cx="1171630" cy="2082897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192339" y="5852160"/>
            <a:ext cx="11716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外観のロー。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空を入れて見上げる。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ロゴを重ねる。</a:t>
            </a:r>
            <a:endParaRPr lang="en-US" sz="720" dirty="0"/>
          </a:p>
        </p:txBody>
      </p:sp>
      <p:sp>
        <p:nvSpPr>
          <p:cNvPr id="19" name="Shape 16"/>
          <p:cNvSpPr/>
          <p:nvPr/>
        </p:nvSpPr>
        <p:spPr>
          <a:xfrm>
            <a:off x="3455408" y="3732687"/>
            <a:ext cx="1171630" cy="2082897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1" descr="/home/user/dougaseisaku/assets/ref4/8_S1_02_外観の全景_入口に人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408" y="4526838"/>
            <a:ext cx="1171630" cy="494595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3455408" y="3732687"/>
            <a:ext cx="1171630" cy="2082897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55408" y="5852160"/>
            <a:ext cx="11716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外観の全景（引き）。入口に人が立つ。</a:t>
            </a:r>
            <a:endParaRPr lang="en-US" sz="720" dirty="0"/>
          </a:p>
        </p:txBody>
      </p:sp>
      <p:sp>
        <p:nvSpPr>
          <p:cNvPr id="23" name="Shape 19"/>
          <p:cNvSpPr/>
          <p:nvPr/>
        </p:nvSpPr>
        <p:spPr>
          <a:xfrm>
            <a:off x="4718478" y="3732687"/>
            <a:ext cx="1171630" cy="2082897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2" descr="/home/user/dougaseisaku/assets/ref4/8_S1_03_厨房_作っている手元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478" y="4526838"/>
            <a:ext cx="1171630" cy="494595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718478" y="3732687"/>
            <a:ext cx="1171630" cy="2082897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718478" y="5852160"/>
            <a:ext cx="11716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つかみに入る。製作シーン。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手元だけ（寄り）</a:t>
            </a:r>
            <a:endParaRPr lang="en-US" sz="720" dirty="0"/>
          </a:p>
        </p:txBody>
      </p:sp>
      <p:sp>
        <p:nvSpPr>
          <p:cNvPr id="27" name="Text 22"/>
          <p:cNvSpPr/>
          <p:nvPr/>
        </p:nvSpPr>
        <p:spPr>
          <a:xfrm>
            <a:off x="6301588" y="3476655"/>
            <a:ext cx="369776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S2 つかみ②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5-11秒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301588" y="3732687"/>
            <a:ext cx="1171630" cy="2082897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9" name="Image 3" descr="/home/user/dougaseisaku/assets/ref4/8_S2_01_焼き上がりの寄り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588" y="4526444"/>
            <a:ext cx="1171630" cy="495384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301588" y="3732687"/>
            <a:ext cx="1171630" cy="2082897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301588" y="5852160"/>
            <a:ext cx="11716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商品の寄り。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できあがった瞬間。</a:t>
            </a:r>
            <a:endParaRPr lang="en-US" sz="720" dirty="0"/>
          </a:p>
        </p:txBody>
      </p:sp>
      <p:sp>
        <p:nvSpPr>
          <p:cNvPr id="32" name="Shape 26"/>
          <p:cNvSpPr/>
          <p:nvPr/>
        </p:nvSpPr>
        <p:spPr>
          <a:xfrm>
            <a:off x="7564657" y="3732687"/>
            <a:ext cx="1171630" cy="2082897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3" name="Image 4" descr="/home/user/dougaseisaku/assets/ref4/8_S2_02_商品の真俯瞰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4657" y="4506342"/>
            <a:ext cx="1171630" cy="535587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7564657" y="3732687"/>
            <a:ext cx="1171630" cy="2082897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7564657" y="5852160"/>
            <a:ext cx="11716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商品の真俯瞰。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並べて撮る。</a:t>
            </a:r>
            <a:endParaRPr lang="en-US" sz="720" dirty="0"/>
          </a:p>
        </p:txBody>
      </p:sp>
      <p:sp>
        <p:nvSpPr>
          <p:cNvPr id="36" name="Shape 29"/>
          <p:cNvSpPr/>
          <p:nvPr/>
        </p:nvSpPr>
        <p:spPr>
          <a:xfrm>
            <a:off x="8827727" y="3732687"/>
            <a:ext cx="1171630" cy="2082897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7" name="Image 5" descr="/home/user/dougaseisaku/assets/ref4/8_S2_03_窓際の席と光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7727" y="4556256"/>
            <a:ext cx="1171630" cy="435759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827727" y="3732687"/>
            <a:ext cx="1171630" cy="2082897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8827727" y="5852160"/>
            <a:ext cx="11716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空間。窓際と光。</a:t>
            </a:r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ここまで人の顔は出さない。</a:t>
            </a:r>
            <a:endParaRPr lang="en-US" sz="720" dirty="0"/>
          </a:p>
        </p:txBody>
      </p:sp>
      <p:sp>
        <p:nvSpPr>
          <p:cNvPr id="40" name="Text 32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41" name="Text 33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 / 31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/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購入者インタビュー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Customer Interview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60秒 ／ 22ショット（仮）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対象＝購入を迷っている新規　／　EC商品ページ・レビュー欄・Instagram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1565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買った人自身の言葉で語ってもらう。</a:t>
            </a:r>
            <a:pPr indent="0" marL="0">
              <a:lnSpc>
                <a:spcPct val="134000"/>
              </a:lnSpc>
              <a:buNone/>
            </a:pPr>
            <a:endParaRPr lang="en-US" sz="684" dirty="0"/>
          </a:p>
          <a:p>
            <a:pPr indent="0" marL="0">
              <a:lnSpc>
                <a:spcPct val="134000"/>
              </a:lnSpc>
              <a:buNone/>
            </a:pPr>
            <a:endParaRPr lang="en-US" sz="68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外観のロー → 外観の全景 → 作っているところ → 商品の寄り → 商品の真俯瞰 → 空間。</a:t>
            </a:r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人はまだ出さず、ロゴを重ねる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②</a:t>
            </a:r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話し手はバストショット。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窓を背にして、手前に植物や花を置いてボカす ③</a:t>
            </a:r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話している内容に合うBロールを、声の上に重ねる。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顔が出るのは各シーンの頭だけでよい ④</a:t>
            </a:r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話した言葉はすべてテロップで出す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（音を出さずに見る人が多いため）⑤</a:t>
            </a:r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締めは見送り。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店の前でスタッフが手を振り、画面の中央にロゴが重なり、映像が白に抜けてロゴだけが残る。</a:t>
            </a:r>
            <a:pPr indent="0" marL="0">
              <a:lnSpc>
                <a:spcPct val="134000"/>
              </a:lnSpc>
              <a:buNone/>
            </a:pPr>
            <a:endParaRPr lang="en-US" sz="684" dirty="0"/>
          </a:p>
          <a:p>
            <a:pPr indent="0" marL="0">
              <a:lnSpc>
                <a:spcPct val="134000"/>
              </a:lnSpc>
              <a:buNone/>
            </a:pPr>
            <a:endParaRPr lang="en-US" sz="68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インタビューの画は各シーンに一枚だけ。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同じ画角を並べても間が持たない。</a:t>
            </a:r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Bロールを多めに撮る。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足りないと声だけが続いて画がもたない。別紙「Bロール参考ショット集」の素材がそのまま使える。</a:t>
            </a:r>
            <a:pPr indent="0" marL="0">
              <a:lnSpc>
                <a:spcPct val="134000"/>
              </a:lnSpc>
              <a:buNone/>
            </a:pPr>
            <a:endParaRPr lang="en-US" sz="684" dirty="0"/>
          </a:p>
          <a:p>
            <a:pPr indent="0" marL="0">
              <a:lnSpc>
                <a:spcPct val="134000"/>
              </a:lnSpc>
              <a:buNone/>
            </a:pPr>
            <a:endParaRPr lang="en-US" sz="68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決めること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：誰に聞くか（既存の購入者か、社内の方に使用者として話してもらうか）、顔出しの範囲、質問内容、撮影場所。</a:t>
            </a:r>
            <a:endParaRPr lang="en-US" sz="684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258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他の七本が「見せる」動画なのに対し、これだけが「聞く」動画。買った人自身の言葉で語ってもらう。</a:t>
            </a:r>
            <a:endParaRPr lang="en-US" sz="684" dirty="0"/>
          </a:p>
        </p:txBody>
      </p:sp>
      <p:sp>
        <p:nvSpPr>
          <p:cNvPr id="12" name="Text 10"/>
          <p:cNvSpPr/>
          <p:nvPr/>
        </p:nvSpPr>
        <p:spPr>
          <a:xfrm>
            <a:off x="6324448" y="1968297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 ロ ッ プ の 出 し 方 と 締 め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324448" y="2151177"/>
            <a:ext cx="5455768" cy="595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61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話した言葉をそのまま、画面の下に一行で出す。</a:t>
            </a:r>
            <a:pPr indent="0" marL="0">
              <a:lnSpc>
                <a:spcPct val="134000"/>
              </a:lnSpc>
              <a:buNone/>
            </a:pPr>
            <a:endParaRPr lang="en-US" sz="61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612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参考動画は日本語だけだが、この八本は日英併記のルールなので、英訳も一行添える。</a:t>
            </a:r>
            <a:pPr indent="0" marL="0">
              <a:lnSpc>
                <a:spcPct val="134000"/>
              </a:lnSpc>
              <a:buNone/>
            </a:pPr>
            <a:endParaRPr lang="en-US" sz="61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61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締めは映像の中にロゴを重ねてから、白に抜く。</a:t>
            </a:r>
            <a:pPr indent="0" marL="0">
              <a:lnSpc>
                <a:spcPct val="134000"/>
              </a:lnSpc>
              <a:buNone/>
            </a:pPr>
            <a:r>
              <a:rPr lang="en-US" sz="61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他の七本（ロゴだけのカードで終わる）と唯一違う終わり方にする。</a:t>
            </a:r>
            <a:pPr indent="0" marL="0">
              <a:lnSpc>
                <a:spcPct val="134000"/>
              </a:lnSpc>
              <a:buNone/>
            </a:pPr>
            <a:endParaRPr lang="en-US" sz="61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612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締めのテロップの文言は、出演者と話す内容が決まってから決めます。</a:t>
            </a:r>
            <a:endParaRPr lang="en-US" sz="612" dirty="0"/>
          </a:p>
        </p:txBody>
      </p:sp>
      <p:sp>
        <p:nvSpPr>
          <p:cNvPr id="14" name="Text 12"/>
          <p:cNvSpPr/>
          <p:nvPr/>
        </p:nvSpPr>
        <p:spPr>
          <a:xfrm>
            <a:off x="2624393" y="3476655"/>
            <a:ext cx="32657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 話しはじめる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11-19秒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24393" y="3732687"/>
            <a:ext cx="1027612" cy="182686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 0" descr="/home/user/dougaseisaku/assets/ref4/8_S3_01_インタビュー_バストショット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4393" y="4464085"/>
            <a:ext cx="1027612" cy="36406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2624393" y="3732687"/>
            <a:ext cx="1027612" cy="182686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24393" y="5596128"/>
            <a:ext cx="10276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66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バストショット。窓を背にして、手前に植物を置いてボカす。</a:t>
            </a:r>
            <a:pPr indent="0" marL="0">
              <a:lnSpc>
                <a:spcPct val="124000"/>
              </a:lnSpc>
              <a:buNone/>
            </a:pPr>
            <a:r>
              <a:rPr lang="en-US" sz="66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名前は出さず「使っている人」として自己紹介。</a:t>
            </a:r>
            <a:pPr indent="0" marL="0">
              <a:lnSpc>
                <a:spcPct val="124000"/>
              </a:lnSpc>
              <a:buNone/>
            </a:pPr>
            <a:r>
              <a:rPr lang="en-US" sz="66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話した言葉をそのままテロップで出す。</a:t>
            </a:r>
            <a:endParaRPr lang="en-US" sz="660" dirty="0"/>
          </a:p>
        </p:txBody>
      </p:sp>
      <p:sp>
        <p:nvSpPr>
          <p:cNvPr id="19" name="Shape 16"/>
          <p:cNvSpPr/>
          <p:nvPr/>
        </p:nvSpPr>
        <p:spPr>
          <a:xfrm>
            <a:off x="3743444" y="3732687"/>
            <a:ext cx="1027612" cy="182686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1" descr="/home/user/dougaseisaku/assets/ref4/8_S3_02_店内の引き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444" y="4464085"/>
            <a:ext cx="1027612" cy="36406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3743444" y="3732687"/>
            <a:ext cx="1027612" cy="182686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743444" y="5596128"/>
            <a:ext cx="10276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ここから画はBロールに変わるが、声はそのまま流し続ける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（引き）</a:t>
            </a:r>
            <a:endParaRPr lang="en-US" sz="720" dirty="0"/>
          </a:p>
        </p:txBody>
      </p:sp>
      <p:sp>
        <p:nvSpPr>
          <p:cNvPr id="23" name="Shape 19"/>
          <p:cNvSpPr/>
          <p:nvPr/>
        </p:nvSpPr>
        <p:spPr>
          <a:xfrm>
            <a:off x="4862496" y="3732687"/>
            <a:ext cx="1027612" cy="182686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2" descr="/home/user/dougaseisaku/assets/ref4/8_S3_03_商品の寄り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496" y="4464085"/>
            <a:ext cx="1027612" cy="364068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862496" y="3732687"/>
            <a:ext cx="1027612" cy="182686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862496" y="5596128"/>
            <a:ext cx="10276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商品の寄り。話している内容に合わせて切り替える。</a:t>
            </a:r>
            <a:endParaRPr lang="en-US" sz="720" dirty="0"/>
          </a:p>
        </p:txBody>
      </p:sp>
      <p:sp>
        <p:nvSpPr>
          <p:cNvPr id="27" name="Text 22"/>
          <p:cNvSpPr/>
          <p:nvPr/>
        </p:nvSpPr>
        <p:spPr>
          <a:xfrm>
            <a:off x="6301588" y="3476655"/>
            <a:ext cx="32657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S4 なぜ選んだか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19-28秒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301588" y="3732687"/>
            <a:ext cx="1027612" cy="182686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9" name="Image 3" descr="/home/user/dougaseisaku/assets/ref4/8_S4_01_インタビュー_同じ画角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588" y="4464085"/>
            <a:ext cx="1027612" cy="364068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301588" y="3732687"/>
            <a:ext cx="1027612" cy="182686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301588" y="5596128"/>
            <a:ext cx="10276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インタビューに戻る。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同じ画角。カメラは一度も動かさない。</a:t>
            </a:r>
            <a:endParaRPr lang="en-US" sz="720" dirty="0"/>
          </a:p>
        </p:txBody>
      </p:sp>
      <p:sp>
        <p:nvSpPr>
          <p:cNvPr id="32" name="Shape 26"/>
          <p:cNvSpPr/>
          <p:nvPr/>
        </p:nvSpPr>
        <p:spPr>
          <a:xfrm>
            <a:off x="7420639" y="3732687"/>
            <a:ext cx="1027612" cy="182686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3" name="Image 4" descr="/home/user/dougaseisaku/assets/ref4/8_S4_02_壁とテーブル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0639" y="4464085"/>
            <a:ext cx="1027612" cy="364068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7420639" y="3732687"/>
            <a:ext cx="1027612" cy="182686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7420639" y="5596128"/>
            <a:ext cx="10276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声の上にBロール。空間の引き。</a:t>
            </a:r>
            <a:endParaRPr lang="en-US" sz="720" dirty="0"/>
          </a:p>
        </p:txBody>
      </p:sp>
      <p:sp>
        <p:nvSpPr>
          <p:cNvPr id="36" name="Shape 29"/>
          <p:cNvSpPr/>
          <p:nvPr/>
        </p:nvSpPr>
        <p:spPr>
          <a:xfrm>
            <a:off x="8539691" y="3732687"/>
            <a:ext cx="1027612" cy="182686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7" name="Image 5" descr="/home/user/dougaseisaku/assets/ref4/8_S4_03_窓辺とドライフラワー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691" y="4464085"/>
            <a:ext cx="1027612" cy="364068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539691" y="3732687"/>
            <a:ext cx="1027612" cy="1826865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8539691" y="5596128"/>
            <a:ext cx="10276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窓辺の一枚。間を作る。</a:t>
            </a:r>
            <a:endParaRPr lang="en-US" sz="720" dirty="0"/>
          </a:p>
        </p:txBody>
      </p:sp>
      <p:sp>
        <p:nvSpPr>
          <p:cNvPr id="40" name="Text 32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41" name="Text 33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29 / 31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/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購入者インタビュー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Customer Interview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60秒 ／ 22ショット（仮）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対象＝購入を迷っている新規　／　EC商品ページ・レビュー欄・Instagram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1565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買った人自身の言葉で語ってもらう。</a:t>
            </a:r>
            <a:pPr indent="0" marL="0">
              <a:lnSpc>
                <a:spcPct val="134000"/>
              </a:lnSpc>
              <a:buNone/>
            </a:pPr>
            <a:endParaRPr lang="en-US" sz="684" dirty="0"/>
          </a:p>
          <a:p>
            <a:pPr indent="0" marL="0">
              <a:lnSpc>
                <a:spcPct val="134000"/>
              </a:lnSpc>
              <a:buNone/>
            </a:pPr>
            <a:endParaRPr lang="en-US" sz="68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外観のロー → 外観の全景 → 作っているところ → 商品の寄り → 商品の真俯瞰 → 空間。</a:t>
            </a:r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人はまだ出さず、ロゴを重ねる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②</a:t>
            </a:r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話し手はバストショット。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窓を背にして、手前に植物や花を置いてボカす ③</a:t>
            </a:r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話している内容に合うBロールを、声の上に重ねる。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顔が出るのは各シーンの頭だけでよい ④</a:t>
            </a:r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話した言葉はすべてテロップで出す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（音を出さずに見る人が多いため）⑤</a:t>
            </a:r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締めは見送り。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店の前でスタッフが手を振り、画面の中央にロゴが重なり、映像が白に抜けてロゴだけが残る。</a:t>
            </a:r>
            <a:pPr indent="0" marL="0">
              <a:lnSpc>
                <a:spcPct val="134000"/>
              </a:lnSpc>
              <a:buNone/>
            </a:pPr>
            <a:endParaRPr lang="en-US" sz="684" dirty="0"/>
          </a:p>
          <a:p>
            <a:pPr indent="0" marL="0">
              <a:lnSpc>
                <a:spcPct val="134000"/>
              </a:lnSpc>
              <a:buNone/>
            </a:pPr>
            <a:endParaRPr lang="en-US" sz="68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インタビューの画は各シーンに一枚だけ。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同じ画角を並べても間が持たない。</a:t>
            </a:r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Bロールを多めに撮る。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足りないと声だけが続いて画がもたない。別紙「Bロール参考ショット集」の素材がそのまま使える。</a:t>
            </a:r>
            <a:pPr indent="0" marL="0">
              <a:lnSpc>
                <a:spcPct val="134000"/>
              </a:lnSpc>
              <a:buNone/>
            </a:pPr>
            <a:endParaRPr lang="en-US" sz="684" dirty="0"/>
          </a:p>
          <a:p>
            <a:pPr indent="0" marL="0">
              <a:lnSpc>
                <a:spcPct val="134000"/>
              </a:lnSpc>
              <a:buNone/>
            </a:pPr>
            <a:endParaRPr lang="en-US" sz="68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決めること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：誰に聞くか（既存の購入者か、社内の方に使用者として話してもらうか）、顔出しの範囲、質問内容、撮影場所。</a:t>
            </a:r>
            <a:endParaRPr lang="en-US" sz="684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258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他の七本が「見せる」動画なのに対し、これだけが「聞く」動画。買った人自身の言葉で語ってもらう。</a:t>
            </a:r>
            <a:endParaRPr lang="en-US" sz="684" dirty="0"/>
          </a:p>
        </p:txBody>
      </p:sp>
      <p:sp>
        <p:nvSpPr>
          <p:cNvPr id="12" name="Text 10"/>
          <p:cNvSpPr/>
          <p:nvPr/>
        </p:nvSpPr>
        <p:spPr>
          <a:xfrm>
            <a:off x="6324448" y="1968297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 ロ ッ プ の 出 し 方 と 締 め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324448" y="2151177"/>
            <a:ext cx="5455768" cy="595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61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話した言葉をそのまま、画面の下に一行で出す。</a:t>
            </a:r>
            <a:pPr indent="0" marL="0">
              <a:lnSpc>
                <a:spcPct val="134000"/>
              </a:lnSpc>
              <a:buNone/>
            </a:pPr>
            <a:endParaRPr lang="en-US" sz="61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612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参考動画は日本語だけだが、この八本は日英併記のルールなので、英訳も一行添える。</a:t>
            </a:r>
            <a:pPr indent="0" marL="0">
              <a:lnSpc>
                <a:spcPct val="134000"/>
              </a:lnSpc>
              <a:buNone/>
            </a:pPr>
            <a:endParaRPr lang="en-US" sz="61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61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締めは映像の中にロゴを重ねてから、白に抜く。</a:t>
            </a:r>
            <a:pPr indent="0" marL="0">
              <a:lnSpc>
                <a:spcPct val="134000"/>
              </a:lnSpc>
              <a:buNone/>
            </a:pPr>
            <a:r>
              <a:rPr lang="en-US" sz="61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他の七本（ロゴだけのカードで終わる）と唯一違う終わり方にする。</a:t>
            </a:r>
            <a:pPr indent="0" marL="0">
              <a:lnSpc>
                <a:spcPct val="134000"/>
              </a:lnSpc>
              <a:buNone/>
            </a:pPr>
            <a:endParaRPr lang="en-US" sz="61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612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締めのテロップの文言は、出演者と話す内容が決まってから決めます。</a:t>
            </a:r>
            <a:endParaRPr lang="en-US" sz="612" dirty="0"/>
          </a:p>
        </p:txBody>
      </p:sp>
      <p:sp>
        <p:nvSpPr>
          <p:cNvPr id="14" name="Text 12"/>
          <p:cNvSpPr/>
          <p:nvPr/>
        </p:nvSpPr>
        <p:spPr>
          <a:xfrm>
            <a:off x="2192339" y="3476655"/>
            <a:ext cx="369776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S5 使っている場面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28-38秒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192339" y="3732687"/>
            <a:ext cx="1171630" cy="2082897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 0" descr="/home/user/dougaseisaku/assets/ref4/8_S5_01_二階のテーブル席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2339" y="4566590"/>
            <a:ext cx="1171630" cy="415092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2192339" y="3732687"/>
            <a:ext cx="1171630" cy="2082897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192339" y="5852160"/>
            <a:ext cx="11716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別の場所へ移る（引き）</a:t>
            </a:r>
            <a:endParaRPr lang="en-US" sz="720" dirty="0"/>
          </a:p>
        </p:txBody>
      </p:sp>
      <p:sp>
        <p:nvSpPr>
          <p:cNvPr id="19" name="Shape 16"/>
          <p:cNvSpPr/>
          <p:nvPr/>
        </p:nvSpPr>
        <p:spPr>
          <a:xfrm>
            <a:off x="3455408" y="3732687"/>
            <a:ext cx="1171630" cy="2082897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1" descr="/home/user/dougaseisaku/assets/ref4/8_S5_02_ソファ席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408" y="4566590"/>
            <a:ext cx="1171630" cy="415092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3455408" y="3732687"/>
            <a:ext cx="1171630" cy="2082897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55408" y="5852160"/>
            <a:ext cx="11716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落ち着いた場所での一枚。</a:t>
            </a:r>
            <a:endParaRPr lang="en-US" sz="720" dirty="0"/>
          </a:p>
        </p:txBody>
      </p:sp>
      <p:sp>
        <p:nvSpPr>
          <p:cNvPr id="23" name="Shape 19"/>
          <p:cNvSpPr/>
          <p:nvPr/>
        </p:nvSpPr>
        <p:spPr>
          <a:xfrm>
            <a:off x="4718478" y="3732687"/>
            <a:ext cx="1171630" cy="2082897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2" descr="/home/user/dougaseisaku/assets/ref4/8_S5_03_外に出る_青空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478" y="4566590"/>
            <a:ext cx="1171630" cy="415092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718478" y="3732687"/>
            <a:ext cx="1171630" cy="2082897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718478" y="5852160"/>
            <a:ext cx="11716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外に出る。空を入れて気分を変える。</a:t>
            </a:r>
            <a:endParaRPr lang="en-US" sz="720" dirty="0"/>
          </a:p>
        </p:txBody>
      </p:sp>
      <p:sp>
        <p:nvSpPr>
          <p:cNvPr id="27" name="Text 22"/>
          <p:cNvSpPr/>
          <p:nvPr/>
        </p:nvSpPr>
        <p:spPr>
          <a:xfrm>
            <a:off x="6301588" y="3476655"/>
            <a:ext cx="369776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S6 本音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38-50秒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301588" y="3732687"/>
            <a:ext cx="1171630" cy="2082897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9" name="Image 3" descr="/home/user/dougaseisaku/assets/ref4/8_S6_01_インタビュー_表情のアップ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588" y="4566590"/>
            <a:ext cx="1171630" cy="415092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301588" y="3732687"/>
            <a:ext cx="1171630" cy="2082897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301588" y="5852160"/>
            <a:ext cx="11716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インタビューに戻る。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表情のアップ。買ってから変わったことを一言で。</a:t>
            </a:r>
            <a:endParaRPr lang="en-US" sz="720" dirty="0"/>
          </a:p>
        </p:txBody>
      </p:sp>
      <p:sp>
        <p:nvSpPr>
          <p:cNvPr id="32" name="Shape 26"/>
          <p:cNvSpPr/>
          <p:nvPr/>
        </p:nvSpPr>
        <p:spPr>
          <a:xfrm>
            <a:off x="7564657" y="3732687"/>
            <a:ext cx="1171630" cy="2082897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3" name="Image 4" descr="/home/user/dougaseisaku/assets/ref4/8_S6_02_屋上で手を上げる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4657" y="4566590"/>
            <a:ext cx="1171630" cy="415092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7564657" y="3732687"/>
            <a:ext cx="1171630" cy="2082897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7564657" y="5852160"/>
            <a:ext cx="11716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外の引きに人が入る。声はそのまま続く。</a:t>
            </a:r>
            <a:endParaRPr lang="en-US" sz="720" dirty="0"/>
          </a:p>
        </p:txBody>
      </p:sp>
      <p:sp>
        <p:nvSpPr>
          <p:cNvPr id="36" name="Shape 29"/>
          <p:cNvSpPr/>
          <p:nvPr/>
        </p:nvSpPr>
        <p:spPr>
          <a:xfrm>
            <a:off x="8827727" y="3732687"/>
            <a:ext cx="1171630" cy="2082897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7" name="Image 5" descr="/home/user/dougaseisaku/assets/ref4/8_S6_03_窓辺に戻る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7727" y="4566590"/>
            <a:ext cx="1171630" cy="41509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827727" y="3732687"/>
            <a:ext cx="1171630" cy="2082897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8827727" y="5852160"/>
            <a:ext cx="11716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静かな一枚を入れる。</a:t>
            </a:r>
            <a:endParaRPr lang="en-US" sz="720" dirty="0"/>
          </a:p>
        </p:txBody>
      </p:sp>
      <p:sp>
        <p:nvSpPr>
          <p:cNvPr id="40" name="Text 32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41" name="Text 33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 / 31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" y="320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/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購入者インタビュー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Customer Interview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320040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60秒 ／ 22ショット（仮）</a:t>
            </a:r>
            <a:endParaRPr lang="en-US" sz="110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対象＝購入を迷っている新規　／　EC商品ページ・レビュー欄・Instagram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13687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　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455768" cy="1565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買った人自身の言葉で語ってもらう。</a:t>
            </a:r>
            <a:pPr indent="0" marL="0">
              <a:lnSpc>
                <a:spcPct val="134000"/>
              </a:lnSpc>
              <a:buNone/>
            </a:pPr>
            <a:endParaRPr lang="en-US" sz="684" dirty="0"/>
          </a:p>
          <a:p>
            <a:pPr indent="0" marL="0">
              <a:lnSpc>
                <a:spcPct val="134000"/>
              </a:lnSpc>
              <a:buNone/>
            </a:pPr>
            <a:endParaRPr lang="en-US" sz="68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外観のロー → 外観の全景 → 作っているところ → 商品の寄り → 商品の真俯瞰 → 空間。</a:t>
            </a:r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人はまだ出さず、ロゴを重ねる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②</a:t>
            </a:r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話し手はバストショット。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窓を背にして、手前に植物や花を置いてボカす ③</a:t>
            </a:r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話している内容に合うBロールを、声の上に重ねる。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顔が出るのは各シーンの頭だけでよい ④</a:t>
            </a:r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話した言葉はすべてテロップで出す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（音を出さずに見る人が多いため）⑤</a:t>
            </a:r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締めは見送り。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店の前でスタッフが手を振り、画面の中央にロゴが重なり、映像が白に抜けてロゴだけが残る。</a:t>
            </a:r>
            <a:pPr indent="0" marL="0">
              <a:lnSpc>
                <a:spcPct val="134000"/>
              </a:lnSpc>
              <a:buNone/>
            </a:pPr>
            <a:endParaRPr lang="en-US" sz="684" dirty="0"/>
          </a:p>
          <a:p>
            <a:pPr indent="0" marL="0">
              <a:lnSpc>
                <a:spcPct val="134000"/>
              </a:lnSpc>
              <a:buNone/>
            </a:pPr>
            <a:endParaRPr lang="en-US" sz="68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インタビューの画は各シーンに一枚だけ。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同じ画角を並べても間が持たない。</a:t>
            </a:r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Bロールを多めに撮る。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足りないと声だけが続いて画がもたない。別紙「Bロール参考ショット集」の素材がそのまま使える。</a:t>
            </a:r>
            <a:pPr indent="0" marL="0">
              <a:lnSpc>
                <a:spcPct val="134000"/>
              </a:lnSpc>
              <a:buNone/>
            </a:pPr>
            <a:endParaRPr lang="en-US" sz="684" dirty="0"/>
          </a:p>
          <a:p>
            <a:pPr indent="0" marL="0">
              <a:lnSpc>
                <a:spcPct val="134000"/>
              </a:lnSpc>
              <a:buNone/>
            </a:pPr>
            <a:endParaRPr lang="en-US" sz="684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684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決めること</a:t>
            </a:r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：誰に聞くか（既存の購入者か、社内の方に使用者として話してもらうか）、顔出しの範囲、質問内容、撮影場所。</a:t>
            </a:r>
            <a:endParaRPr lang="en-US" sz="684" dirty="0"/>
          </a:p>
        </p:txBody>
      </p:sp>
      <p:sp>
        <p:nvSpPr>
          <p:cNvPr id="10" name="Text 8"/>
          <p:cNvSpPr/>
          <p:nvPr/>
        </p:nvSpPr>
        <p:spPr>
          <a:xfrm>
            <a:off x="6324448" y="1408176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 の 1 本 で 言 う こ 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24448" y="1591056"/>
            <a:ext cx="5455768" cy="258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684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他の七本が「見せる」動画なのに対し、これだけが「聞く」動画。買った人自身の言葉で語ってもらう。</a:t>
            </a:r>
            <a:endParaRPr lang="en-US" sz="684" dirty="0"/>
          </a:p>
        </p:txBody>
      </p:sp>
      <p:sp>
        <p:nvSpPr>
          <p:cNvPr id="12" name="Text 10"/>
          <p:cNvSpPr/>
          <p:nvPr/>
        </p:nvSpPr>
        <p:spPr>
          <a:xfrm>
            <a:off x="6324448" y="1968297"/>
            <a:ext cx="545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 ロ ッ プ の 出 し 方 と 締 め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324448" y="2151177"/>
            <a:ext cx="5455768" cy="595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61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話した言葉をそのまま、画面の下に一行で出す。</a:t>
            </a:r>
            <a:pPr indent="0" marL="0">
              <a:lnSpc>
                <a:spcPct val="134000"/>
              </a:lnSpc>
              <a:buNone/>
            </a:pPr>
            <a:endParaRPr lang="en-US" sz="61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612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参考動画は日本語だけだが、この八本は日英併記のルールなので、英訳も一行添える。</a:t>
            </a:r>
            <a:pPr indent="0" marL="0">
              <a:lnSpc>
                <a:spcPct val="134000"/>
              </a:lnSpc>
              <a:buNone/>
            </a:pPr>
            <a:endParaRPr lang="en-US" sz="61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612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締めは映像の中にロゴを重ねてから、白に抜く。</a:t>
            </a:r>
            <a:pPr indent="0" marL="0">
              <a:lnSpc>
                <a:spcPct val="134000"/>
              </a:lnSpc>
              <a:buNone/>
            </a:pPr>
            <a:r>
              <a:rPr lang="en-US" sz="612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他の七本（ロゴだけのカードで終わる）と唯一違う終わり方にする。</a:t>
            </a:r>
            <a:pPr indent="0" marL="0">
              <a:lnSpc>
                <a:spcPct val="134000"/>
              </a:lnSpc>
              <a:buNone/>
            </a:pPr>
            <a:endParaRPr lang="en-US" sz="612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612" dirty="0">
                <a:solidFill>
                  <a:srgbClr val="A876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締めのテロップの文言は、出演者と話す内容が決まってから決めます。</a:t>
            </a:r>
            <a:endParaRPr lang="en-US" sz="612" dirty="0"/>
          </a:p>
        </p:txBody>
      </p:sp>
      <p:sp>
        <p:nvSpPr>
          <p:cNvPr id="14" name="Text 12"/>
          <p:cNvSpPr/>
          <p:nvPr/>
        </p:nvSpPr>
        <p:spPr>
          <a:xfrm>
            <a:off x="2192339" y="3476655"/>
            <a:ext cx="369776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S7 見送りで終わる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50-60秒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192339" y="3732687"/>
            <a:ext cx="1171630" cy="2082897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 0" descr="/home/user/dougaseisaku/assets/ref4/8_S7_01_店の前にスタッフが出る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2339" y="4526444"/>
            <a:ext cx="1171630" cy="49538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2192339" y="3732687"/>
            <a:ext cx="1171630" cy="2082897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192339" y="5852160"/>
            <a:ext cx="11716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店の前。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スタッフが出てくる（引き）</a:t>
            </a:r>
            <a:endParaRPr lang="en-US" sz="720" dirty="0"/>
          </a:p>
        </p:txBody>
      </p:sp>
      <p:sp>
        <p:nvSpPr>
          <p:cNvPr id="19" name="Shape 16"/>
          <p:cNvSpPr/>
          <p:nvPr/>
        </p:nvSpPr>
        <p:spPr>
          <a:xfrm>
            <a:off x="3455408" y="3732687"/>
            <a:ext cx="1171630" cy="2082897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1" descr="/home/user/dougaseisaku/assets/ref4/8_S7_02_手を振って見送る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408" y="4526444"/>
            <a:ext cx="1171630" cy="495384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3455408" y="3732687"/>
            <a:ext cx="1171630" cy="2082897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55408" y="5852160"/>
            <a:ext cx="11716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手を振って見送る。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カメラは動かさない。</a:t>
            </a:r>
            <a:endParaRPr lang="en-US" sz="720" dirty="0"/>
          </a:p>
        </p:txBody>
      </p:sp>
      <p:sp>
        <p:nvSpPr>
          <p:cNvPr id="23" name="Shape 19"/>
          <p:cNvSpPr/>
          <p:nvPr/>
        </p:nvSpPr>
        <p:spPr>
          <a:xfrm>
            <a:off x="4718478" y="3732687"/>
            <a:ext cx="1171630" cy="2082897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2" descr="/home/user/dougaseisaku/assets/ref4/8_S7_03_中央にロゴが重なる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478" y="4526444"/>
            <a:ext cx="1171630" cy="495384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718478" y="3732687"/>
            <a:ext cx="1171630" cy="2082897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718478" y="5852160"/>
            <a:ext cx="11716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同じ引きの画面の中央に、ロゴが重なる。</a:t>
            </a:r>
            <a:endParaRPr lang="en-US" sz="720" dirty="0"/>
          </a:p>
        </p:txBody>
      </p:sp>
      <p:sp>
        <p:nvSpPr>
          <p:cNvPr id="27" name="Text 22"/>
          <p:cNvSpPr/>
          <p:nvPr/>
        </p:nvSpPr>
        <p:spPr>
          <a:xfrm>
            <a:off x="6301588" y="3476655"/>
            <a:ext cx="369776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S8 白に抜ける</a:t>
            </a:r>
            <a:pPr indent="0" marL="0">
              <a:buNone/>
            </a:pPr>
            <a:r>
              <a:rPr lang="en-US" sz="900" dirty="0">
                <a:solidFill>
                  <a:srgbClr val="6B5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60秒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301588" y="3732687"/>
            <a:ext cx="1171630" cy="2082897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9" name="Image 3" descr="/home/user/dougaseisaku/assets/ref4/8_S8_01_白に抜けてロゴだけ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588" y="4444615"/>
            <a:ext cx="1171630" cy="659042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301588" y="3732687"/>
            <a:ext cx="1171630" cy="2082897"/>
          </a:xfrm>
          <a:prstGeom prst="rect">
            <a:avLst/>
          </a:prstGeom>
          <a:ln w="9525">
            <a:solidFill>
              <a:srgbClr val="DDD5C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301588" y="5852160"/>
            <a:ext cx="11716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720" b="1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映像が白に抜けて、ロゴだけが残る。</a:t>
            </a:r>
            <a:pPr indent="0" marL="0">
              <a:lnSpc>
                <a:spcPct val="124000"/>
              </a:lnSpc>
              <a:buNone/>
            </a:pPr>
            <a:r>
              <a:rPr lang="en-US" sz="720" dirty="0">
                <a:solidFill>
                  <a:srgbClr val="3A32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ここで音も切る。</a:t>
            </a:r>
            <a:endParaRPr lang="en-US" sz="720" dirty="0"/>
          </a:p>
        </p:txBody>
      </p:sp>
      <p:sp>
        <p:nvSpPr>
          <p:cNvPr id="32" name="Text 26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BROOKLYN MUSEUM ／ 向島工房　動画制作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104086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31 / 31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2026-09-07T03:25:00Z</dcterms:created>
  <dcterms:modified xsi:type="dcterms:W3CDTF">2026-09-07T03:25:00Z</dcterms:modified>
</cp:coreProperties>
</file>