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hyperlink" Target="http://youtube.com/shorts/c2mH8rStFCA" TargetMode="External"/><Relationship Id="rId3" Type="http://schemas.openxmlformats.org/officeDocument/2006/relationships/hyperlink" Target="https://www.instagram.com/reel/DbAniDDyF0U/" TargetMode="External"/><Relationship Id="rId4" Type="http://schemas.openxmlformats.org/officeDocument/2006/relationships/hyperlink" Target="https://www.instagram.com/reels/DWiwFp5DED-/" TargetMode="External"/><Relationship Id="rId5" Type="http://schemas.openxmlformats.org/officeDocument/2006/relationships/hyperlink" Target="https://www.instagram.com/reels/DcOkNyyoFFJ/" TargetMode="External"/><Relationship Id="rId6" Type="http://schemas.openxmlformats.org/officeDocument/2006/relationships/hyperlink" Target="https://www.instagram.com/reel/DaxjHnkB62p/" TargetMode="External"/><Relationship Id="rId7" Type="http://schemas.openxmlformats.org/officeDocument/2006/relationships/hyperlink" Target="https://www.youtube.com/watch?v=4DEy0CAg43s" TargetMode="External"/><Relationship Id="rId8" Type="http://schemas.openxmlformats.org/officeDocument/2006/relationships/hyperlink" Target="https://youtu.be/OU-qyAcn2YM" TargetMode="External"/><Relationship Id="rId9" Type="http://schemas.openxmlformats.org/officeDocument/2006/relationships/hyperlink" Target="https://youtu.be/OPDWrOeD-gU" TargetMode="External"/><Relationship Id="rId10" Type="http://schemas.openxmlformats.org/officeDocument/2006/relationships/hyperlink" Target="https://www.instagram.com/reel/DZE-_hZuwXb/" TargetMode="External"/><Relationship Id="rId11" Type="http://schemas.openxmlformats.org/officeDocument/2006/relationships/hyperlink" Target="https://www.instagram.com/reel/DaorwuKvWAj/" TargetMode="External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3-1.jpg"/><Relationship Id="rId3" Type="http://schemas.openxmlformats.org/officeDocument/2006/relationships/image" Target="../media/image-3-2.jpg"/><Relationship Id="rId4" Type="http://schemas.openxmlformats.org/officeDocument/2006/relationships/image" Target="../media/image-3-3.jpg"/><Relationship Id="rId5" Type="http://schemas.openxmlformats.org/officeDocument/2006/relationships/image" Target="../media/image-3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4-1.jpg"/><Relationship Id="rId3" Type="http://schemas.openxmlformats.org/officeDocument/2006/relationships/image" Target="../media/image-4-2.jpg"/><Relationship Id="rId4" Type="http://schemas.openxmlformats.org/officeDocument/2006/relationships/image" Target="../media/image-4-3.jpg"/><Relationship Id="rId5" Type="http://schemas.openxmlformats.org/officeDocument/2006/relationships/image" Target="../media/image-4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://youtube.com/shorts/c2mH8rStFCA" TargetMode="External"/><Relationship Id="rId2" Type="http://schemas.openxmlformats.org/officeDocument/2006/relationships/hyperlink" Target="https://www.instagram.com/reel/DbAniDDyF0U/" TargetMode="External"/><Relationship Id="rId3" Type="http://schemas.openxmlformats.org/officeDocument/2006/relationships/image" Target="../media/image-5-1.jpg"/><Relationship Id="rId4" Type="http://schemas.openxmlformats.org/officeDocument/2006/relationships/image" Target="../media/image-5-2.jpg"/><Relationship Id="rId5" Type="http://schemas.openxmlformats.org/officeDocument/2006/relationships/image" Target="../media/image-5-3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://youtube.com/shorts/c2mH8rStFCA" TargetMode="External"/><Relationship Id="rId2" Type="http://schemas.openxmlformats.org/officeDocument/2006/relationships/hyperlink" Target="https://www.instagram.com/reel/DbAniDDyF0U/" TargetMode="External"/><Relationship Id="rId3" Type="http://schemas.openxmlformats.org/officeDocument/2006/relationships/image" Target="../media/image-6-1.jpg"/><Relationship Id="rId4" Type="http://schemas.openxmlformats.org/officeDocument/2006/relationships/image" Target="../media/image-6-2.jpg"/><Relationship Id="rId5" Type="http://schemas.openxmlformats.org/officeDocument/2006/relationships/image" Target="../media/image-6-3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://youtube.com/shorts/c2mH8rStFCA" TargetMode="External"/><Relationship Id="rId2" Type="http://schemas.openxmlformats.org/officeDocument/2006/relationships/hyperlink" Target="https://www.instagram.com/reel/DbAniDDyF0U/" TargetMode="External"/><Relationship Id="rId3" Type="http://schemas.openxmlformats.org/officeDocument/2006/relationships/image" Target="../media/image-7-1.jpg"/><Relationship Id="rId4" Type="http://schemas.openxmlformats.org/officeDocument/2006/relationships/image" Target="../media/image-7-2.jpg"/><Relationship Id="rId5" Type="http://schemas.openxmlformats.org/officeDocument/2006/relationships/image" Target="../media/image-7-3.jpg"/><Relationship Id="rId6" Type="http://schemas.openxmlformats.org/officeDocument/2006/relationships/image" Target="../media/image-7-4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8-1.jpg"/><Relationship Id="rId3" Type="http://schemas.openxmlformats.org/officeDocument/2006/relationships/image" Target="../media/image-8-2.jpg"/><Relationship Id="rId4" Type="http://schemas.openxmlformats.org/officeDocument/2006/relationships/image" Target="../media/image-8-3.jpg"/><Relationship Id="rId5" Type="http://schemas.openxmlformats.org/officeDocument/2006/relationships/image" Target="../media/image-8-4.jpg"/><Relationship Id="rId6" Type="http://schemas.openxmlformats.org/officeDocument/2006/relationships/image" Target="../media/image-8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9-1.jpg"/><Relationship Id="rId3" Type="http://schemas.openxmlformats.org/officeDocument/2006/relationships/image" Target="../media/image-9-2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hyperlink" Target="https://www.instagram.com/reel/DaxjHnkB62p/" TargetMode="External"/><Relationship Id="rId3" Type="http://schemas.openxmlformats.org/officeDocument/2006/relationships/image" Target="../media/image-10-1.jpg"/><Relationship Id="rId4" Type="http://schemas.openxmlformats.org/officeDocument/2006/relationships/image" Target="../media/image-10-2.jpg"/><Relationship Id="rId5" Type="http://schemas.openxmlformats.org/officeDocument/2006/relationships/image" Target="../media/image-10-3.jpg"/><Relationship Id="rId6" Type="http://schemas.openxmlformats.org/officeDocument/2006/relationships/image" Target="../media/image-10-4.jpg"/><Relationship Id="rId7" Type="http://schemas.openxmlformats.org/officeDocument/2006/relationships/image" Target="../media/image-10-5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hyperlink" Target="https://www.instagram.com/reel/DaxjHnkB62p/" TargetMode="External"/><Relationship Id="rId3" Type="http://schemas.openxmlformats.org/officeDocument/2006/relationships/image" Target="../media/image-11-1.jpg"/><Relationship Id="rId4" Type="http://schemas.openxmlformats.org/officeDocument/2006/relationships/image" Target="../media/image-11-2.jpg"/><Relationship Id="rId5" Type="http://schemas.openxmlformats.org/officeDocument/2006/relationships/image" Target="../media/image-11-3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2-1.jpg"/><Relationship Id="rId5" Type="http://schemas.openxmlformats.org/officeDocument/2006/relationships/image" Target="../media/image-12-2.jpg"/><Relationship Id="rId6" Type="http://schemas.openxmlformats.org/officeDocument/2006/relationships/image" Target="../media/image-12-3.jpg"/><Relationship Id="rId7" Type="http://schemas.openxmlformats.org/officeDocument/2006/relationships/image" Target="../media/image-12-4.jpg"/><Relationship Id="rId8" Type="http://schemas.openxmlformats.org/officeDocument/2006/relationships/image" Target="../media/image-12-5.jpg"/><Relationship Id="rId9" Type="http://schemas.openxmlformats.org/officeDocument/2006/relationships/image" Target="../media/image-12-6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3-1.jpg"/><Relationship Id="rId5" Type="http://schemas.openxmlformats.org/officeDocument/2006/relationships/image" Target="../media/image-13-2.jpg"/><Relationship Id="rId6" Type="http://schemas.openxmlformats.org/officeDocument/2006/relationships/image" Target="../media/image-13-3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jpg"/><Relationship Id="rId4" Type="http://schemas.openxmlformats.org/officeDocument/2006/relationships/image" Target="../media/image-14-4.jpg"/><Relationship Id="rId5" Type="http://schemas.openxmlformats.org/officeDocument/2006/relationships/image" Target="../media/image-14-5.jpg"/><Relationship Id="rId6" Type="http://schemas.openxmlformats.org/officeDocument/2006/relationships/image" Target="../media/image-14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image" Target="../media/image-15-3.jpg"/><Relationship Id="rId4" Type="http://schemas.openxmlformats.org/officeDocument/2006/relationships/image" Target="../media/image-1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hyperlink" Target="https://www.instagram.com/reel/DaorwuKvWAj/" TargetMode="External"/><Relationship Id="rId3" Type="http://schemas.openxmlformats.org/officeDocument/2006/relationships/image" Target="../media/image-16-1.jpg"/><Relationship Id="rId4" Type="http://schemas.openxmlformats.org/officeDocument/2006/relationships/image" Target="../media/image-16-2.jpg"/><Relationship Id="rId5" Type="http://schemas.openxmlformats.org/officeDocument/2006/relationships/image" Target="../media/image-16-3.jpg"/><Relationship Id="rId6" Type="http://schemas.openxmlformats.org/officeDocument/2006/relationships/image" Target="../media/image-16-4.jpg"/><Relationship Id="rId7" Type="http://schemas.openxmlformats.org/officeDocument/2006/relationships/image" Target="../media/image-16-5.jpg"/><Relationship Id="rId8" Type="http://schemas.openxmlformats.org/officeDocument/2006/relationships/image" Target="../media/image-16-6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hyperlink" Target="https://www.instagram.com/reel/DaorwuKvWAj/" TargetMode="External"/><Relationship Id="rId3" Type="http://schemas.openxmlformats.org/officeDocument/2006/relationships/image" Target="../media/image-17-1.jpg"/><Relationship Id="rId4" Type="http://schemas.openxmlformats.org/officeDocument/2006/relationships/image" Target="../media/image-17-2.jpg"/><Relationship Id="rId5" Type="http://schemas.openxmlformats.org/officeDocument/2006/relationships/image" Target="../media/image-17-3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image" Target="../media/image-18-3.jpg"/><Relationship Id="rId4" Type="http://schemas.openxmlformats.org/officeDocument/2006/relationships/image" Target="../media/image-18-4.jpg"/><Relationship Id="rId5" Type="http://schemas.openxmlformats.org/officeDocument/2006/relationships/image" Target="../media/image-18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image" Target="../media/image-19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11480" y="1737360"/>
            <a:ext cx="1371600" cy="0"/>
          </a:xfrm>
          <a:prstGeom prst="line">
            <a:avLst/>
          </a:prstGeom>
          <a:noFill/>
          <a:ln w="2794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9202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 8本</a:t>
            </a:r>
            <a:endParaRPr lang="en-US" sz="4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企画・構成・絵コンテ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11480" y="3429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150" kern="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Eight Films / Plan, Structure, Storyboard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5486400"/>
            <a:ext cx="11368735" cy="0"/>
          </a:xfrm>
          <a:prstGeom prst="line">
            <a:avLst/>
          </a:prstGeom>
          <a:noFill/>
          <a:ln w="12700">
            <a:solidFill>
              <a:srgbClr val="E6DE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5614416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2026年9月3日　第4版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株式会社B supply　宮下 詩織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テロップはすべて日本語と英語の二本立てで記載しています。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19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 次　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11480" y="6217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8本の動画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1170432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〜5本目と7本目は参考動画があり、絵コンテの写真もそこから抜いています。いただいた録画は2倍速再生だったため、参考動画の秒数はすべて1倍速に換算した値です（録画は動画の一部を切り取ったものなので、動画そのものの全長とは異なる場合があります）。6本目は参考動画をいただき次第、内容を確定します。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91640"/>
          <a:ext cx="11368735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3017520"/>
                <a:gridCol w="1417320"/>
                <a:gridCol w="2606040"/>
                <a:gridCol w="38404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#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タイトル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尺・本数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届ける相手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今日の服に、合う色。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 Colour for Every Outfit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新規・リピーター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（innovator SWEDEN）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この道、20年。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Twenty Years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新規（まだ知らない人）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2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3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（コバ塗り・477万再生）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The Making of the Royale M Tote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ロワイヤルMトートの作りかた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メディア関係者・ハイエンド層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4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（delvaux）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絵になる日常を。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Everyday, Worth a Frame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仕事道具として買う人・贈る人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5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（parisawangny・メイン）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6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（yifan.liii × COACH）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1979年から、東京で。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Since 1979, Tokyo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75秒 ×1／60秒短縮版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メディア関係者・OEMの調達担当・新規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7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8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9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（コーポレートムービー）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つくる、確かめる、包む。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Make. Check. Pack.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2分20秒 ×1／無音版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OEMの調達・生産担当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参考動画：未定（工場見学ワンテイク型を推奨）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HURRY UP.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急ぐ朝ほど、迷わない。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25秒 ×3品番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新規（買う直前の人）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0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1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購入者インタビュー（仮タイトル）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Customer Interview (Title TBD)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尺・ショット数＝未定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購入を迷っている新規（仮）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参考動画：未定（購入者インタビュー型を推奨）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19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今日の服に、合う色。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20秒 ／ 12ショット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353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家を出てから会社に着くまでの二十秒。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カメラは固定し、変わるのは服と革の色だけ。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車・電車・エスカレーターが視界を横切った瞬間に切り替える。売り込みはひとつも入れない。玄関一か所、通勤路二か所、会社前一か所で撮り切れる。</a:t>
            </a:r>
            <a:endParaRPr lang="en-US" sz="589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40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589" dirty="0"/>
          </a:p>
        </p:txBody>
      </p:sp>
      <p:sp>
        <p:nvSpPr>
          <p:cNvPr id="12" name="Shape 10"/>
          <p:cNvSpPr/>
          <p:nvPr/>
        </p:nvSpPr>
        <p:spPr>
          <a:xfrm>
            <a:off x="6324448" y="1941364"/>
            <a:ext cx="5455768" cy="90345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32804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33972"/>
            <a:ext cx="5126584" cy="239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6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868" dirty="0"/>
          </a:p>
        </p:txBody>
      </p:sp>
      <p:sp>
        <p:nvSpPr>
          <p:cNvPr id="15" name="Text 13"/>
          <p:cNvSpPr/>
          <p:nvPr/>
        </p:nvSpPr>
        <p:spPr>
          <a:xfrm>
            <a:off x="6489040" y="2518727"/>
            <a:ext cx="5126584" cy="179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outfit.</a:t>
            </a:r>
            <a:endParaRPr lang="en-US" sz="558" dirty="0"/>
          </a:p>
        </p:txBody>
      </p:sp>
      <p:sp>
        <p:nvSpPr>
          <p:cNvPr id="16" name="Text 14"/>
          <p:cNvSpPr/>
          <p:nvPr/>
        </p:nvSpPr>
        <p:spPr>
          <a:xfrm>
            <a:off x="6324448" y="295455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 レ ー シ ョ ン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137430"/>
            <a:ext cx="5455768" cy="329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毎日をカラフルに</a:t>
            </a:r>
            <a:pPr indent="0" marL="0">
              <a:lnSpc>
                <a:spcPct val="134000"/>
              </a:lnSpc>
              <a:buNone/>
            </a:pPr>
            <a:endParaRPr lang="en-US" sz="527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endParaRPr lang="en-US" sz="527" dirty="0"/>
          </a:p>
        </p:txBody>
      </p:sp>
      <p:sp>
        <p:nvSpPr>
          <p:cNvPr id="18" name="Text 16"/>
          <p:cNvSpPr/>
          <p:nvPr/>
        </p:nvSpPr>
        <p:spPr>
          <a:xfrm>
            <a:off x="2235365" y="3777771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支度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0-4秒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235365" y="4033803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2235365" y="4033803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235365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玄関。財布をポケットに入れる（寄り）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3484093" y="4033803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3484093" y="4033803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484093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ドアノブに手がかかる（超寄り）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4732820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6" name="Image 0" descr="/home/user/dougaseisaku/assets/ref4/1_S1_03_玄関を出た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820" y="4688351"/>
            <a:ext cx="1157288" cy="748304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4732820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732820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ドアが開き、外へ出る（引き・逆光）</a:t>
            </a:r>
            <a:endParaRPr lang="en-US" sz="720" dirty="0"/>
          </a:p>
        </p:txBody>
      </p:sp>
      <p:sp>
        <p:nvSpPr>
          <p:cNvPr id="29" name="Text 26"/>
          <p:cNvSpPr/>
          <p:nvPr/>
        </p:nvSpPr>
        <p:spPr>
          <a:xfrm>
            <a:off x="6301588" y="3777771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変わる①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4-9秒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301588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1" name="Image 1" descr="/home/user/dougaseisaku/assets/ref4/1_S2_01_同じ画角で服が変わ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1588" y="4688351"/>
            <a:ext cx="1157288" cy="748304"/>
          </a:xfrm>
          <a:prstGeom prst="rect">
            <a:avLst/>
          </a:prstGeom>
        </p:spPr>
      </p:pic>
      <p:sp>
        <p:nvSpPr>
          <p:cNvPr id="32" name="Shape 28"/>
          <p:cNvSpPr/>
          <p:nvPr/>
        </p:nvSpPr>
        <p:spPr>
          <a:xfrm>
            <a:off x="6301588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6301588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同じ画角のまま服が変わっている。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小物の色も変わる</a:t>
            </a:r>
            <a:endParaRPr lang="en-US" sz="720" dirty="0"/>
          </a:p>
        </p:txBody>
      </p:sp>
      <p:sp>
        <p:nvSpPr>
          <p:cNvPr id="34" name="Shape 30"/>
          <p:cNvSpPr/>
          <p:nvPr/>
        </p:nvSpPr>
        <p:spPr>
          <a:xfrm>
            <a:off x="7550315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5" name="Image 2" descr="/home/user/dougaseisaku/assets/ref4/1_S2_02_通り過ぎてトランジション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0315" y="4688351"/>
            <a:ext cx="1157288" cy="748304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7550315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7550315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車が横切る → 抜けたら別の服・別の色</a:t>
            </a:r>
            <a:endParaRPr lang="en-US" sz="720" dirty="0"/>
          </a:p>
        </p:txBody>
      </p:sp>
      <p:sp>
        <p:nvSpPr>
          <p:cNvPr id="38" name="Shape 33"/>
          <p:cNvSpPr/>
          <p:nvPr/>
        </p:nvSpPr>
        <p:spPr>
          <a:xfrm>
            <a:off x="8799043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9" name="Image 3" descr="/home/user/dougaseisaku/assets/ref4/1_S2_03_別の色の小物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9043" y="4688351"/>
            <a:ext cx="1157288" cy="748304"/>
          </a:xfrm>
          <a:prstGeom prst="rect">
            <a:avLst/>
          </a:prstGeom>
        </p:spPr>
      </p:pic>
      <p:sp>
        <p:nvSpPr>
          <p:cNvPr id="40" name="Shape 34"/>
          <p:cNvSpPr/>
          <p:nvPr/>
        </p:nvSpPr>
        <p:spPr>
          <a:xfrm>
            <a:off x="8799043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8799043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手元の小物だけに寄る（キャメル）</a:t>
            </a:r>
            <a:endParaRPr lang="en-US" sz="720" dirty="0"/>
          </a:p>
        </p:txBody>
      </p:sp>
      <p:sp>
        <p:nvSpPr>
          <p:cNvPr id="42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3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19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今日の服に、合う色。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20秒 ／ 12ショット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353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家を出てから会社に着くまでの二十秒。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カメラは固定し、変わるのは服と革の色だけ。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車・電車・エスカレーターが視界を横切った瞬間に切り替える。売り込みはひとつも入れない。玄関一か所、通勤路二か所、会社前一か所で撮り切れる。</a:t>
            </a:r>
            <a:endParaRPr lang="en-US" sz="589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40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589" dirty="0"/>
          </a:p>
        </p:txBody>
      </p:sp>
      <p:sp>
        <p:nvSpPr>
          <p:cNvPr id="12" name="Shape 10"/>
          <p:cNvSpPr/>
          <p:nvPr/>
        </p:nvSpPr>
        <p:spPr>
          <a:xfrm>
            <a:off x="6324448" y="1941364"/>
            <a:ext cx="5455768" cy="90345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32804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33972"/>
            <a:ext cx="5126584" cy="239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6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868" dirty="0"/>
          </a:p>
        </p:txBody>
      </p:sp>
      <p:sp>
        <p:nvSpPr>
          <p:cNvPr id="15" name="Text 13"/>
          <p:cNvSpPr/>
          <p:nvPr/>
        </p:nvSpPr>
        <p:spPr>
          <a:xfrm>
            <a:off x="6489040" y="2518727"/>
            <a:ext cx="5126584" cy="179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outfit.</a:t>
            </a:r>
            <a:endParaRPr lang="en-US" sz="558" dirty="0"/>
          </a:p>
        </p:txBody>
      </p:sp>
      <p:sp>
        <p:nvSpPr>
          <p:cNvPr id="16" name="Text 14"/>
          <p:cNvSpPr/>
          <p:nvPr/>
        </p:nvSpPr>
        <p:spPr>
          <a:xfrm>
            <a:off x="6324448" y="295455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 レ ー シ ョ ン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137430"/>
            <a:ext cx="5455768" cy="329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毎日をカラフルに</a:t>
            </a:r>
            <a:pPr indent="0" marL="0">
              <a:lnSpc>
                <a:spcPct val="134000"/>
              </a:lnSpc>
              <a:buNone/>
            </a:pPr>
            <a:endParaRPr lang="en-US" sz="527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endParaRPr lang="en-US" sz="527" dirty="0"/>
          </a:p>
        </p:txBody>
      </p:sp>
      <p:sp>
        <p:nvSpPr>
          <p:cNvPr id="18" name="Text 16"/>
          <p:cNvSpPr/>
          <p:nvPr/>
        </p:nvSpPr>
        <p:spPr>
          <a:xfrm>
            <a:off x="2235365" y="3777771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変わる②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9-15秒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235365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3_01_さらに別の色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5365" y="4688351"/>
            <a:ext cx="1157288" cy="748304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235365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235365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電車が通り過ぎる → 抜けたら変わっている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484093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3_02_建物内で変わ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4093" y="4688351"/>
            <a:ext cx="1157288" cy="748304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484093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484093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エスカレーターを上がりきると変わっている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732820" y="4033803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8" name="Text 24"/>
          <p:cNvSpPr/>
          <p:nvPr/>
        </p:nvSpPr>
        <p:spPr>
          <a:xfrm>
            <a:off x="4732820" y="4033803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29" name="Text 25"/>
          <p:cNvSpPr/>
          <p:nvPr/>
        </p:nvSpPr>
        <p:spPr>
          <a:xfrm>
            <a:off x="4732820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歩く足元（ロー）。手元の色だけが見える</a:t>
            </a:r>
            <a:endParaRPr lang="en-US" sz="720" dirty="0"/>
          </a:p>
        </p:txBody>
      </p:sp>
      <p:sp>
        <p:nvSpPr>
          <p:cNvPr id="30" name="Text 26"/>
          <p:cNvSpPr/>
          <p:nvPr/>
        </p:nvSpPr>
        <p:spPr>
          <a:xfrm>
            <a:off x="6301588" y="3777771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到着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15-20秒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6301588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2" descr="/home/user/dougaseisaku/assets/ref4/1_S4_01_到着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688351"/>
            <a:ext cx="1157288" cy="748304"/>
          </a:xfrm>
          <a:prstGeom prst="rect">
            <a:avLst/>
          </a:prstGeom>
        </p:spPr>
      </p:pic>
      <p:sp>
        <p:nvSpPr>
          <p:cNvPr id="33" name="Shape 28"/>
          <p:cNvSpPr/>
          <p:nvPr/>
        </p:nvSpPr>
        <p:spPr>
          <a:xfrm>
            <a:off x="6301588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6301588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会社のエントランス。ここが到着点</a:t>
            </a:r>
            <a:endParaRPr lang="en-US" sz="720" dirty="0"/>
          </a:p>
        </p:txBody>
      </p:sp>
      <p:sp>
        <p:nvSpPr>
          <p:cNvPr id="35" name="Shape 30"/>
          <p:cNvSpPr/>
          <p:nvPr/>
        </p:nvSpPr>
        <p:spPr>
          <a:xfrm>
            <a:off x="7550315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6" name="Image 3" descr="/home/user/dougaseisaku/assets/ref4/1_S4_02_全色が並ぶ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0315" y="4688351"/>
            <a:ext cx="1157288" cy="748304"/>
          </a:xfrm>
          <a:prstGeom prst="rect">
            <a:avLst/>
          </a:prstGeom>
        </p:spPr>
      </p:pic>
      <p:sp>
        <p:nvSpPr>
          <p:cNvPr id="37" name="Shape 31"/>
          <p:cNvSpPr/>
          <p:nvPr/>
        </p:nvSpPr>
        <p:spPr>
          <a:xfrm>
            <a:off x="7550315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7550315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真俯瞰。四色が並ぶ</a:t>
            </a:r>
            <a:endParaRPr lang="en-US" sz="720" dirty="0"/>
          </a:p>
        </p:txBody>
      </p:sp>
      <p:sp>
        <p:nvSpPr>
          <p:cNvPr id="39" name="Shape 33"/>
          <p:cNvSpPr/>
          <p:nvPr/>
        </p:nvSpPr>
        <p:spPr>
          <a:xfrm>
            <a:off x="8799043" y="4033803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0" name="Text 34"/>
          <p:cNvSpPr/>
          <p:nvPr/>
        </p:nvSpPr>
        <p:spPr>
          <a:xfrm>
            <a:off x="8799043" y="4033803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41" name="Text 35"/>
          <p:cNvSpPr/>
          <p:nvPr/>
        </p:nvSpPr>
        <p:spPr>
          <a:xfrm>
            <a:off x="8799043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 1.5秒 → ロゴ 0.5秒</a:t>
            </a:r>
            <a:endParaRPr lang="en-US" sz="720" dirty="0"/>
          </a:p>
        </p:txBody>
      </p:sp>
      <p:sp>
        <p:nvSpPr>
          <p:cNvPr id="42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3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19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18ショット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465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真俯瞰と横の二つだけ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。音はカメラのマイクでは録れないので、スマホを手元三十センチに置いて別録りする。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S3のコバ塗りがこの一本の核。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一カットの中でビフォーアフターが起きる。参考動画が四百七十七万回見られた理由がこれ。最後は作業机で終わらせず、使われている場所に置いて終える。</a:t>
            </a:r>
            <a:endParaRPr lang="en-US" sz="589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40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589" dirty="0"/>
          </a:p>
        </p:txBody>
      </p:sp>
      <p:sp>
        <p:nvSpPr>
          <p:cNvPr id="12" name="Shape 10"/>
          <p:cNvSpPr/>
          <p:nvPr/>
        </p:nvSpPr>
        <p:spPr>
          <a:xfrm>
            <a:off x="6324448" y="1941364"/>
            <a:ext cx="5455768" cy="90345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32804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33972"/>
            <a:ext cx="5126584" cy="239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6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868" dirty="0"/>
          </a:p>
        </p:txBody>
      </p:sp>
      <p:sp>
        <p:nvSpPr>
          <p:cNvPr id="15" name="Text 13"/>
          <p:cNvSpPr/>
          <p:nvPr/>
        </p:nvSpPr>
        <p:spPr>
          <a:xfrm>
            <a:off x="6489040" y="2518727"/>
            <a:ext cx="5126584" cy="179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558" dirty="0"/>
          </a:p>
        </p:txBody>
      </p:sp>
      <p:sp>
        <p:nvSpPr>
          <p:cNvPr id="16" name="Text 14"/>
          <p:cNvSpPr/>
          <p:nvPr/>
        </p:nvSpPr>
        <p:spPr>
          <a:xfrm>
            <a:off x="6324448" y="295455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 バ 塗 り の カ ッ ト で 出 す テ ロ ッ プ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137430"/>
            <a:ext cx="5455768" cy="43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527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527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527" dirty="0"/>
          </a:p>
        </p:txBody>
      </p:sp>
      <p:sp>
        <p:nvSpPr>
          <p:cNvPr id="18" name="Text 16"/>
          <p:cNvSpPr/>
          <p:nvPr/>
        </p:nvSpPr>
        <p:spPr>
          <a:xfrm>
            <a:off x="2235365" y="3878486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音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0-3秒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235365" y="4134518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1_01_刃が革に入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5365" y="4281475"/>
            <a:ext cx="1157288" cy="176348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235365" y="4134518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235365" y="6228494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超マクロ。刃が革に入る瞬間。何を見ているか分からない距離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484093" y="4134518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4" name="Text 21"/>
          <p:cNvSpPr/>
          <p:nvPr/>
        </p:nvSpPr>
        <p:spPr>
          <a:xfrm>
            <a:off x="3484093" y="4134518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3484093" y="6228494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刃が進み、革の繊維が開いていく（超マクロ・同じ画角のまま）</a:t>
            </a:r>
            <a:endParaRPr lang="en-US" sz="720" dirty="0"/>
          </a:p>
        </p:txBody>
      </p:sp>
      <p:sp>
        <p:nvSpPr>
          <p:cNvPr id="26" name="Shape 23"/>
          <p:cNvSpPr/>
          <p:nvPr/>
        </p:nvSpPr>
        <p:spPr>
          <a:xfrm>
            <a:off x="4732820" y="4134518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7" name="Text 24"/>
          <p:cNvSpPr/>
          <p:nvPr/>
        </p:nvSpPr>
        <p:spPr>
          <a:xfrm>
            <a:off x="4732820" y="4134518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4732820" y="6228494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「スッ」と抜ける一音だけ。BGMは鳴らさない</a:t>
            </a:r>
            <a:endParaRPr lang="en-US" sz="720" dirty="0"/>
          </a:p>
        </p:txBody>
      </p:sp>
      <p:sp>
        <p:nvSpPr>
          <p:cNvPr id="29" name="Text 26"/>
          <p:cNvSpPr/>
          <p:nvPr/>
        </p:nvSpPr>
        <p:spPr>
          <a:xfrm>
            <a:off x="6301588" y="3878486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裁つ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3-11秒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301588" y="4134518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1" name="Image 1" descr="/home/user/dougaseisaku/assets/ref4/2_S2_01_金属定規で直線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281475"/>
            <a:ext cx="1157288" cy="1763486"/>
          </a:xfrm>
          <a:prstGeom prst="rect">
            <a:avLst/>
          </a:prstGeom>
        </p:spPr>
      </p:pic>
      <p:sp>
        <p:nvSpPr>
          <p:cNvPr id="32" name="Shape 28"/>
          <p:cNvSpPr/>
          <p:nvPr/>
        </p:nvSpPr>
        <p:spPr>
          <a:xfrm>
            <a:off x="6301588" y="4134518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6301588" y="6228494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金属定規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を当てて直線を一気に引く</a:t>
            </a:r>
            <a:endParaRPr lang="en-US" sz="720" dirty="0"/>
          </a:p>
        </p:txBody>
      </p:sp>
      <p:sp>
        <p:nvSpPr>
          <p:cNvPr id="34" name="Shape 30"/>
          <p:cNvSpPr/>
          <p:nvPr/>
        </p:nvSpPr>
        <p:spPr>
          <a:xfrm>
            <a:off x="7550315" y="4134518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5" name="Image 2" descr="/home/user/dougaseisaku/assets/ref4/2_S2_02_角を丸く回す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0315" y="4281475"/>
            <a:ext cx="1157288" cy="1763486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7550315" y="4134518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7550315" y="6228494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四十五度。角を丸く回して切る</a:t>
            </a:r>
            <a:endParaRPr lang="en-US" sz="720" dirty="0"/>
          </a:p>
        </p:txBody>
      </p:sp>
      <p:sp>
        <p:nvSpPr>
          <p:cNvPr id="38" name="Shape 33"/>
          <p:cNvSpPr/>
          <p:nvPr/>
        </p:nvSpPr>
        <p:spPr>
          <a:xfrm>
            <a:off x="8799043" y="4134518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9" name="Text 34"/>
          <p:cNvSpPr/>
          <p:nvPr/>
        </p:nvSpPr>
        <p:spPr>
          <a:xfrm>
            <a:off x="8799043" y="4134518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40" name="Text 35"/>
          <p:cNvSpPr/>
          <p:nvPr/>
        </p:nvSpPr>
        <p:spPr>
          <a:xfrm>
            <a:off x="8799043" y="6228494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切り落とした端材が台に落ちる（寄り）</a:t>
            </a:r>
            <a:endParaRPr lang="en-US" sz="720" dirty="0"/>
          </a:p>
        </p:txBody>
      </p:sp>
      <p:sp>
        <p:nvSpPr>
          <p:cNvPr id="41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2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19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18ショット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465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真俯瞰と横の二つだけ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。音はカメラのマイクでは録れないので、スマホを手元三十センチに置いて別録りする。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S3のコバ塗りがこの一本の核。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一カットの中でビフォーアフターが起きる。参考動画が四百七十七万回見られた理由がこれ。最後は作業机で終わらせず、使われている場所に置いて終える。</a:t>
            </a:r>
            <a:endParaRPr lang="en-US" sz="589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40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589" dirty="0"/>
          </a:p>
        </p:txBody>
      </p:sp>
      <p:sp>
        <p:nvSpPr>
          <p:cNvPr id="12" name="Shape 10"/>
          <p:cNvSpPr/>
          <p:nvPr/>
        </p:nvSpPr>
        <p:spPr>
          <a:xfrm>
            <a:off x="6324448" y="1941364"/>
            <a:ext cx="5455768" cy="90345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32804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33972"/>
            <a:ext cx="5126584" cy="239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6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868" dirty="0"/>
          </a:p>
        </p:txBody>
      </p:sp>
      <p:sp>
        <p:nvSpPr>
          <p:cNvPr id="15" name="Text 13"/>
          <p:cNvSpPr/>
          <p:nvPr/>
        </p:nvSpPr>
        <p:spPr>
          <a:xfrm>
            <a:off x="6489040" y="2518727"/>
            <a:ext cx="5126584" cy="179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558" dirty="0"/>
          </a:p>
        </p:txBody>
      </p:sp>
      <p:sp>
        <p:nvSpPr>
          <p:cNvPr id="16" name="Text 14"/>
          <p:cNvSpPr/>
          <p:nvPr/>
        </p:nvSpPr>
        <p:spPr>
          <a:xfrm>
            <a:off x="6324448" y="295455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 バ 塗 り の カ ッ ト で 出 す テ ロ ッ プ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137430"/>
            <a:ext cx="5455768" cy="43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527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527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527" dirty="0"/>
          </a:p>
        </p:txBody>
      </p:sp>
      <p:sp>
        <p:nvSpPr>
          <p:cNvPr id="18" name="Text 16"/>
          <p:cNvSpPr/>
          <p:nvPr/>
        </p:nvSpPr>
        <p:spPr>
          <a:xfrm>
            <a:off x="2235365" y="3878486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穴を開ける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11-17秒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235365" y="4134518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2235365" y="4134518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235365" y="6228494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菱目打ちを槌で打つ。同じ音が三回続く（横）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3484093" y="4134518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3484093" y="4134518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484093" y="6228494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真俯瞰。等間隔に並んだ穴だけが画面に残る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4732820" y="4134518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6" name="Image 0" descr="/home/user/dougaseisaku/assets/ref4/2_S2_03_作業台と職人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2820" y="4579314"/>
            <a:ext cx="1157288" cy="1167808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4732820" y="4134518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732820" y="6228494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真俯瞰。作業台と職人の手全体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（引き）。ここで一度引く</a:t>
            </a:r>
            <a:endParaRPr lang="en-US" sz="720" dirty="0"/>
          </a:p>
        </p:txBody>
      </p:sp>
      <p:sp>
        <p:nvSpPr>
          <p:cNvPr id="29" name="Text 26"/>
          <p:cNvSpPr/>
          <p:nvPr/>
        </p:nvSpPr>
        <p:spPr>
          <a:xfrm>
            <a:off x="6301588" y="3878486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縫う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17-24秒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301588" y="4134518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1" name="Image 1" descr="/home/user/dougaseisaku/assets/ref4/2_S3_01_針と糸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281475"/>
            <a:ext cx="1157288" cy="1763486"/>
          </a:xfrm>
          <a:prstGeom prst="rect">
            <a:avLst/>
          </a:prstGeom>
        </p:spPr>
      </p:pic>
      <p:sp>
        <p:nvSpPr>
          <p:cNvPr id="32" name="Shape 28"/>
          <p:cNvSpPr/>
          <p:nvPr/>
        </p:nvSpPr>
        <p:spPr>
          <a:xfrm>
            <a:off x="6301588" y="4134518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6301588" y="6228494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真俯瞰。針が革を抜ける</a:t>
            </a:r>
            <a:endParaRPr lang="en-US" sz="720" dirty="0"/>
          </a:p>
        </p:txBody>
      </p:sp>
      <p:sp>
        <p:nvSpPr>
          <p:cNvPr id="34" name="Shape 30"/>
          <p:cNvSpPr/>
          <p:nvPr/>
        </p:nvSpPr>
        <p:spPr>
          <a:xfrm>
            <a:off x="7550315" y="4134518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5" name="Text 31"/>
          <p:cNvSpPr/>
          <p:nvPr/>
        </p:nvSpPr>
        <p:spPr>
          <a:xfrm>
            <a:off x="7550315" y="4134518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36" name="Text 32"/>
          <p:cNvSpPr/>
          <p:nvPr/>
        </p:nvSpPr>
        <p:spPr>
          <a:xfrm>
            <a:off x="7550315" y="6228494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二本の糸が交差して締まる（超マクロ）</a:t>
            </a:r>
            <a:endParaRPr lang="en-US" sz="720" dirty="0"/>
          </a:p>
        </p:txBody>
      </p:sp>
      <p:sp>
        <p:nvSpPr>
          <p:cNvPr id="37" name="Shape 33"/>
          <p:cNvSpPr/>
          <p:nvPr/>
        </p:nvSpPr>
        <p:spPr>
          <a:xfrm>
            <a:off x="8799043" y="4134518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8" name="Image 2" descr="/home/user/dougaseisaku/assets/ref4/2_S3_02_横から目のアップ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9043" y="4606130"/>
            <a:ext cx="1157288" cy="1114176"/>
          </a:xfrm>
          <a:prstGeom prst="rect">
            <a:avLst/>
          </a:prstGeom>
        </p:spPr>
      </p:pic>
      <p:sp>
        <p:nvSpPr>
          <p:cNvPr id="39" name="Shape 34"/>
          <p:cNvSpPr/>
          <p:nvPr/>
        </p:nvSpPr>
        <p:spPr>
          <a:xfrm>
            <a:off x="8799043" y="4134518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8799043" y="6228494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横から。目だけのアップ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。顔全体は入れない</a:t>
            </a:r>
            <a:endParaRPr lang="en-US" sz="720" dirty="0"/>
          </a:p>
        </p:txBody>
      </p:sp>
      <p:sp>
        <p:nvSpPr>
          <p:cNvPr id="41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2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/ 19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18ショット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465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真俯瞰と横の二つだけ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。音はカメラのマイクでは録れないので、スマホを手元三十センチに置いて別録りする。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S3のコバ塗りがこの一本の核。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一カットの中でビフォーアフターが起きる。参考動画が四百七十七万回見られた理由がこれ。最後は作業机で終わらせず、使われている場所に置いて終える。</a:t>
            </a:r>
            <a:endParaRPr lang="en-US" sz="589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40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589" dirty="0"/>
          </a:p>
        </p:txBody>
      </p:sp>
      <p:sp>
        <p:nvSpPr>
          <p:cNvPr id="12" name="Shape 10"/>
          <p:cNvSpPr/>
          <p:nvPr/>
        </p:nvSpPr>
        <p:spPr>
          <a:xfrm>
            <a:off x="6324448" y="1941364"/>
            <a:ext cx="5455768" cy="90345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32804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33972"/>
            <a:ext cx="5126584" cy="239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6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868" dirty="0"/>
          </a:p>
        </p:txBody>
      </p:sp>
      <p:sp>
        <p:nvSpPr>
          <p:cNvPr id="15" name="Text 13"/>
          <p:cNvSpPr/>
          <p:nvPr/>
        </p:nvSpPr>
        <p:spPr>
          <a:xfrm>
            <a:off x="6489040" y="2518727"/>
            <a:ext cx="5126584" cy="179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558" dirty="0"/>
          </a:p>
        </p:txBody>
      </p:sp>
      <p:sp>
        <p:nvSpPr>
          <p:cNvPr id="16" name="Text 14"/>
          <p:cNvSpPr/>
          <p:nvPr/>
        </p:nvSpPr>
        <p:spPr>
          <a:xfrm>
            <a:off x="6324448" y="295455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 バ 塗 り の カ ッ ト で 出 す テ ロ ッ プ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137430"/>
            <a:ext cx="5455768" cy="43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527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527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527" dirty="0"/>
          </a:p>
        </p:txBody>
      </p:sp>
      <p:sp>
        <p:nvSpPr>
          <p:cNvPr id="18" name="Text 16"/>
          <p:cNvSpPr/>
          <p:nvPr/>
        </p:nvSpPr>
        <p:spPr>
          <a:xfrm>
            <a:off x="2235365" y="3878486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コバ塗り ★核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24-33秒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235365" y="4134518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2235365" y="4134518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235365" y="6228494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塗る直前。断面はまだ生成りのまま（超マクロ）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3484093" y="4134518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3" name="Image 0" descr="/home/user/dougaseisaku/assets/ref4/2_S3_03b_コバ塗り_ワンカット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4093" y="4377136"/>
            <a:ext cx="1157288" cy="1572164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3484093" y="4134518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484093" y="6228494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 ★核。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塗った側と塗っていない側が同じ画面に入る。長回し・カットを割らない</a:t>
            </a:r>
            <a:endParaRPr lang="en-US" sz="720" dirty="0"/>
          </a:p>
        </p:txBody>
      </p:sp>
      <p:sp>
        <p:nvSpPr>
          <p:cNvPr id="26" name="Shape 23"/>
          <p:cNvSpPr/>
          <p:nvPr/>
        </p:nvSpPr>
        <p:spPr>
          <a:xfrm>
            <a:off x="4732820" y="4134518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7" name="Image 1" descr="/home/user/dougaseisaku/assets/ref4/2_S3_03_コバ塗り_寄り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2820" y="4377136"/>
            <a:ext cx="1157288" cy="1572164"/>
          </a:xfrm>
          <a:prstGeom prst="rect">
            <a:avLst/>
          </a:prstGeom>
        </p:spPr>
      </p:pic>
      <p:sp>
        <p:nvSpPr>
          <p:cNvPr id="28" name="Shape 24"/>
          <p:cNvSpPr/>
          <p:nvPr/>
        </p:nvSpPr>
        <p:spPr>
          <a:xfrm>
            <a:off x="4732820" y="4134518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4732820" y="6228494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塗り終わり。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同じ画角のまま断面の色が変わりきっている</a:t>
            </a:r>
            <a:endParaRPr lang="en-US" sz="720" dirty="0"/>
          </a:p>
        </p:txBody>
      </p:sp>
      <p:sp>
        <p:nvSpPr>
          <p:cNvPr id="30" name="Text 26"/>
          <p:cNvSpPr/>
          <p:nvPr/>
        </p:nvSpPr>
        <p:spPr>
          <a:xfrm>
            <a:off x="6301588" y="3878486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磨いて、終わり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33-40秒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6301588" y="4134518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2" descr="/home/user/dougaseisaku/assets/ref4/2_S4_01_仕上げ剤を取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1588" y="4281475"/>
            <a:ext cx="1157288" cy="1763486"/>
          </a:xfrm>
          <a:prstGeom prst="rect">
            <a:avLst/>
          </a:prstGeom>
        </p:spPr>
      </p:pic>
      <p:sp>
        <p:nvSpPr>
          <p:cNvPr id="33" name="Shape 28"/>
          <p:cNvSpPr/>
          <p:nvPr/>
        </p:nvSpPr>
        <p:spPr>
          <a:xfrm>
            <a:off x="6301588" y="4134518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6301588" y="6228494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超マクロ。コバを磨く。摩擦音</a:t>
            </a:r>
            <a:endParaRPr lang="en-US" sz="720" dirty="0"/>
          </a:p>
        </p:txBody>
      </p:sp>
      <p:sp>
        <p:nvSpPr>
          <p:cNvPr id="35" name="Shape 30"/>
          <p:cNvSpPr/>
          <p:nvPr/>
        </p:nvSpPr>
        <p:spPr>
          <a:xfrm>
            <a:off x="7550315" y="4134518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6" name="Text 31"/>
          <p:cNvSpPr/>
          <p:nvPr/>
        </p:nvSpPr>
        <p:spPr>
          <a:xfrm>
            <a:off x="7550315" y="4134518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37" name="Text 32"/>
          <p:cNvSpPr/>
          <p:nvPr/>
        </p:nvSpPr>
        <p:spPr>
          <a:xfrm>
            <a:off x="7550315" y="6228494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手が止まる。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職人の声が一言だけ入る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（台本なし）</a:t>
            </a:r>
            <a:endParaRPr lang="en-US" sz="720" dirty="0"/>
          </a:p>
        </p:txBody>
      </p:sp>
      <p:sp>
        <p:nvSpPr>
          <p:cNvPr id="38" name="Shape 33"/>
          <p:cNvSpPr/>
          <p:nvPr/>
        </p:nvSpPr>
        <p:spPr>
          <a:xfrm>
            <a:off x="8799043" y="4134518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9" name="Image 3" descr="/home/user/dougaseisaku/assets/ref4/2_S4_03_使われる場所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99043" y="4281475"/>
            <a:ext cx="1157288" cy="1763486"/>
          </a:xfrm>
          <a:prstGeom prst="rect">
            <a:avLst/>
          </a:prstGeom>
        </p:spPr>
      </p:pic>
      <p:sp>
        <p:nvSpPr>
          <p:cNvPr id="40" name="Shape 34"/>
          <p:cNvSpPr/>
          <p:nvPr/>
        </p:nvSpPr>
        <p:spPr>
          <a:xfrm>
            <a:off x="8799043" y="4134518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8799043" y="6228494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使われている場所に置かれる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→ テロップ → ロゴ</a:t>
            </a:r>
            <a:endParaRPr lang="en-US" sz="720" dirty="0"/>
          </a:p>
        </p:txBody>
      </p:sp>
      <p:sp>
        <p:nvSpPr>
          <p:cNvPr id="42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3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/ 19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Royale M Tote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ロワイヤルMトートの作りかた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10ショット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（delvaux「le Brillant Tempo」）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黒い布一枚とライト一灯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顔と工房は一切映さない。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映るのは手と、革と、金具だけ。この一本だけは商品を売らない。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：背景（黒／実景）・光（一灯／自然光）・被写体（手だけ／人と機械）・カメラ（固定／歩く）・音（BGM／作業音）・終わり方（ロゴ／梱包と問い合わせ先）。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撮影日も分ける。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681873" y="3174157"/>
            <a:ext cx="42082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闇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0-5秒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681873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3_S1_02_黒の中の光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1873" y="4189086"/>
            <a:ext cx="1341785" cy="867601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1681873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681873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真っ黒。細い光の帯が、革の断面だけを照らす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3115098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3_S1_01_道具が並ぶ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098" y="4189086"/>
            <a:ext cx="1341785" cy="867601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115098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115098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黒の上に道具だけが並ぶ（真俯瞰）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548323" y="3430189"/>
            <a:ext cx="1341785" cy="2385395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4" name="Text 20"/>
          <p:cNvSpPr/>
          <p:nvPr/>
        </p:nvSpPr>
        <p:spPr>
          <a:xfrm>
            <a:off x="4548323" y="3430189"/>
            <a:ext cx="1341785" cy="2385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25" name="Text 21"/>
          <p:cNvSpPr/>
          <p:nvPr/>
        </p:nvSpPr>
        <p:spPr>
          <a:xfrm>
            <a:off x="4548323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無音から、低いBGMが立ち上がる</a:t>
            </a:r>
            <a:endParaRPr lang="en-US" sz="720" dirty="0"/>
          </a:p>
        </p:txBody>
      </p:sp>
      <p:sp>
        <p:nvSpPr>
          <p:cNvPr id="26" name="Text 22"/>
          <p:cNvSpPr/>
          <p:nvPr/>
        </p:nvSpPr>
        <p:spPr>
          <a:xfrm>
            <a:off x="6301588" y="3174157"/>
            <a:ext cx="42082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5-15秒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6301588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3_S2_01_手で革を折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189086"/>
            <a:ext cx="1341785" cy="867601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6301588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6301588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手だけ。革を折り、角を作る。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腕時計・指輪は外す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7734812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3_S2_02_角を作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34812" y="4189086"/>
            <a:ext cx="1341785" cy="867601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7734812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7734812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角が立ち上がる（超マクロ）</a:t>
            </a:r>
            <a:endParaRPr lang="en-US" sz="720" dirty="0"/>
          </a:p>
        </p:txBody>
      </p:sp>
      <p:sp>
        <p:nvSpPr>
          <p:cNvPr id="35" name="Shape 29"/>
          <p:cNvSpPr/>
          <p:nvPr/>
        </p:nvSpPr>
        <p:spPr>
          <a:xfrm>
            <a:off x="9168037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6" name="Image 4" descr="/home/user/dougaseisaku/assets/ref4/3_S2_03_白手袋と金具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68037" y="4189086"/>
            <a:ext cx="1341785" cy="867601"/>
          </a:xfrm>
          <a:prstGeom prst="rect">
            <a:avLst/>
          </a:prstGeom>
        </p:spPr>
      </p:pic>
      <p:sp>
        <p:nvSpPr>
          <p:cNvPr id="37" name="Shape 30"/>
          <p:cNvSpPr/>
          <p:nvPr/>
        </p:nvSpPr>
        <p:spPr>
          <a:xfrm>
            <a:off x="9168037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9168037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白手袋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で金具を持ち、取り付ける。金属が触れる音</a:t>
            </a:r>
            <a:endParaRPr lang="en-US" sz="720" dirty="0"/>
          </a:p>
        </p:txBody>
      </p:sp>
      <p:sp>
        <p:nvSpPr>
          <p:cNvPr id="39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0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/ 19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Royale M Tote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ロワイヤルMトートの作りかた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10ショット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（delvaux「le Brillant Tempo」）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黒い布一枚とライト一灯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顔と工房は一切映さない。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映るのは手と、革と、金具だけ。この一本だけは商品を売らない。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：背景（黒／実景）・光（一灯／自然光）・被写体（手だけ／人と機械）・カメラ（固定／歩く）・音（BGM／作業音）・終わり方（ロゴ／梱包と問い合わせ先）。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撮影日も分ける。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681873" y="3174157"/>
            <a:ext cx="42082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コバ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15-24秒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681873" y="3430189"/>
            <a:ext cx="1341785" cy="2385395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1681873" y="3430189"/>
            <a:ext cx="1341785" cy="2385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681873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コバに染料を入れる（超マクロ）</a:t>
            </a:r>
            <a:endParaRPr lang="en-US" sz="720" dirty="0"/>
          </a:p>
        </p:txBody>
      </p:sp>
      <p:sp>
        <p:nvSpPr>
          <p:cNvPr id="18" name="Shape 16"/>
          <p:cNvSpPr/>
          <p:nvPr/>
        </p:nvSpPr>
        <p:spPr>
          <a:xfrm>
            <a:off x="3115098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9" name="Image 0" descr="/home/user/dougaseisaku/assets/ref4/3_S3_02_磨く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098" y="4189086"/>
            <a:ext cx="1341785" cy="867601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3115098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115098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磨く。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光が断面に反射する角度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を探す</a:t>
            </a:r>
            <a:endParaRPr lang="en-US" sz="720" dirty="0"/>
          </a:p>
        </p:txBody>
      </p:sp>
      <p:sp>
        <p:nvSpPr>
          <p:cNvPr id="22" name="Shape 19"/>
          <p:cNvSpPr/>
          <p:nvPr/>
        </p:nvSpPr>
        <p:spPr>
          <a:xfrm>
            <a:off x="4548323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3" name="Image 1" descr="/home/user/dougaseisaku/assets/ref4/3_S3_03_完成品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8323" y="4189086"/>
            <a:ext cx="1341785" cy="867601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4548323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4548323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完成品が黒の中に浮かぶ。上から一灯だけ</a:t>
            </a:r>
            <a:endParaRPr lang="en-US" sz="720" dirty="0"/>
          </a:p>
        </p:txBody>
      </p:sp>
      <p:sp>
        <p:nvSpPr>
          <p:cNvPr id="26" name="Text 22"/>
          <p:cNvSpPr/>
          <p:nvPr/>
        </p:nvSpPr>
        <p:spPr>
          <a:xfrm>
            <a:off x="6301588" y="3174157"/>
            <a:ext cx="42082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締め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24-28秒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6301588" y="3430189"/>
            <a:ext cx="1341785" cy="2385395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8" name="Text 24"/>
          <p:cNvSpPr/>
          <p:nvPr/>
        </p:nvSpPr>
        <p:spPr>
          <a:xfrm>
            <a:off x="6301588" y="3430189"/>
            <a:ext cx="1341785" cy="2385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29" name="Text 25"/>
          <p:cNvSpPr/>
          <p:nvPr/>
        </p:nvSpPr>
        <p:spPr>
          <a:xfrm>
            <a:off x="6301588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ロゴのみ。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</a:t>
            </a:r>
            <a:endParaRPr lang="en-US" sz="720" dirty="0"/>
          </a:p>
        </p:txBody>
      </p:sp>
      <p:sp>
        <p:nvSpPr>
          <p:cNvPr id="30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1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 / 19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絵になる日常を。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Everyday, Worth a Frame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12ショット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対象＝仕事道具として買う人・贈る人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（parisawangny・メイン）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（yifan.liii × COACH）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映画×vlogの参考から三つを取る。①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電車・看板・柱をトランジションに使う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（1本目と同じ手法）②街の引きの間に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金具や財布の超マクロを差し込む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③テロップは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英語一文を街の壁に重ねるだけ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、画面の下に出さない。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自然光のみ。夕方の斜光。手持ちの揺れを少しだけ残すが、引きの構図はきっちり止める。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一人で完結させる。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誰とも話さない。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この鞄を持った日常は、そのまま絵になる。A4もノートPCも入る。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壁 に 重 ね る 一 文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452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Everyday, worth a frame.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街の白い壁に重ねる。画面の下にテロップは出さない。最後はロゴだけ。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681873" y="3174157"/>
            <a:ext cx="42082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街に出る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0-8秒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681873" y="3430189"/>
            <a:ext cx="1341785" cy="2385395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1681873" y="3430189"/>
            <a:ext cx="1341785" cy="2385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681873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店のガラスの反射に映る（引き）</a:t>
            </a:r>
            <a:endParaRPr lang="en-US" sz="720" dirty="0"/>
          </a:p>
        </p:txBody>
      </p:sp>
      <p:sp>
        <p:nvSpPr>
          <p:cNvPr id="18" name="Shape 16"/>
          <p:cNvSpPr/>
          <p:nvPr/>
        </p:nvSpPr>
        <p:spPr>
          <a:xfrm>
            <a:off x="3115098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9" name="Image 0" descr="/home/user/dougaseisaku/assets/ref4/4_S1_02_街を歩く_縦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098" y="3650092"/>
            <a:ext cx="1341785" cy="1945588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3115098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115098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街を歩く。横移動で追う</a:t>
            </a:r>
            <a:endParaRPr lang="en-US" sz="720" dirty="0"/>
          </a:p>
        </p:txBody>
      </p:sp>
      <p:sp>
        <p:nvSpPr>
          <p:cNvPr id="22" name="Shape 19"/>
          <p:cNvSpPr/>
          <p:nvPr/>
        </p:nvSpPr>
        <p:spPr>
          <a:xfrm>
            <a:off x="4548323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3" name="Image 1" descr="/home/user/dougaseisaku/assets/ref4/4_S1_03_電車通過ブレ_縦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8323" y="3650092"/>
            <a:ext cx="1341785" cy="1945588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4548323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4548323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電車が通り過ぎる（ブレ＝トランジション）</a:t>
            </a:r>
            <a:endParaRPr lang="en-US" sz="720" dirty="0"/>
          </a:p>
        </p:txBody>
      </p:sp>
      <p:sp>
        <p:nvSpPr>
          <p:cNvPr id="26" name="Text 22"/>
          <p:cNvSpPr/>
          <p:nvPr/>
        </p:nvSpPr>
        <p:spPr>
          <a:xfrm>
            <a:off x="6301588" y="3174157"/>
            <a:ext cx="42082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中身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8-17秒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6301588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4_S2_01_真俯瞰で中身を入れる_縦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1588" y="3650092"/>
            <a:ext cx="1341785" cy="1945588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6301588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6301588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手すりに置き、真俯瞰でA4とノートPCを入れる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7734812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4_S2_02_内ポケットに物を入れる_縦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34812" y="3650092"/>
            <a:ext cx="1341785" cy="1945588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7734812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7734812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寄り。内ポケットに名刺入れ・鍵・携帯</a:t>
            </a:r>
            <a:endParaRPr lang="en-US" sz="720" dirty="0"/>
          </a:p>
        </p:txBody>
      </p:sp>
      <p:sp>
        <p:nvSpPr>
          <p:cNvPr id="35" name="Shape 29"/>
          <p:cNvSpPr/>
          <p:nvPr/>
        </p:nvSpPr>
        <p:spPr>
          <a:xfrm>
            <a:off x="9168037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6" name="Image 4" descr="/home/user/dougaseisaku/assets/ref4/4_S2_03_マクロで取り出す_縦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68037" y="3650092"/>
            <a:ext cx="1341785" cy="1945588"/>
          </a:xfrm>
          <a:prstGeom prst="rect">
            <a:avLst/>
          </a:prstGeom>
        </p:spPr>
      </p:pic>
      <p:sp>
        <p:nvSpPr>
          <p:cNvPr id="37" name="Shape 30"/>
          <p:cNvSpPr/>
          <p:nvPr/>
        </p:nvSpPr>
        <p:spPr>
          <a:xfrm>
            <a:off x="9168037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9168037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財布に何かを差し込む超マクロ</a:t>
            </a:r>
            <a:endParaRPr lang="en-US" sz="720" dirty="0"/>
          </a:p>
        </p:txBody>
      </p:sp>
      <p:sp>
        <p:nvSpPr>
          <p:cNvPr id="39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0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/ 19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絵になる日常を。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Everyday, Worth a Frame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12ショット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対象＝仕事道具として買う人・贈る人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（parisawangny・メイン）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（yifan.liii × COACH）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映画×vlogの参考から三つを取る。①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電車・看板・柱をトランジションに使う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（1本目と同じ手法）②街の引きの間に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金具や財布の超マクロを差し込む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③テロップは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英語一文を街の壁に重ねるだけ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、画面の下に出さない。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自然光のみ。夕方の斜光。手持ちの揺れを少しだけ残すが、引きの構図はきっちり止める。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一人で完結させる。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誰とも話さない。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この鞄を持った日常は、そのまま絵になる。A4もノートPCも入る。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壁 に 重 ね る 一 文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452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Everyday, worth a frame.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街の白い壁に重ねる。画面の下にテロップは出さない。最後はロゴだけ。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681873" y="3174157"/>
            <a:ext cx="42082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一人の時間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17-25秒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681873" y="3430189"/>
            <a:ext cx="1341785" cy="2385395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1681873" y="3430189"/>
            <a:ext cx="1341785" cy="2385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681873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カフェの窓際。自然光・浅い被写界深度</a:t>
            </a:r>
            <a:endParaRPr lang="en-US" sz="720" dirty="0"/>
          </a:p>
        </p:txBody>
      </p:sp>
      <p:sp>
        <p:nvSpPr>
          <p:cNvPr id="18" name="Shape 16"/>
          <p:cNvSpPr/>
          <p:nvPr/>
        </p:nvSpPr>
        <p:spPr>
          <a:xfrm>
            <a:off x="3115098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9" name="Image 0" descr="/home/user/dougaseisaku/assets/ref4/4_S3_02_金具マクロ_縦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098" y="3650092"/>
            <a:ext cx="1341785" cy="1945588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3115098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115098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金具のロゴに超マクロ</a:t>
            </a:r>
            <a:endParaRPr lang="en-US" sz="720" dirty="0"/>
          </a:p>
        </p:txBody>
      </p:sp>
      <p:sp>
        <p:nvSpPr>
          <p:cNvPr id="22" name="Shape 19"/>
          <p:cNvSpPr/>
          <p:nvPr/>
        </p:nvSpPr>
        <p:spPr>
          <a:xfrm>
            <a:off x="4548323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3" name="Image 1" descr="/home/user/dougaseisaku/assets/ref4/4_S3_03_高い場所に立つ_縦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8323" y="3650092"/>
            <a:ext cx="1341785" cy="1945588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4548323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4548323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高い場所に立つ（引き・映画的）</a:t>
            </a:r>
            <a:endParaRPr lang="en-US" sz="720" dirty="0"/>
          </a:p>
        </p:txBody>
      </p:sp>
      <p:sp>
        <p:nvSpPr>
          <p:cNvPr id="26" name="Text 22"/>
          <p:cNvSpPr/>
          <p:nvPr/>
        </p:nvSpPr>
        <p:spPr>
          <a:xfrm>
            <a:off x="6301588" y="3174157"/>
            <a:ext cx="42082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締め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25-30秒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6301588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4_S4_01_街に置く_縦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1588" y="3650092"/>
            <a:ext cx="1341785" cy="1945588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6301588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6301588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街に置く。背景をボカして流す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7734812" y="3430189"/>
            <a:ext cx="1341785" cy="2385395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2" name="Text 27"/>
          <p:cNvSpPr/>
          <p:nvPr/>
        </p:nvSpPr>
        <p:spPr>
          <a:xfrm>
            <a:off x="7734812" y="3430189"/>
            <a:ext cx="1341785" cy="2385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33" name="Text 28"/>
          <p:cNvSpPr/>
          <p:nvPr/>
        </p:nvSpPr>
        <p:spPr>
          <a:xfrm>
            <a:off x="7734812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白い壁の前。正面。壁に英語一文を重ねる</a:t>
            </a:r>
            <a:endParaRPr lang="en-US" sz="720" dirty="0"/>
          </a:p>
        </p:txBody>
      </p:sp>
      <p:sp>
        <p:nvSpPr>
          <p:cNvPr id="34" name="Shape 29"/>
          <p:cNvSpPr/>
          <p:nvPr/>
        </p:nvSpPr>
        <p:spPr>
          <a:xfrm>
            <a:off x="9168037" y="3430189"/>
            <a:ext cx="1341785" cy="2385395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5" name="Text 30"/>
          <p:cNvSpPr/>
          <p:nvPr/>
        </p:nvSpPr>
        <p:spPr>
          <a:xfrm>
            <a:off x="9168037" y="3430189"/>
            <a:ext cx="1341785" cy="2385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36" name="Text 31"/>
          <p:cNvSpPr/>
          <p:nvPr/>
        </p:nvSpPr>
        <p:spPr>
          <a:xfrm>
            <a:off x="9168037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ロゴのみ。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</a:t>
            </a:r>
            <a:endParaRPr lang="en-US" sz="720" dirty="0"/>
          </a:p>
        </p:txBody>
      </p:sp>
      <p:sp>
        <p:nvSpPr>
          <p:cNvPr id="37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8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 / 19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1979年から、東京で。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Since 1979, Tokyo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七十五秒（最長でも九十秒まで） ／ 12ショット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（鍛治島工業・メイン）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（コーポレートムービー）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6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会社を一本で説明できる映像がない。公式サイトのHISTORYページは中身が作られないまま公開されている。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ナレーションは永尾社長の声だけ。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画には映らず、三十分の収録から経営方針についての本音を拾う（台本の読み上げではない）。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製造パートは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鍛治島工業の参考動画をメインに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、特定の一人ではなく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向島工房の職人全員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を映す。BROOKLYN MUSEUM 店舗・企画中の商品・草ヶ谷さんの手元・購入されるシーンまで、会社の全体像を満遍なく差し込む。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想定ナレーション（仮の言葉）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：「革一枚から」（S1）→「変えていないのは革を見る目」（S2）→「これから」（S3）→「作る場所は変わっていません」（S4）</a:t>
            </a:r>
            <a:endParaRPr lang="en-US" sz="589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40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1979年から続く会社が、いま向島の工房と一つになった。永尾社長の声だけが、全編に流れる。</a:t>
            </a:r>
            <a:endParaRPr lang="en-US" sz="589" dirty="0"/>
          </a:p>
        </p:txBody>
      </p:sp>
      <p:sp>
        <p:nvSpPr>
          <p:cNvPr id="12" name="Shape 10"/>
          <p:cNvSpPr/>
          <p:nvPr/>
        </p:nvSpPr>
        <p:spPr>
          <a:xfrm>
            <a:off x="6324448" y="1941364"/>
            <a:ext cx="5455768" cy="90345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32804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33972"/>
            <a:ext cx="5126584" cy="239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6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作る場所は、変わっていません。</a:t>
            </a:r>
            <a:endParaRPr lang="en-US" sz="868" dirty="0"/>
          </a:p>
        </p:txBody>
      </p:sp>
      <p:sp>
        <p:nvSpPr>
          <p:cNvPr id="15" name="Text 13"/>
          <p:cNvSpPr/>
          <p:nvPr/>
        </p:nvSpPr>
        <p:spPr>
          <a:xfrm>
            <a:off x="6489040" y="2518727"/>
            <a:ext cx="5126584" cy="179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place has not changed.</a:t>
            </a:r>
            <a:endParaRPr lang="en-US" sz="558" dirty="0"/>
          </a:p>
        </p:txBody>
      </p:sp>
      <p:sp>
        <p:nvSpPr>
          <p:cNvPr id="16" name="Text 14"/>
          <p:cNvSpPr/>
          <p:nvPr/>
        </p:nvSpPr>
        <p:spPr>
          <a:xfrm>
            <a:off x="6324448" y="295455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 表 テ ロ ッ プ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137430"/>
            <a:ext cx="5455768" cy="228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 創業　／　1980 SHIPS　／　1982 BEAMS　／　1990 UNITED ARROWS　／　1991 Paul Smith　／　2011 RALPH LAUREN 全直営店のカルトン</a:t>
            </a:r>
            <a:endParaRPr lang="en-US" sz="527" dirty="0"/>
          </a:p>
        </p:txBody>
      </p:sp>
      <p:sp>
        <p:nvSpPr>
          <p:cNvPr id="18" name="Text 16"/>
          <p:cNvSpPr/>
          <p:nvPr/>
        </p:nvSpPr>
        <p:spPr>
          <a:xfrm>
            <a:off x="2235365" y="3677057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刻印・沿革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0-12秒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235365" y="3933089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5_ref_15_未来の刻印_金属マクロ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5365" y="4638847"/>
            <a:ext cx="1157288" cy="64588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235365" y="3933089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235365" y="6027065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黒。刻印が押され、革に沈む（超マクロ）</a:t>
            </a:r>
            <a:pPr indent="0" marL="0">
              <a:lnSpc>
                <a:spcPct val="124000"/>
              </a:lnSpc>
              <a:buNone/>
            </a:pPr>
            <a:endParaRPr lang="en-US" sz="72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ナレーション開始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484093" y="3933089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5_ref_01_年号テロップ_LNG船1985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4093" y="4638847"/>
            <a:ext cx="1157288" cy="64588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484093" y="3933089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484093" y="6027065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窪みに光が差す。そこに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年号テロップ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が重なる</a:t>
            </a:r>
            <a:pPr indent="0" marL="0">
              <a:lnSpc>
                <a:spcPct val="124000"/>
              </a:lnSpc>
              <a:buNone/>
            </a:pPr>
            <a:endParaRPr lang="en-US" sz="72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※年号の出し方はこの画角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732820" y="3933089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5_ref_08_工場内_大型装置ハイアングル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2820" y="4638847"/>
            <a:ext cx="1157288" cy="645882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732820" y="3933089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732820" y="6027065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引くと向島工房の全景になる（ハイアングル）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677057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製造・全員の職人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12-40秒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3933089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5_ref_12_図面の束_俯瞰気味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1588" y="4638847"/>
            <a:ext cx="1157288" cy="64588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3933089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6027065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原反が広げられる（真俯瞰）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7550315" y="3933089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5_ref_14_職人がボール盤で作業_引き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50315" y="4638847"/>
            <a:ext cx="1157288" cy="645882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7550315" y="3933089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7550315" y="6027065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裁断→縫製→コバ磨き。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職人を一人ずつ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、複数カットで（鍛治島参考の画角）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8799043" y="3933089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5_ref_10_机に向かう職人の横顔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99043" y="4638847"/>
            <a:ext cx="1157288" cy="645882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8799043" y="3933089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8799043" y="6027065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検品。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ナレーション一度止まる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 / 19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1979年から、東京で。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Since 1979, Tokyo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七十五秒（最長でも九十秒まで） ／ 12ショット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（鍛治島工業・メイン）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（コーポレートムービー）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6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会社を一本で説明できる映像がない。公式サイトのHISTORYページは中身が作られないまま公開されている。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ナレーションは永尾社長の声だけ。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画には映らず、三十分の収録から経営方針についての本音を拾う（台本の読み上げではない）。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製造パートは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鍛治島工業の参考動画をメインに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、特定の一人ではなく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向島工房の職人全員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を映す。BROOKLYN MUSEUM 店舗・企画中の商品・草ヶ谷さんの手元・購入されるシーンまで、会社の全体像を満遍なく差し込む。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想定ナレーション（仮の言葉）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：「革一枚から」（S1）→「変えていないのは革を見る目」（S2）→「これから」（S3）→「作る場所は変わっていません」（S4）</a:t>
            </a:r>
            <a:endParaRPr lang="en-US" sz="589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40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1979年から続く会社が、いま向島の工房と一つになった。永尾社長の声だけが、全編に流れる。</a:t>
            </a:r>
            <a:endParaRPr lang="en-US" sz="589" dirty="0"/>
          </a:p>
        </p:txBody>
      </p:sp>
      <p:sp>
        <p:nvSpPr>
          <p:cNvPr id="12" name="Shape 10"/>
          <p:cNvSpPr/>
          <p:nvPr/>
        </p:nvSpPr>
        <p:spPr>
          <a:xfrm>
            <a:off x="6324448" y="1941364"/>
            <a:ext cx="5455768" cy="90345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32804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33972"/>
            <a:ext cx="5126584" cy="239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6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作る場所は、変わっていません。</a:t>
            </a:r>
            <a:endParaRPr lang="en-US" sz="868" dirty="0"/>
          </a:p>
        </p:txBody>
      </p:sp>
      <p:sp>
        <p:nvSpPr>
          <p:cNvPr id="15" name="Text 13"/>
          <p:cNvSpPr/>
          <p:nvPr/>
        </p:nvSpPr>
        <p:spPr>
          <a:xfrm>
            <a:off x="6489040" y="2518727"/>
            <a:ext cx="5126584" cy="179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place has not changed.</a:t>
            </a:r>
            <a:endParaRPr lang="en-US" sz="558" dirty="0"/>
          </a:p>
        </p:txBody>
      </p:sp>
      <p:sp>
        <p:nvSpPr>
          <p:cNvPr id="16" name="Text 14"/>
          <p:cNvSpPr/>
          <p:nvPr/>
        </p:nvSpPr>
        <p:spPr>
          <a:xfrm>
            <a:off x="6324448" y="295455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 表 テ ロ ッ プ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137430"/>
            <a:ext cx="5455768" cy="228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 創業　／　1980 SHIPS　／　1982 BEAMS　／　1990 UNITED ARROWS　／　1991 Paul Smith　／　2011 RALPH LAUREN 全直営店のカルトン</a:t>
            </a:r>
            <a:endParaRPr lang="en-US" sz="527" dirty="0"/>
          </a:p>
        </p:txBody>
      </p:sp>
      <p:sp>
        <p:nvSpPr>
          <p:cNvPr id="18" name="Text 16"/>
          <p:cNvSpPr/>
          <p:nvPr/>
        </p:nvSpPr>
        <p:spPr>
          <a:xfrm>
            <a:off x="2235365" y="3677057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会社の姿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40-60秒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235365" y="3933089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2235365" y="3933089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235365" y="6027065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店舗の外観・店内（撮影して差し替え）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3484093" y="3933089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3" name="Image 0" descr="/home/user/dougaseisaku/assets/ref4/5_ref_06_図面と眼鏡_引き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4093" y="4638847"/>
            <a:ext cx="1157288" cy="645882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3484093" y="3933089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484093" y="6027065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企画中の新作サンプルが並ぶ</a:t>
            </a:r>
            <a:pPr indent="0" marL="0">
              <a:lnSpc>
                <a:spcPct val="124000"/>
              </a:lnSpc>
              <a:buNone/>
            </a:pPr>
            <a:endParaRPr lang="en-US" sz="72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ナレーション再開</a:t>
            </a:r>
            <a:endParaRPr lang="en-US" sz="720" dirty="0"/>
          </a:p>
        </p:txBody>
      </p:sp>
      <p:sp>
        <p:nvSpPr>
          <p:cNvPr id="26" name="Shape 23"/>
          <p:cNvSpPr/>
          <p:nvPr/>
        </p:nvSpPr>
        <p:spPr>
          <a:xfrm>
            <a:off x="4732820" y="3933089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7" name="Image 1" descr="/home/user/dougaseisaku/assets/ref4/5_ref_07_図面をなぞる指_作業着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820" y="4638847"/>
            <a:ext cx="1157288" cy="645882"/>
          </a:xfrm>
          <a:prstGeom prst="rect">
            <a:avLst/>
          </a:prstGeom>
        </p:spPr>
      </p:pic>
      <p:sp>
        <p:nvSpPr>
          <p:cNvPr id="28" name="Shape 24"/>
          <p:cNvSpPr/>
          <p:nvPr/>
        </p:nvSpPr>
        <p:spPr>
          <a:xfrm>
            <a:off x="4732820" y="3933089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4732820" y="6027065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草ヶ谷さん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が革を漉く・仕上げる手元</a:t>
            </a:r>
            <a:endParaRPr lang="en-US" sz="720" dirty="0"/>
          </a:p>
        </p:txBody>
      </p:sp>
      <p:sp>
        <p:nvSpPr>
          <p:cNvPr id="30" name="Text 26"/>
          <p:cNvSpPr/>
          <p:nvPr/>
        </p:nvSpPr>
        <p:spPr>
          <a:xfrm>
            <a:off x="6301588" y="3677057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使われる・締め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60-75秒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6301588" y="3933089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2" name="Text 28"/>
          <p:cNvSpPr/>
          <p:nvPr/>
        </p:nvSpPr>
        <p:spPr>
          <a:xfrm>
            <a:off x="6301588" y="3933089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33" name="Text 29"/>
          <p:cNvSpPr/>
          <p:nvPr/>
        </p:nvSpPr>
        <p:spPr>
          <a:xfrm>
            <a:off x="6301588" y="6027065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購入され、店員から手渡される瞬間（撮影して差し替え）</a:t>
            </a:r>
            <a:endParaRPr lang="en-US" sz="720" dirty="0"/>
          </a:p>
        </p:txBody>
      </p:sp>
      <p:sp>
        <p:nvSpPr>
          <p:cNvPr id="34" name="Shape 30"/>
          <p:cNvSpPr/>
          <p:nvPr/>
        </p:nvSpPr>
        <p:spPr>
          <a:xfrm>
            <a:off x="7550315" y="3933089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5" name="Text 31"/>
          <p:cNvSpPr/>
          <p:nvPr/>
        </p:nvSpPr>
        <p:spPr>
          <a:xfrm>
            <a:off x="7550315" y="3933089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36" name="Text 32"/>
          <p:cNvSpPr/>
          <p:nvPr/>
        </p:nvSpPr>
        <p:spPr>
          <a:xfrm>
            <a:off x="7550315" y="6027065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実際に使われている手元（撮影して差し替え）</a:t>
            </a:r>
            <a:pPr indent="0" marL="0">
              <a:lnSpc>
                <a:spcPct val="124000"/>
              </a:lnSpc>
              <a:buNone/>
            </a:pPr>
            <a:endParaRPr lang="en-US" sz="72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ナレーション最後の一言</a:t>
            </a:r>
            <a:endParaRPr lang="en-US" sz="720" dirty="0"/>
          </a:p>
        </p:txBody>
      </p:sp>
      <p:sp>
        <p:nvSpPr>
          <p:cNvPr id="37" name="Shape 33"/>
          <p:cNvSpPr/>
          <p:nvPr/>
        </p:nvSpPr>
        <p:spPr>
          <a:xfrm>
            <a:off x="8799043" y="3933089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8" name="Image 2" descr="/home/user/dougaseisaku/assets/ref4/5_ref_16_締めのテロップ_造るを創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99043" y="4638847"/>
            <a:ext cx="1157288" cy="645882"/>
          </a:xfrm>
          <a:prstGeom prst="rect">
            <a:avLst/>
          </a:prstGeom>
        </p:spPr>
      </p:pic>
      <p:sp>
        <p:nvSpPr>
          <p:cNvPr id="39" name="Shape 34"/>
          <p:cNvSpPr/>
          <p:nvPr/>
        </p:nvSpPr>
        <p:spPr>
          <a:xfrm>
            <a:off x="8799043" y="3933089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8799043" y="6027065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ナレーションが終わり → テロップ → ロゴ</a:t>
            </a:r>
            <a:endParaRPr lang="en-US" sz="720" dirty="0"/>
          </a:p>
        </p:txBody>
      </p:sp>
      <p:sp>
        <p:nvSpPr>
          <p:cNvPr id="41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2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 / 19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12ショット（展示会用の無音版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参考動画＝未定。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工場見学ワンテイク型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を推奨（入口から入り、工程順に歩き、梱包場で終わる）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8033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589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40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量産も少量生産もできる。検品まで自社で完結し、この形で届く。</a:t>
            </a:r>
            <a:endParaRPr lang="en-US" sz="589" dirty="0"/>
          </a:p>
        </p:txBody>
      </p:sp>
      <p:sp>
        <p:nvSpPr>
          <p:cNvPr id="12" name="Shape 10"/>
          <p:cNvSpPr/>
          <p:nvPr/>
        </p:nvSpPr>
        <p:spPr>
          <a:xfrm>
            <a:off x="6324448" y="1941364"/>
            <a:ext cx="5455768" cy="90345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32804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33972"/>
            <a:ext cx="5126584" cy="239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6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868" dirty="0"/>
          </a:p>
        </p:txBody>
      </p:sp>
      <p:sp>
        <p:nvSpPr>
          <p:cNvPr id="15" name="Text 13"/>
          <p:cNvSpPr/>
          <p:nvPr/>
        </p:nvSpPr>
        <p:spPr>
          <a:xfrm>
            <a:off x="6489040" y="2518727"/>
            <a:ext cx="5126584" cy="179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558" dirty="0"/>
          </a:p>
        </p:txBody>
      </p:sp>
      <p:sp>
        <p:nvSpPr>
          <p:cNvPr id="16" name="Text 14"/>
          <p:cNvSpPr/>
          <p:nvPr/>
        </p:nvSpPr>
        <p:spPr>
          <a:xfrm>
            <a:off x="6324448" y="295455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137430"/>
            <a:ext cx="5455768" cy="329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Cutting／機械縫製 Machine Stitching／手縫い Hand Stitching／目止め Edge Sealing／コバ磨き Edge Burnishing／検品 Inspection／梱包 Packing</a:t>
            </a:r>
            <a:endParaRPr lang="en-US" sz="527" dirty="0"/>
          </a:p>
        </p:txBody>
      </p:sp>
      <p:sp>
        <p:nvSpPr>
          <p:cNvPr id="18" name="Text 16"/>
          <p:cNvSpPr/>
          <p:nvPr/>
        </p:nvSpPr>
        <p:spPr>
          <a:xfrm>
            <a:off x="2235365" y="3777771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入る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0-25秒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235365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5_ref_03_工場全景_省力化テロップ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35365" y="4739562"/>
            <a:ext cx="1157288" cy="64588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235365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235365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工房の外観と看板（ローアングル）。街の音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484093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5_S1_03_工房の全景ハイアングル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4093" y="4756999"/>
            <a:ext cx="1157288" cy="611009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484093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484093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中に入る。工房の全景（ハイアングル）。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規模が分かる画角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732820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5_S3_01_原反が広げられ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2820" y="4737874"/>
            <a:ext cx="1157288" cy="649258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732820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732820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作業台に原反が広がる（真俯瞰）。扱える革の大きさを示す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777771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歩く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25-95秒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5_ref_09_ロボット装置と作業者二人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739562"/>
            <a:ext cx="1157288" cy="64588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金型が置かれ、裁断機が下りる／革包丁で細部を切る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7550315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5_S3_02_手元での精密作業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0315" y="4756999"/>
            <a:ext cx="1157288" cy="611009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7550315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7550315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ミシンで縫う（横）／手縫い。二本の針が交差する（マクロ）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8799043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5_ref_02_暗がりの腕_オレンジの光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99043" y="4739562"/>
            <a:ext cx="1157288" cy="645882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8799043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8799043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目止め → コバ磨き。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ここが全工程の四割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。テロップは工程名だけ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 / 19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12ショット（展示会用の無音版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参考動画＝未定。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工場見学ワンテイク型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を推奨（入口から入り、工程順に歩き、梱包場で終わる）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8033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589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40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量産も少量生産もできる。検品まで自社で完結し、この形で届く。</a:t>
            </a:r>
            <a:endParaRPr lang="en-US" sz="589" dirty="0"/>
          </a:p>
        </p:txBody>
      </p:sp>
      <p:sp>
        <p:nvSpPr>
          <p:cNvPr id="12" name="Shape 10"/>
          <p:cNvSpPr/>
          <p:nvPr/>
        </p:nvSpPr>
        <p:spPr>
          <a:xfrm>
            <a:off x="6324448" y="1941364"/>
            <a:ext cx="5455768" cy="90345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32804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33972"/>
            <a:ext cx="5126584" cy="239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6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868" dirty="0"/>
          </a:p>
        </p:txBody>
      </p:sp>
      <p:sp>
        <p:nvSpPr>
          <p:cNvPr id="15" name="Text 13"/>
          <p:cNvSpPr/>
          <p:nvPr/>
        </p:nvSpPr>
        <p:spPr>
          <a:xfrm>
            <a:off x="6489040" y="2518727"/>
            <a:ext cx="5126584" cy="179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558" dirty="0"/>
          </a:p>
        </p:txBody>
      </p:sp>
      <p:sp>
        <p:nvSpPr>
          <p:cNvPr id="16" name="Text 14"/>
          <p:cNvSpPr/>
          <p:nvPr/>
        </p:nvSpPr>
        <p:spPr>
          <a:xfrm>
            <a:off x="6324448" y="295455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137430"/>
            <a:ext cx="5455768" cy="329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Cutting／機械縫製 Machine Stitching／手縫い Hand Stitching／目止め Edge Sealing／コバ磨き Edge Burnishing／検品 Inspection／梱包 Packing</a:t>
            </a:r>
            <a:endParaRPr lang="en-US" sz="527" dirty="0"/>
          </a:p>
        </p:txBody>
      </p:sp>
      <p:sp>
        <p:nvSpPr>
          <p:cNvPr id="18" name="Text 16"/>
          <p:cNvSpPr/>
          <p:nvPr/>
        </p:nvSpPr>
        <p:spPr>
          <a:xfrm>
            <a:off x="2235365" y="3777771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検品 ★最重要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95-120秒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235365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5_S3_03_検品する横顔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35365" y="4756999"/>
            <a:ext cx="1157288" cy="611009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235365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235365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職人が縫い目と断面を目で確かめる（寄り）。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作業音が消える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484093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5_ref_04_図面をなぞる手元_ボケ寄り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4093" y="4739562"/>
            <a:ext cx="1157288" cy="64588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484093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484093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検品済みの製品と道具が並ぶ（真俯瞰）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732820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5_S1_01_刻印風マクロ_金属に光る文字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2820" y="4756999"/>
            <a:ext cx="1157288" cy="611009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732820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732820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一点を手に取り、光にかざす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777771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包む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120-140秒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033803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3" name="Text 28"/>
          <p:cNvSpPr/>
          <p:nvPr/>
        </p:nvSpPr>
        <p:spPr>
          <a:xfrm>
            <a:off x="6301588" y="4033803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34" name="Text 29"/>
          <p:cNvSpPr/>
          <p:nvPr/>
        </p:nvSpPr>
        <p:spPr>
          <a:xfrm>
            <a:off x="6301588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不織布で包み、角を折る（真俯瞰）。紙の音</a:t>
            </a:r>
            <a:endParaRPr lang="en-US" sz="720" dirty="0"/>
          </a:p>
        </p:txBody>
      </p:sp>
      <p:sp>
        <p:nvSpPr>
          <p:cNvPr id="35" name="Shape 30"/>
          <p:cNvSpPr/>
          <p:nvPr/>
        </p:nvSpPr>
        <p:spPr>
          <a:xfrm>
            <a:off x="7550315" y="4033803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6" name="Text 31"/>
          <p:cNvSpPr/>
          <p:nvPr/>
        </p:nvSpPr>
        <p:spPr>
          <a:xfrm>
            <a:off x="7550315" y="4033803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37" name="Text 32"/>
          <p:cNvSpPr/>
          <p:nvPr/>
        </p:nvSpPr>
        <p:spPr>
          <a:xfrm>
            <a:off x="7550315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箱に納め、テープで閉じる。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ここまで見せる</a:t>
            </a:r>
            <a:endParaRPr lang="en-US" sz="720" dirty="0"/>
          </a:p>
        </p:txBody>
      </p:sp>
      <p:sp>
        <p:nvSpPr>
          <p:cNvPr id="38" name="Shape 33"/>
          <p:cNvSpPr/>
          <p:nvPr/>
        </p:nvSpPr>
        <p:spPr>
          <a:xfrm>
            <a:off x="8799043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9" name="Image 3" descr="/home/user/dougaseisaku/assets/ref4/5_ref_17_締めのロゴ_白バック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9043" y="4739562"/>
            <a:ext cx="1157288" cy="645882"/>
          </a:xfrm>
          <a:prstGeom prst="rect">
            <a:avLst/>
          </a:prstGeom>
        </p:spPr>
      </p:pic>
      <p:sp>
        <p:nvSpPr>
          <p:cNvPr id="40" name="Shape 34"/>
          <p:cNvSpPr/>
          <p:nvPr/>
        </p:nvSpPr>
        <p:spPr>
          <a:xfrm>
            <a:off x="8799043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8799043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対応技法の一覧 → 問い合わせ先とURL</a:t>
            </a:r>
            <a:endParaRPr lang="en-US" sz="720" dirty="0"/>
          </a:p>
        </p:txBody>
      </p:sp>
      <p:sp>
        <p:nvSpPr>
          <p:cNvPr id="42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3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 / 19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HURRY UP.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急ぐ朝ほど、迷わない。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×3品番 ／ 10ショット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（ASMR実測）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8033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購入転換率が0.263%。前年0.583%から半減している。写真では入る量が伝わらない。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白い台の上、正面固定。カメラは一度も動かさない。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三品番を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同じ画角・同じ小物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で撮るので、並べたときに大きさの差がそのまま分かる。冒頭三秒は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モノクロ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で入り、引いた瞬間にカラーへ。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秤のカットは使わない。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数字を読ませるかわりに、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片手で持ち上げる動作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で軽さを見せる。数字は小さくテロップで添えるだけ。</a:t>
            </a:r>
            <a:endParaRPr lang="en-US" sz="589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40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A4もノートPCも入って、片手で持ち上がる。三品番の大きさの差が、並べれば分かる。</a:t>
            </a:r>
            <a:endParaRPr lang="en-US" sz="589" dirty="0"/>
          </a:p>
        </p:txBody>
      </p:sp>
      <p:sp>
        <p:nvSpPr>
          <p:cNvPr id="12" name="Shape 10"/>
          <p:cNvSpPr/>
          <p:nvPr/>
        </p:nvSpPr>
        <p:spPr>
          <a:xfrm>
            <a:off x="6324448" y="1941364"/>
            <a:ext cx="5455768" cy="90345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32804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33972"/>
            <a:ext cx="5126584" cy="239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6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かばんも、身支度のうち。</a:t>
            </a:r>
            <a:endParaRPr lang="en-US" sz="868" dirty="0"/>
          </a:p>
        </p:txBody>
      </p:sp>
      <p:sp>
        <p:nvSpPr>
          <p:cNvPr id="15" name="Text 13"/>
          <p:cNvSpPr/>
          <p:nvPr/>
        </p:nvSpPr>
        <p:spPr>
          <a:xfrm>
            <a:off x="6489040" y="2518727"/>
            <a:ext cx="5126584" cy="179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BAG IS PART OF GETTING READY.</a:t>
            </a:r>
            <a:endParaRPr lang="en-US" sz="558" dirty="0"/>
          </a:p>
        </p:txBody>
      </p:sp>
      <p:sp>
        <p:nvSpPr>
          <p:cNvPr id="16" name="Text 14"/>
          <p:cNvSpPr/>
          <p:nvPr/>
        </p:nvSpPr>
        <p:spPr>
          <a:xfrm>
            <a:off x="6324448" y="295455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137430"/>
            <a:ext cx="5455768" cy="329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千百六十グラム　／　返品送料無料</a:t>
            </a:r>
            <a:pPr indent="0" marL="0">
              <a:lnSpc>
                <a:spcPct val="134000"/>
              </a:lnSpc>
              <a:buNone/>
            </a:pPr>
            <a:endParaRPr lang="en-US" sz="527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三品番＝ロワイヤルMトート・ベルシートート・Lジップ</a:t>
            </a:r>
            <a:endParaRPr lang="en-US" sz="527" dirty="0"/>
          </a:p>
        </p:txBody>
      </p:sp>
      <p:sp>
        <p:nvSpPr>
          <p:cNvPr id="18" name="Text 16"/>
          <p:cNvSpPr/>
          <p:nvPr/>
        </p:nvSpPr>
        <p:spPr>
          <a:xfrm>
            <a:off x="2235365" y="3777771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質感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0-6秒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235365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1_01_モノクロのファスナー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5365" y="4257913"/>
            <a:ext cx="1157288" cy="1609181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235365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235365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超マクロ・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モノクロ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。ファスナーの歯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484093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1_02_型押しの質感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4093" y="4257913"/>
            <a:ext cx="1157288" cy="1609181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484093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484093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型押しのロゴ、ハンドルの付け根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732820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7_S1_03_白い台に鞄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820" y="4257913"/>
            <a:ext cx="1157288" cy="1609181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732820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732820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カラーに変わる。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白い台に鞄が一つ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777771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入れる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6-16秒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7_S2_03_PCを入れ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1588" y="4257913"/>
            <a:ext cx="1157288" cy="1609181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正面固定。A4書類とノートPCを入れる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7550315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7_S2_01_入れていく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0315" y="4257913"/>
            <a:ext cx="1157288" cy="1609181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7550315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7550315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同じ画角。手帳・鍵・サングラス。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顔は入れない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8799043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7_S2_02_小物を入れる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99043" y="4257913"/>
            <a:ext cx="1157288" cy="1609181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8799043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8799043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同じ画角。ペン・小物。入れる音を一つずつ拾う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 / 19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HURRY UP.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急ぐ朝ほど、迷わない。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×3品番 ／ 10ショット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（ASMR実測）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8033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購入転換率が0.263%。前年0.583%から半減している。写真では入る量が伝わらない。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白い台の上、正面固定。カメラは一度も動かさない。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三品番を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同じ画角・同じ小物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で撮るので、並べたときに大きさの差がそのまま分かる。冒頭三秒は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モノクロ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で入り、引いた瞬間にカラーへ。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秤のカットは使わない。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数字を読ませるかわりに、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片手で持ち上げる動作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で軽さを見せる。数字は小さくテロップで添えるだけ。</a:t>
            </a:r>
            <a:endParaRPr lang="en-US" sz="589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40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A4もノートPCも入って、片手で持ち上がる。三品番の大きさの差が、並べれば分かる。</a:t>
            </a:r>
            <a:endParaRPr lang="en-US" sz="589" dirty="0"/>
          </a:p>
        </p:txBody>
      </p:sp>
      <p:sp>
        <p:nvSpPr>
          <p:cNvPr id="12" name="Shape 10"/>
          <p:cNvSpPr/>
          <p:nvPr/>
        </p:nvSpPr>
        <p:spPr>
          <a:xfrm>
            <a:off x="6324448" y="1941364"/>
            <a:ext cx="5455768" cy="90345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32804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33972"/>
            <a:ext cx="5126584" cy="239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6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かばんも、身支度のうち。</a:t>
            </a:r>
            <a:endParaRPr lang="en-US" sz="868" dirty="0"/>
          </a:p>
        </p:txBody>
      </p:sp>
      <p:sp>
        <p:nvSpPr>
          <p:cNvPr id="15" name="Text 13"/>
          <p:cNvSpPr/>
          <p:nvPr/>
        </p:nvSpPr>
        <p:spPr>
          <a:xfrm>
            <a:off x="6489040" y="2518727"/>
            <a:ext cx="5126584" cy="179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BAG IS PART OF GETTING READY.</a:t>
            </a:r>
            <a:endParaRPr lang="en-US" sz="558" dirty="0"/>
          </a:p>
        </p:txBody>
      </p:sp>
      <p:sp>
        <p:nvSpPr>
          <p:cNvPr id="16" name="Text 14"/>
          <p:cNvSpPr/>
          <p:nvPr/>
        </p:nvSpPr>
        <p:spPr>
          <a:xfrm>
            <a:off x="6324448" y="295455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137430"/>
            <a:ext cx="5455768" cy="329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千百六十グラム　／　返品送料無料</a:t>
            </a:r>
            <a:pPr indent="0" marL="0">
              <a:lnSpc>
                <a:spcPct val="134000"/>
              </a:lnSpc>
              <a:buNone/>
            </a:pPr>
            <a:endParaRPr lang="en-US" sz="527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三品番＝ロワイヤルMトート・ベルシートート・Lジップ</a:t>
            </a:r>
            <a:endParaRPr lang="en-US" sz="527" dirty="0"/>
          </a:p>
        </p:txBody>
      </p:sp>
      <p:sp>
        <p:nvSpPr>
          <p:cNvPr id="18" name="Text 16"/>
          <p:cNvSpPr/>
          <p:nvPr/>
        </p:nvSpPr>
        <p:spPr>
          <a:xfrm>
            <a:off x="2235365" y="3777771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持ち上げる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16-20秒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235365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3_01_持ち上げ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5365" y="4257913"/>
            <a:ext cx="1157288" cy="1609181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235365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235365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片手で持ち上げる。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軽さを動作で見せる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484093" y="4033803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4" name="Text 21"/>
          <p:cNvSpPr/>
          <p:nvPr/>
        </p:nvSpPr>
        <p:spPr>
          <a:xfrm>
            <a:off x="3484093" y="4033803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3484093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肩にかける。台は動かさない</a:t>
            </a:r>
            <a:endParaRPr lang="en-US" sz="720" dirty="0"/>
          </a:p>
        </p:txBody>
      </p:sp>
      <p:sp>
        <p:nvSpPr>
          <p:cNvPr id="26" name="Text 23"/>
          <p:cNvSpPr/>
          <p:nvPr/>
        </p:nvSpPr>
        <p:spPr>
          <a:xfrm>
            <a:off x="6301588" y="3777771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残る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20-25秒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301588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1" descr="/home/user/dougaseisaku/assets/ref4/7_S4_01_鞄だけが残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257913"/>
            <a:ext cx="1157288" cy="1609181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6301588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6301588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人がフレームから出る。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鞄だけが残る</a:t>
            </a:r>
            <a:endParaRPr lang="en-US" sz="720" dirty="0"/>
          </a:p>
        </p:txBody>
      </p:sp>
      <p:sp>
        <p:nvSpPr>
          <p:cNvPr id="31" name="Shape 27"/>
          <p:cNvSpPr/>
          <p:nvPr/>
        </p:nvSpPr>
        <p:spPr>
          <a:xfrm>
            <a:off x="7550315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2" descr="/home/user/dougaseisaku/assets/ref4/7_S4_02_テロップ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0315" y="4257913"/>
            <a:ext cx="1157288" cy="1609181"/>
          </a:xfrm>
          <a:prstGeom prst="rect">
            <a:avLst/>
          </a:prstGeom>
        </p:spPr>
      </p:pic>
      <p:sp>
        <p:nvSpPr>
          <p:cNvPr id="33" name="Shape 28"/>
          <p:cNvSpPr/>
          <p:nvPr/>
        </p:nvSpPr>
        <p:spPr>
          <a:xfrm>
            <a:off x="7550315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7550315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 → ロゴ</a:t>
            </a:r>
            <a:endParaRPr lang="en-US" sz="720" dirty="0"/>
          </a:p>
        </p:txBody>
      </p:sp>
      <p:sp>
        <p:nvSpPr>
          <p:cNvPr id="35" name="Text 3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6" name="Text 3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 / 19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購入者インタビュー（仮タイトル）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 (Title TBD)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尺・ショット数＝未定（インタビュー形式）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参考動画＝未定。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を推奨（顔出しの可否・質問内容は未定）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参考動画・具体的な演出はまだ未定。商品説明を人が語らない他の七本とは違い、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唯一の一本になる見込み。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：誰に聞くか（既存の購入者にお願いするか、社内の方に使用者として話してもらうか）、顔出しの範囲、質問内容、撮影場所。これらが決まり次第、絵コンテを本設計に差し替える。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49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246772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 め る こ と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429652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出演者・顔出しの範囲・質問内容・撮影場所。これらが決まり次第、絵コンテを本設計に差し替えます。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681873" y="3174157"/>
            <a:ext cx="42082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導入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秒数未定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681873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1_01_店を出る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1873" y="3715584"/>
            <a:ext cx="1341785" cy="1814604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1681873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681873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日常の中で迎える（来店・使用シーンなど）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3115098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1_02_袋を持って歩く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098" y="3715584"/>
            <a:ext cx="1341785" cy="1814604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115098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115098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名前は出さず「使っている人」として自己紹介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548323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1_03_袋に寄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8323" y="3715584"/>
            <a:ext cx="1341785" cy="1814604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548323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548323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手元のBROOKLYNの鞄が画面に入る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174157"/>
            <a:ext cx="42082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質問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秒数未定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2_01_車内_膝の上に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037438"/>
            <a:ext cx="1341785" cy="1170897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「なぜこれを選んだか」を聞く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7734812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8_S2_02_窓の外が流れ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34812" y="4037438"/>
            <a:ext cx="1341785" cy="1170897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734812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734812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実際に使っているシーンを見せながら答えてもらう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9168037" y="3430189"/>
            <a:ext cx="1341785" cy="2385395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7" name="Text 30"/>
          <p:cNvSpPr/>
          <p:nvPr/>
        </p:nvSpPr>
        <p:spPr>
          <a:xfrm>
            <a:off x="9168037" y="3430189"/>
            <a:ext cx="1341785" cy="2385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38" name="Text 31"/>
          <p:cNvSpPr/>
          <p:nvPr/>
        </p:nvSpPr>
        <p:spPr>
          <a:xfrm>
            <a:off x="9168037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良かった点を具体的なエピソードで語ってもらう</a:t>
            </a:r>
            <a:endParaRPr lang="en-US" sz="720" dirty="0"/>
          </a:p>
        </p:txBody>
      </p:sp>
      <p:sp>
        <p:nvSpPr>
          <p:cNvPr id="39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0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 / 19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購入者インタビュー（仮タイトル）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 (Title TBD)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尺・ショット数＝未定（インタビュー形式）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参考動画＝未定。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を推奨（顔出しの可否・質問内容は未定）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参考動画・具体的な演出はまだ未定。商品説明を人が語らない他の七本とは違い、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唯一の一本になる見込み。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：誰に聞くか（既存の購入者にお願いするか、社内の方に使用者として話してもらうか）、顔出しの範囲、質問内容、撮影場所。これらが決まり次第、絵コンテを本設計に差し替える。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49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246772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 め る こ と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429652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出演者・顔出しの範囲・質問内容・撮影場所。これらが決まり次第、絵コンテを本設計に差し替えます。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681873" y="3174157"/>
            <a:ext cx="42082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本音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秒数未定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681873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3_01_リボンをほどく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1873" y="4037438"/>
            <a:ext cx="1341785" cy="1170897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1681873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681873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購入前に迷っていた話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3115098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3_02_開けた瞬間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098" y="4037438"/>
            <a:ext cx="1341785" cy="1170897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115098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115098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買ってから変わったことを一言で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548323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3_03_光にかざす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8323" y="4037438"/>
            <a:ext cx="1341785" cy="1170897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548323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548323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表情のアップ。台本にない一言を拾う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174157"/>
            <a:ext cx="42082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締め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秒数未定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430189"/>
            <a:ext cx="1341785" cy="2385395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9" name="Text 24"/>
          <p:cNvSpPr/>
          <p:nvPr/>
        </p:nvSpPr>
        <p:spPr>
          <a:xfrm>
            <a:off x="6301588" y="3430189"/>
            <a:ext cx="1341785" cy="2385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30" name="Text 25"/>
          <p:cNvSpPr/>
          <p:nvPr/>
        </p:nvSpPr>
        <p:spPr>
          <a:xfrm>
            <a:off x="6301588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鞄を持って歩き出す後ろ姿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7734812" y="3430189"/>
            <a:ext cx="1341785" cy="2385395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2" name="Text 27"/>
          <p:cNvSpPr/>
          <p:nvPr/>
        </p:nvSpPr>
        <p:spPr>
          <a:xfrm>
            <a:off x="7734812" y="3430189"/>
            <a:ext cx="1341785" cy="2385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33" name="Text 28"/>
          <p:cNvSpPr/>
          <p:nvPr/>
        </p:nvSpPr>
        <p:spPr>
          <a:xfrm>
            <a:off x="7734812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 → ロゴ</a:t>
            </a:r>
            <a:endParaRPr lang="en-US" sz="720" dirty="0"/>
          </a:p>
        </p:txBody>
      </p:sp>
      <p:sp>
        <p:nvSpPr>
          <p:cNvPr id="34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5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 / 19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2026-09-05T11:54:42Z</dcterms:created>
  <dcterms:modified xsi:type="dcterms:W3CDTF">2026-09-05T11:54:42Z</dcterms:modified>
</cp:coreProperties>
</file>