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hyperlink" Target="https://www.instagram.com/reel/DbAniDDyF0U/" TargetMode="External"/><Relationship Id="rId3" Type="http://schemas.openxmlformats.org/officeDocument/2006/relationships/hyperlink" Target="https://www.instagram.com/reels/DWiwFp5DED-/" TargetMode="External"/><Relationship Id="rId4" Type="http://schemas.openxmlformats.org/officeDocument/2006/relationships/hyperlink" Target="https://www.instagram.com/reels/DcOkNyyoFFJ/" TargetMode="External"/><Relationship Id="rId5" Type="http://schemas.openxmlformats.org/officeDocument/2006/relationships/hyperlink" Target="https://www.youtube.com/watch?v=4DEy0CAg43s" TargetMode="External"/><Relationship Id="rId6" Type="http://schemas.openxmlformats.org/officeDocument/2006/relationships/hyperlink" Target="https://youtu.be/OU-qyAcn2YM" TargetMode="External"/><Relationship Id="rId7" Type="http://schemas.openxmlformats.org/officeDocument/2006/relationships/hyperlink" Target="https://youtu.be/OPDWrOeD-gU" TargetMode="External"/><Relationship Id="rId8" Type="http://schemas.openxmlformats.org/officeDocument/2006/relationships/hyperlink" Target="https://www.instagram.com/reel/DZE-_hZuwXb/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3-1.jpg"/><Relationship Id="rId3" Type="http://schemas.openxmlformats.org/officeDocument/2006/relationships/image" Target="../media/image-3-2.jpg"/><Relationship Id="rId4" Type="http://schemas.openxmlformats.org/officeDocument/2006/relationships/image" Target="../media/image-3-3.jpg"/><Relationship Id="rId5" Type="http://schemas.openxmlformats.org/officeDocument/2006/relationships/image" Target="../media/image-3-4.jpg"/><Relationship Id="rId6" Type="http://schemas.openxmlformats.org/officeDocument/2006/relationships/image" Target="../media/image-3-5.jpg"/><Relationship Id="rId7" Type="http://schemas.openxmlformats.org/officeDocument/2006/relationships/image" Target="../media/image-3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4-1.jpg"/><Relationship Id="rId3" Type="http://schemas.openxmlformats.org/officeDocument/2006/relationships/image" Target="../media/image-4-2.jpg"/><Relationship Id="rId4" Type="http://schemas.openxmlformats.org/officeDocument/2006/relationships/image" Target="../media/image-4-3.jpg"/><Relationship Id="rId5" Type="http://schemas.openxmlformats.org/officeDocument/2006/relationships/image" Target="../media/image-4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5-1.jpg"/><Relationship Id="rId3" Type="http://schemas.openxmlformats.org/officeDocument/2006/relationships/image" Target="../media/image-5-2.jpg"/><Relationship Id="rId4" Type="http://schemas.openxmlformats.org/officeDocument/2006/relationships/image" Target="../media/image-5-3.jpg"/><Relationship Id="rId5" Type="http://schemas.openxmlformats.org/officeDocument/2006/relationships/image" Target="../media/image-5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6-1.jpg"/><Relationship Id="rId3" Type="http://schemas.openxmlformats.org/officeDocument/2006/relationships/image" Target="../media/image-6-2.jpg"/><Relationship Id="rId4" Type="http://schemas.openxmlformats.org/officeDocument/2006/relationships/image" Target="../media/image-6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7-1.jpg"/><Relationship Id="rId3" Type="http://schemas.openxmlformats.org/officeDocument/2006/relationships/image" Target="../media/image-7-2.jpg"/><Relationship Id="rId4" Type="http://schemas.openxmlformats.org/officeDocument/2006/relationships/image" Target="../media/image-7-3.jpg"/><Relationship Id="rId5" Type="http://schemas.openxmlformats.org/officeDocument/2006/relationships/image" Target="../media/image-7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8-1.jpg"/><Relationship Id="rId3" Type="http://schemas.openxmlformats.org/officeDocument/2006/relationships/image" Target="../media/image-8-2.jpg"/><Relationship Id="rId4" Type="http://schemas.openxmlformats.org/officeDocument/2006/relationships/image" Target="../media/image-8-3.jpg"/><Relationship Id="rId5" Type="http://schemas.openxmlformats.org/officeDocument/2006/relationships/image" Target="../media/image-8-4.jpg"/><Relationship Id="rId6" Type="http://schemas.openxmlformats.org/officeDocument/2006/relationships/image" Target="../media/image-8-5.jpg"/><Relationship Id="rId7" Type="http://schemas.openxmlformats.org/officeDocument/2006/relationships/image" Target="../media/image-8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9-1.jpg"/><Relationship Id="rId3" Type="http://schemas.openxmlformats.org/officeDocument/2006/relationships/image" Target="../media/image-9-2.jpg"/><Relationship Id="rId4" Type="http://schemas.openxmlformats.org/officeDocument/2006/relationships/image" Target="../media/image-9-3.jpg"/><Relationship Id="rId5" Type="http://schemas.openxmlformats.org/officeDocument/2006/relationships/image" Target="../media/image-9-4.jpg"/><Relationship Id="rId6" Type="http://schemas.openxmlformats.org/officeDocument/2006/relationships/image" Target="../media/image-9-5.jpg"/><Relationship Id="rId7" Type="http://schemas.openxmlformats.org/officeDocument/2006/relationships/image" Target="../media/image-9-6.jpg"/><Relationship Id="rId8" Type="http://schemas.openxmlformats.org/officeDocument/2006/relationships/image" Target="../media/image-9-7.jpg"/><Relationship Id="rId9" Type="http://schemas.openxmlformats.org/officeDocument/2006/relationships/image" Target="../media/image-9-8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10-1.jpg"/><Relationship Id="rId3" Type="http://schemas.openxmlformats.org/officeDocument/2006/relationships/image" Target="../media/image-10-2.jpg"/><Relationship Id="rId4" Type="http://schemas.openxmlformats.org/officeDocument/2006/relationships/image" Target="../media/image-10-3.jpg"/><Relationship Id="rId5" Type="http://schemas.openxmlformats.org/officeDocument/2006/relationships/image" Target="../media/image-10-4.jpg"/><Relationship Id="rId6" Type="http://schemas.openxmlformats.org/officeDocument/2006/relationships/image" Target="../media/image-10-5.jpg"/><Relationship Id="rId7" Type="http://schemas.openxmlformats.org/officeDocument/2006/relationships/image" Target="../media/image-10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1-1.jpg"/><Relationship Id="rId3" Type="http://schemas.openxmlformats.org/officeDocument/2006/relationships/image" Target="../media/image-11-2.jpg"/><Relationship Id="rId4" Type="http://schemas.openxmlformats.org/officeDocument/2006/relationships/image" Target="../media/image-11-3.jpg"/><Relationship Id="rId5" Type="http://schemas.openxmlformats.org/officeDocument/2006/relationships/image" Target="../media/image-11-4.jpg"/><Relationship Id="rId6" Type="http://schemas.openxmlformats.org/officeDocument/2006/relationships/image" Target="../media/image-11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2-1.jpg"/><Relationship Id="rId3" Type="http://schemas.openxmlformats.org/officeDocument/2006/relationships/image" Target="../media/image-12-2.jpg"/><Relationship Id="rId4" Type="http://schemas.openxmlformats.org/officeDocument/2006/relationships/image" Target="../media/image-12-3.jpg"/><Relationship Id="rId5" Type="http://schemas.openxmlformats.org/officeDocument/2006/relationships/image" Target="../media/image-12-4.jpg"/><Relationship Id="rId6" Type="http://schemas.openxmlformats.org/officeDocument/2006/relationships/image" Target="../media/image-12-5.jpg"/><Relationship Id="rId7" Type="http://schemas.openxmlformats.org/officeDocument/2006/relationships/image" Target="../media/image-12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3-1.jpg"/><Relationship Id="rId3" Type="http://schemas.openxmlformats.org/officeDocument/2006/relationships/image" Target="../media/image-13-2.jpg"/><Relationship Id="rId4" Type="http://schemas.openxmlformats.org/officeDocument/2006/relationships/image" Target="../media/image-13-3.jpg"/><Relationship Id="rId5" Type="http://schemas.openxmlformats.org/officeDocument/2006/relationships/image" Target="../media/image-13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image" Target="../media/image-14-1.jpg"/><Relationship Id="rId3" Type="http://schemas.openxmlformats.org/officeDocument/2006/relationships/image" Target="../media/image-14-2.jpg"/><Relationship Id="rId4" Type="http://schemas.openxmlformats.org/officeDocument/2006/relationships/image" Target="../media/image-14-3.jpg"/><Relationship Id="rId5" Type="http://schemas.openxmlformats.org/officeDocument/2006/relationships/image" Target="../media/image-14-4.jpg"/><Relationship Id="rId6" Type="http://schemas.openxmlformats.org/officeDocument/2006/relationships/image" Target="../media/image-14-5.jpg"/><Relationship Id="rId7" Type="http://schemas.openxmlformats.org/officeDocument/2006/relationships/image" Target="../media/image-14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image" Target="../media/image-15-1.jpg"/><Relationship Id="rId3" Type="http://schemas.openxmlformats.org/officeDocument/2006/relationships/image" Target="../media/image-15-2.jpg"/><Relationship Id="rId4" Type="http://schemas.openxmlformats.org/officeDocument/2006/relationships/image" Target="../media/image-15-3.jpg"/><Relationship Id="rId5" Type="http://schemas.openxmlformats.org/officeDocument/2006/relationships/image" Target="../media/image-15-4.jpg"/><Relationship Id="rId6" Type="http://schemas.openxmlformats.org/officeDocument/2006/relationships/image" Target="../media/image-15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6-1.jpg"/><Relationship Id="rId5" Type="http://schemas.openxmlformats.org/officeDocument/2006/relationships/image" Target="../media/image-16-2.jpg"/><Relationship Id="rId6" Type="http://schemas.openxmlformats.org/officeDocument/2006/relationships/image" Target="../media/image-16-3.jpg"/><Relationship Id="rId7" Type="http://schemas.openxmlformats.org/officeDocument/2006/relationships/image" Target="../media/image-16-4.jpg"/><Relationship Id="rId8" Type="http://schemas.openxmlformats.org/officeDocument/2006/relationships/image" Target="../media/image-16-5.jpg"/><Relationship Id="rId9" Type="http://schemas.openxmlformats.org/officeDocument/2006/relationships/image" Target="../media/image-16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7-1.jpg"/><Relationship Id="rId5" Type="http://schemas.openxmlformats.org/officeDocument/2006/relationships/image" Target="../media/image-17-2.jpg"/><Relationship Id="rId6" Type="http://schemas.openxmlformats.org/officeDocument/2006/relationships/image" Target="../media/image-17-3.jpg"/><Relationship Id="rId7" Type="http://schemas.openxmlformats.org/officeDocument/2006/relationships/image" Target="../media/image-17-4.jpg"/><Relationship Id="rId8" Type="http://schemas.openxmlformats.org/officeDocument/2006/relationships/image" Target="../media/image-17-5.jpg"/><Relationship Id="rId9" Type="http://schemas.openxmlformats.org/officeDocument/2006/relationships/image" Target="../media/image-17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8-1.jpg"/><Relationship Id="rId5" Type="http://schemas.openxmlformats.org/officeDocument/2006/relationships/image" Target="../media/image-18-2.jpg"/><Relationship Id="rId6" Type="http://schemas.openxmlformats.org/officeDocument/2006/relationships/image" Target="../media/image-18-3.jpg"/><Relationship Id="rId7" Type="http://schemas.openxmlformats.org/officeDocument/2006/relationships/image" Target="../media/image-18-4.jpg"/><Relationship Id="rId8" Type="http://schemas.openxmlformats.org/officeDocument/2006/relationships/image" Target="../media/image-18-5.jpg"/><Relationship Id="rId9" Type="http://schemas.openxmlformats.org/officeDocument/2006/relationships/image" Target="../media/image-18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9-1.jpg"/><Relationship Id="rId5" Type="http://schemas.openxmlformats.org/officeDocument/2006/relationships/image" Target="../media/image-19-2.jpg"/><Relationship Id="rId6" Type="http://schemas.openxmlformats.org/officeDocument/2006/relationships/image" Target="../media/image-19-3.jpg"/><Relationship Id="rId7" Type="http://schemas.openxmlformats.org/officeDocument/2006/relationships/image" Target="../media/image-19-4.jpg"/><Relationship Id="rId8" Type="http://schemas.openxmlformats.org/officeDocument/2006/relationships/image" Target="../media/image-19-5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image" Target="../media/image-20-3.jpg"/><Relationship Id="rId4" Type="http://schemas.openxmlformats.org/officeDocument/2006/relationships/image" Target="../media/image-20-4.jpg"/><Relationship Id="rId5" Type="http://schemas.openxmlformats.org/officeDocument/2006/relationships/image" Target="../media/image-20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jpg"/><Relationship Id="rId4" Type="http://schemas.openxmlformats.org/officeDocument/2006/relationships/image" Target="../media/image-21-4.jpg"/><Relationship Id="rId5" Type="http://schemas.openxmlformats.org/officeDocument/2006/relationships/image" Target="../media/image-21-5.jpg"/><Relationship Id="rId6" Type="http://schemas.openxmlformats.org/officeDocument/2006/relationships/image" Target="../media/image-21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image" Target="../media/image-22-3.jpg"/><Relationship Id="rId4" Type="http://schemas.openxmlformats.org/officeDocument/2006/relationships/image" Target="../media/image-22-4.jpg"/><Relationship Id="rId5" Type="http://schemas.openxmlformats.org/officeDocument/2006/relationships/image" Target="../media/image-22-5.jpg"/><Relationship Id="rId6" Type="http://schemas.openxmlformats.org/officeDocument/2006/relationships/image" Target="../media/image-22-6.jpg"/><Relationship Id="rId7" Type="http://schemas.openxmlformats.org/officeDocument/2006/relationships/image" Target="../media/image-22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image" Target="../media/image-23-3.jpg"/><Relationship Id="rId4" Type="http://schemas.openxmlformats.org/officeDocument/2006/relationships/image" Target="../media/image-23-4.jpg"/><Relationship Id="rId5" Type="http://schemas.openxmlformats.org/officeDocument/2006/relationships/image" Target="../media/image-23-5.jpg"/><Relationship Id="rId6" Type="http://schemas.openxmlformats.org/officeDocument/2006/relationships/image" Target="../media/image-23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image" Target="../media/image-24-3.jpg"/><Relationship Id="rId4" Type="http://schemas.openxmlformats.org/officeDocument/2006/relationships/image" Target="../media/image-24-4.jpg"/><Relationship Id="rId5" Type="http://schemas.openxmlformats.org/officeDocument/2006/relationships/image" Target="../media/image-24-5.jpg"/><Relationship Id="rId6" Type="http://schemas.openxmlformats.org/officeDocument/2006/relationships/image" Target="../media/image-24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5-1.jpg"/><Relationship Id="rId3" Type="http://schemas.openxmlformats.org/officeDocument/2006/relationships/image" Target="../media/image-25-2.jpg"/><Relationship Id="rId4" Type="http://schemas.openxmlformats.org/officeDocument/2006/relationships/image" Target="../media/image-25-3.jpg"/><Relationship Id="rId5" Type="http://schemas.openxmlformats.org/officeDocument/2006/relationships/image" Target="../media/image-25-4.jpg"/><Relationship Id="rId6" Type="http://schemas.openxmlformats.org/officeDocument/2006/relationships/image" Target="../media/image-25-5.jpg"/><Relationship Id="rId7" Type="http://schemas.openxmlformats.org/officeDocument/2006/relationships/image" Target="../media/image-25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6-1.jpg"/><Relationship Id="rId3" Type="http://schemas.openxmlformats.org/officeDocument/2006/relationships/image" Target="../media/image-26-2.jpg"/><Relationship Id="rId4" Type="http://schemas.openxmlformats.org/officeDocument/2006/relationships/image" Target="../media/image-26-3.jpg"/><Relationship Id="rId5" Type="http://schemas.openxmlformats.org/officeDocument/2006/relationships/image" Target="../media/image-26-4.jpg"/><Relationship Id="rId6" Type="http://schemas.openxmlformats.org/officeDocument/2006/relationships/image" Target="../media/image-26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7-1.jpg"/><Relationship Id="rId3" Type="http://schemas.openxmlformats.org/officeDocument/2006/relationships/image" Target="../media/image-27-2.jpg"/><Relationship Id="rId4" Type="http://schemas.openxmlformats.org/officeDocument/2006/relationships/image" Target="../media/image-27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image" Target="../media/image-28-3.jpg"/><Relationship Id="rId4" Type="http://schemas.openxmlformats.org/officeDocument/2006/relationships/image" Target="../media/image-28-4.jpg"/><Relationship Id="rId5" Type="http://schemas.openxmlformats.org/officeDocument/2006/relationships/image" Target="../media/image-28-5.jpg"/><Relationship Id="rId6" Type="http://schemas.openxmlformats.org/officeDocument/2006/relationships/image" Target="../media/image-28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image" Target="../media/image-29-3.jpg"/><Relationship Id="rId4" Type="http://schemas.openxmlformats.org/officeDocument/2006/relationships/image" Target="../media/image-29-4.jpg"/><Relationship Id="rId5" Type="http://schemas.openxmlformats.org/officeDocument/2006/relationships/image" Target="../media/image-29-5.jpg"/><Relationship Id="rId6" Type="http://schemas.openxmlformats.org/officeDocument/2006/relationships/image" Target="../media/image-29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image" Target="../media/image-30-3.jpg"/><Relationship Id="rId4" Type="http://schemas.openxmlformats.org/officeDocument/2006/relationships/image" Target="../media/image-30-4.jpg"/><Relationship Id="rId5" Type="http://schemas.openxmlformats.org/officeDocument/2006/relationships/image" Target="../media/image-30-5.jpg"/><Relationship Id="rId6" Type="http://schemas.openxmlformats.org/officeDocument/2006/relationships/image" Target="../media/image-30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image" Target="../media/image-31-3.jpg"/><Relationship Id="rId4" Type="http://schemas.openxmlformats.org/officeDocument/2006/relationships/image" Target="../media/image-31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11480" y="1737360"/>
            <a:ext cx="1371600" cy="0"/>
          </a:xfrm>
          <a:prstGeom prst="line">
            <a:avLst/>
          </a:prstGeom>
          <a:noFill/>
          <a:ln w="2794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9202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 8本</a:t>
            </a:r>
            <a:endParaRPr lang="en-US" sz="4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企画・構成・絵コンテ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11480" y="3429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50" kern="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Eight Films / Plan, Structure, Storyboard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5486400"/>
            <a:ext cx="11368735" cy="0"/>
          </a:xfrm>
          <a:prstGeom prst="line">
            <a:avLst/>
          </a:prstGeom>
          <a:noFill/>
          <a:ln w="12700">
            <a:solidFill>
              <a:srgbClr val="E6DE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5614416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2026年9月6日　第5版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株式会社B supply　宮下 詩織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テロップはすべて日本語と英語の二本立てで記載しています。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 次　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11480" y="6217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8本の動画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1170432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・8本目以外は参考動画があり、絵コンテの写真もそこから抜いています。6本目は、いただいた写真と、5本目・2本目の映像から画角の参考として写真を当てています。8本目は、いただいた店舗紹介の録画から写真を当てています。参考動画の秒数は、いただいた録画から測った目安です。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136873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017520"/>
                <a:gridCol w="1417320"/>
                <a:gridCol w="2606040"/>
                <a:gridCol w="3840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#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タイトル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尺・本数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届ける相手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その日の服に、その日の色。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 Colour for Every Outfit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（innovator SWEDEN）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この道、20年。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Twenty Years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新規（まだ知らない人）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いただいた録画2本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2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（コバ塗り・477万再生）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The Making of the Voyage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Voyageの作り方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メディア関係者・ハイエンド層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3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（delvaux）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What You Carry Makes You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4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（parisawangny）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コーポレートムービー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Corporate Film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75秒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メディア関係者・OEMの調達担当・新規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5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6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7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（コーポレートムービー）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選ばれる理由。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Why Brands Choose Us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2分20秒 ×1／無音版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OEMの調達・生産担当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いただいた録画1本（工場案内）＋⑤と同様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朝も仕事も、スマートに。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Smart from Morning to Work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25秒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新規（買う直前の人）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8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購入者インタビュー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Customer Interview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60秒 ×1（仮）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購入を迷っている新規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17ショット（支度をのぞき、一場面につき全体と腰より上の二枚）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2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家を出てから会社に着くまでの三十秒。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すまし顔・笑う・振り返る・立ち止まる ── 服装ごとに気分が違うことを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ポップに、テンポよく描写する。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手元の超アップは、冒頭のキーケース以外は使わない。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そこから先は全身の引きと、腰より上の二枚だけで撮る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場所は参考動画と同じで最後まで使い回し、人と服と色だけを入れ替える。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始まりはキーケースの寄り。ピントを外した状態から、手が入って取り上げ、ピントが合う。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そこから鏡で鞄を合わせ、玄関のドアを開ける。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ドアが開いた瞬間、もう別の服になっている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この一本の決まりごとを、いちばん最初に見せてしまう。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支度が一色目。そこから四回着替えて、全部で五色。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会社に着いたところが五色目。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これまで着てきた服と鞄が、人とすれ違うたびに次々に入れ替わり、すれ違った相手に振り返られる。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最後は五色を並べて終える。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支度をのぞく一つの場面は、二カットだけ撮る。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に寄って表情と鞄の色を同時に見せる。この二枚を五回くり返す。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色が切り替わる瞬間は、必ず手前を何かが横切るか、ドアを通る。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①玄関のドアが開く（冒頭）②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駅の柱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会社のドア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を通る ⑤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人とすれ違う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横切るものは各シーンの見出しに書いてある。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いずれも抜けた瞬間に服と色が変わっている。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参考動画は木の幹の前ボケでつないでいるので、並木道の二場面ではそれも使える。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参考動画はスーツケースの広告なので場所が空港になっている。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こちらは通勤路に置き換える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（並木道 → 駅 → 会社のエントランス）。玄関・並木道・駅・会社のロビーの四か所で撮り切れる。売り込みはひとつも入れない。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3315500" y="4201355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支度（一色目）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315500" y="4583574"/>
            <a:ext cx="575072" cy="10223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1_01_キーケースのアップ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5500" y="4735330"/>
            <a:ext cx="575072" cy="71884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3315500" y="4583574"/>
            <a:ext cx="575072" cy="10223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315500" y="5642500"/>
            <a:ext cx="575072" cy="740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キーケースの寄りで始まる。初めはピントを外しておく。</a:t>
            </a:r>
            <a:pPr indent="0" marL="0">
              <a:lnSpc>
                <a:spcPct val="124000"/>
              </a:lnSpc>
              <a:buNone/>
            </a:pPr>
            <a:r>
              <a:rPr lang="en-US" sz="5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そこへ手が入って取り上げ、</a:t>
            </a:r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ピントが合う。</a:t>
            </a:r>
            <a:endParaRPr lang="en-US" sz="580" dirty="0"/>
          </a:p>
        </p:txBody>
      </p:sp>
      <p:sp>
        <p:nvSpPr>
          <p:cNvPr id="23" name="Shape 20"/>
          <p:cNvSpPr/>
          <p:nvPr/>
        </p:nvSpPr>
        <p:spPr>
          <a:xfrm>
            <a:off x="3982012" y="4583574"/>
            <a:ext cx="575072" cy="10223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1_02_鏡で身支度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012" y="4807214"/>
            <a:ext cx="575072" cy="57507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982012" y="4583574"/>
            <a:ext cx="575072" cy="10223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982012" y="5642500"/>
            <a:ext cx="575072" cy="740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鏡の前。</a:t>
            </a:r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キーケースを同じ色の鞄に入れ、鞄を肩に当てて合わせる。</a:t>
            </a:r>
            <a:pPr indent="0" marL="0">
              <a:lnSpc>
                <a:spcPct val="124000"/>
              </a:lnSpc>
              <a:buNone/>
            </a:pPr>
            <a:r>
              <a:rPr lang="en-US" sz="5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身支度をしているところ。</a:t>
            </a:r>
            <a:endParaRPr lang="en-US" sz="580" dirty="0"/>
          </a:p>
        </p:txBody>
      </p:sp>
      <p:sp>
        <p:nvSpPr>
          <p:cNvPr id="27" name="Shape 23"/>
          <p:cNvSpPr/>
          <p:nvPr/>
        </p:nvSpPr>
        <p:spPr>
          <a:xfrm>
            <a:off x="4648524" y="4583574"/>
            <a:ext cx="575072" cy="10223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1_S1_03_玄関のドアを開け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524" y="4663114"/>
            <a:ext cx="575072" cy="863272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648524" y="4583574"/>
            <a:ext cx="575072" cy="10223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648524" y="5642500"/>
            <a:ext cx="575072" cy="740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玄関のドアに手をかけて開ける（後ろ姿・逆光）。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5315036" y="4583574"/>
            <a:ext cx="575072" cy="10223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1_S2_01_ドアが開くと別の服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2156" y="4583574"/>
            <a:ext cx="560832" cy="1022350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5315036" y="4583574"/>
            <a:ext cx="575072" cy="10223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5315036" y="5642500"/>
            <a:ext cx="575072" cy="740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ドアが開くと、もう別の服になっている。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同じ玄関、違う人。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この一本の決まりごとを、いちばん最初に見せてしまう。</a:t>
            </a:r>
            <a:endParaRPr lang="en-US" sz="540" dirty="0"/>
          </a:p>
        </p:txBody>
      </p:sp>
      <p:sp>
        <p:nvSpPr>
          <p:cNvPr id="35" name="Text 29"/>
          <p:cNvSpPr/>
          <p:nvPr/>
        </p:nvSpPr>
        <p:spPr>
          <a:xfrm>
            <a:off x="6301588" y="4201355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二色目・並木道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5-9秒　｜　切り替わり＝玄関のドアが開く</a:t>
            </a:r>
            <a:endParaRPr lang="en-US" sz="1150" dirty="0"/>
          </a:p>
        </p:txBody>
      </p:sp>
      <p:sp>
        <p:nvSpPr>
          <p:cNvPr id="36" name="Shape 30"/>
          <p:cNvSpPr/>
          <p:nvPr/>
        </p:nvSpPr>
        <p:spPr>
          <a:xfrm>
            <a:off x="6301588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1_S2_02_歩いてくる全身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1588" y="5004685"/>
            <a:ext cx="797243" cy="575098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6301588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6301588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そのまま通勤路へ。並木道を歩いてくる全身の引き。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すまし顔。</a:t>
            </a:r>
            <a:endParaRPr lang="en-US" sz="540" dirty="0"/>
          </a:p>
        </p:txBody>
      </p:sp>
      <p:sp>
        <p:nvSpPr>
          <p:cNvPr id="40" name="Shape 33"/>
          <p:cNvSpPr/>
          <p:nvPr/>
        </p:nvSpPr>
        <p:spPr>
          <a:xfrm>
            <a:off x="719027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1_S2_03_腰より上_一色目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90270" y="4833216"/>
            <a:ext cx="797243" cy="918037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719027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719027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同じ人に寄る。</a:t>
            </a:r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鞄の色と表情が一度に見える。</a:t>
            </a:r>
            <a:endParaRPr lang="en-US" sz="64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31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17ショット（支度をのぞき、一場面につき全体と腰より上の二枚）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2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家を出てから会社に着くまでの三十秒。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すまし顔・笑う・振り返る・立ち止まる ── 服装ごとに気分が違うことを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ポップに、テンポよく描写する。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手元の超アップは、冒頭のキーケース以外は使わない。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そこから先は全身の引きと、腰より上の二枚だけで撮る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場所は参考動画と同じで最後まで使い回し、人と服と色だけを入れ替える。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始まりはキーケースの寄り。ピントを外した状態から、手が入って取り上げ、ピントが合う。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そこから鏡で鞄を合わせ、玄関のドアを開ける。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ドアが開いた瞬間、もう別の服になっている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この一本の決まりごとを、いちばん最初に見せてしまう。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支度が一色目。そこから四回着替えて、全部で五色。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会社に着いたところが五色目。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これまで着てきた服と鞄が、人とすれ違うたびに次々に入れ替わり、すれ違った相手に振り返られる。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最後は五色を並べて終える。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支度をのぞく一つの場面は、二カットだけ撮る。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に寄って表情と鞄の色を同時に見せる。この二枚を五回くり返す。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色が切り替わる瞬間は、必ず手前を何かが横切るか、ドアを通る。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①玄関のドアが開く（冒頭）②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駅の柱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会社のドア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を通る ⑤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人とすれ違う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横切るものは各シーンの見出しに書いてある。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いずれも抜けた瞬間に服と色が変わっている。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参考動画は木の幹の前ボケでつないでいるので、並木道の二場面ではそれも使える。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参考動画はスーツケースの広告なので場所が空港になっている。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こちらは通勤路に置き換える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（並木道 → 駅 → 会社のエントランス）。玄関・並木道・駅・会社のロビーの四か所で撮り切れる。売り込みはひとつも入れない。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3315500" y="4201355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三色目・並木道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9-13秒　｜　切り替わり＝手前を車が横切る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31550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3_01_服が変わり色も変わ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5500" y="5035646"/>
            <a:ext cx="797243" cy="51317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331550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31550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車が抜けると、服も鞄の色も変わっている。</a:t>
            </a:r>
            <a:endParaRPr lang="en-US" sz="640" dirty="0"/>
          </a:p>
        </p:txBody>
      </p:sp>
      <p:sp>
        <p:nvSpPr>
          <p:cNvPr id="23" name="Shape 20"/>
          <p:cNvSpPr/>
          <p:nvPr/>
        </p:nvSpPr>
        <p:spPr>
          <a:xfrm>
            <a:off x="4204183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3_02_三色目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4183" y="5035646"/>
            <a:ext cx="797243" cy="5131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04183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204183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サングラスを直す。</a:t>
            </a:r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ここは笑っている表情で。</a:t>
            </a:r>
            <a:endParaRPr lang="en-US" sz="640" dirty="0"/>
          </a:p>
        </p:txBody>
      </p:sp>
      <p:sp>
        <p:nvSpPr>
          <p:cNvPr id="27" name="Text 23"/>
          <p:cNvSpPr/>
          <p:nvPr/>
        </p:nvSpPr>
        <p:spPr>
          <a:xfrm>
            <a:off x="6301588" y="4201355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四色目・駅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13-17秒　｜　切り替わり＝手前を駅の柱が横切る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6301588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1_S4_02_抜けたら四色目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5035646"/>
            <a:ext cx="797243" cy="513176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6301588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301588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柱が抜けると、場所が駅に変わっている。</a:t>
            </a:r>
            <a:endParaRPr lang="en-US" sz="640" dirty="0"/>
          </a:p>
        </p:txBody>
      </p:sp>
      <p:sp>
        <p:nvSpPr>
          <p:cNvPr id="32" name="Shape 27"/>
          <p:cNvSpPr/>
          <p:nvPr/>
        </p:nvSpPr>
        <p:spPr>
          <a:xfrm>
            <a:off x="719027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1_S4_03_場所が変わる_構内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0270" y="5035646"/>
            <a:ext cx="797243" cy="513176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719027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719027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構内を歩く。</a:t>
            </a:r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少し急ぎ足の表情。</a:t>
            </a:r>
            <a:endParaRPr lang="en-US" sz="640" dirty="0"/>
          </a:p>
        </p:txBody>
      </p:sp>
      <p:sp>
        <p:nvSpPr>
          <p:cNvPr id="36" name="Text 3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31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17ショット（支度をのぞき、一場面につき全体と腰より上の二枚）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2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家を出てから会社に着くまでの三十秒。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すまし顔・笑う・振り返る・立ち止まる ── 服装ごとに気分が違うことを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ポップに、テンポよく描写する。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手元の超アップは、冒頭のキーケース以外は使わない。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そこから先は全身の引きと、腰より上の二枚だけで撮る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場所は参考動画と同じで最後まで使い回し、人と服と色だけを入れ替える。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始まりはキーケースの寄り。ピントを外した状態から、手が入って取り上げ、ピントが合う。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そこから鏡で鞄を合わせ、玄関のドアを開ける。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ドアが開いた瞬間、もう別の服になっている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この一本の決まりごとを、いちばん最初に見せてしまう。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支度が一色目。そこから四回着替えて、全部で五色。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会社に着いたところが五色目。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これまで着てきた服と鞄が、人とすれ違うたびに次々に入れ替わり、すれ違った相手に振り返られる。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最後は五色を並べて終える。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支度をのぞく一つの場面は、二カットだけ撮る。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に寄って表情と鞄の色を同時に見せる。この二枚を五回くり返す。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色が切り替わる瞬間は、必ず手前を何かが横切るか、ドアを通る。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①玄関のドアが開く（冒頭）②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駅の柱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会社のドア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を通る ⑤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人とすれ違う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横切るものは各シーンの見出しに書いてある。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いずれも抜けた瞬間に服と色が変わっている。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参考動画は木の幹の前ボケでつないでいるので、並木道の二場面ではそれも使える。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参考動画はスーツケースの広告なので場所が空港になっている。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こちらは通勤路に置き換える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（並木道 → 駅 → 会社のエントランス）。玄関・並木道・駅・会社のロビーの四か所で撮り切れる。売り込みはひとつも入れない。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3315500" y="4201355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会社に着く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17-21秒　｜　切り替わり＝会社のドアを通る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31550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6_03_立ち止ま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5500" y="5035646"/>
            <a:ext cx="797243" cy="51317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331550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31550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全体。会社のドアを通ると、服も鞄の色も変わっている（五色目）。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ロビーで立ち止まる。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ここが到着点。</a:t>
            </a:r>
            <a:endParaRPr lang="en-US" sz="540" dirty="0"/>
          </a:p>
        </p:txBody>
      </p:sp>
      <p:sp>
        <p:nvSpPr>
          <p:cNvPr id="23" name="Shape 20"/>
          <p:cNvSpPr/>
          <p:nvPr/>
        </p:nvSpPr>
        <p:spPr>
          <a:xfrm>
            <a:off x="4204183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6_04_腰より上_到着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4183" y="4835749"/>
            <a:ext cx="797243" cy="91297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04183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204183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肩の鞄を掛け直して笑う。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三十秒でいちばん明るい表情。</a:t>
            </a:r>
            <a:endParaRPr lang="en-US" sz="540" dirty="0"/>
          </a:p>
        </p:txBody>
      </p:sp>
      <p:sp>
        <p:nvSpPr>
          <p:cNvPr id="27" name="Text 23"/>
          <p:cNvSpPr/>
          <p:nvPr/>
        </p:nvSpPr>
        <p:spPr>
          <a:xfrm>
            <a:off x="6301588" y="4201355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すれ違うたびに変わる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21-25秒　｜　切り替わり＝人とすれ違う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6301588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1_S5_02_通路を歩く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5035646"/>
            <a:ext cx="797243" cy="513176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6301588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301588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ロビーを歩く。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人とすれ違うたびに、これまで着てきた服と鞄に入れ替わる。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横移動で追う。</a:t>
            </a:r>
            <a:endParaRPr lang="en-US" sz="540" dirty="0"/>
          </a:p>
        </p:txBody>
      </p:sp>
      <p:sp>
        <p:nvSpPr>
          <p:cNvPr id="32" name="Shape 27"/>
          <p:cNvSpPr/>
          <p:nvPr/>
        </p:nvSpPr>
        <p:spPr>
          <a:xfrm>
            <a:off x="719027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1_S5_03_入口に着く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0270" y="5035646"/>
            <a:ext cx="797243" cy="513176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719027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719027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腰より上。すれ違った相手が振り返る。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色が変わったことに気づかれる。</a:t>
            </a:r>
            <a:endParaRPr lang="en-US" sz="540" dirty="0"/>
          </a:p>
        </p:txBody>
      </p:sp>
      <p:sp>
        <p:nvSpPr>
          <p:cNvPr id="36" name="Text 3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31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17ショット（支度をのぞき、一場面につき全体と腰より上の二枚）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2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家を出てから会社に着くまでの三十秒。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すまし顔・笑う・振り返る・立ち止まる ── 服装ごとに気分が違うことを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ポップに、テンポよく描写する。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手元の超アップは、冒頭のキーケース以外は使わない。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そこから先は全身の引きと、腰より上の二枚だけで撮る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場所は参考動画と同じで最後まで使い回し、人と服と色だけを入れ替える。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始まりはキーケースの寄り。ピントを外した状態から、手が入って取り上げ、ピントが合う。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そこから鏡で鞄を合わせ、玄関のドアを開ける。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ドアが開いた瞬間、もう別の服になっている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この一本の決まりごとを、いちばん最初に見せてしまう。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支度が一色目。そこから四回着替えて、全部で五色。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会社に着いたところが五色目。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これまで着てきた服と鞄が、人とすれ違うたびに次々に入れ替わり、すれ違った相手に振り返られる。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最後は五色を並べて終える。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支度をのぞく一つの場面は、二カットだけ撮る。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に寄って表情と鞄の色を同時に見せる。この二枚を五回くり返す。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色が切り替わる瞬間は、必ず手前を何かが横切るか、ドアを通る。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①玄関のドアが開く（冒頭）②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駅の柱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会社のドア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を通る ⑤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人とすれ違う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横切るものは各シーンの見出しに書いてある。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いずれも抜けた瞬間に服と色が変わっている。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参考動画は木の幹の前ボケでつないでいるので、並木道の二場面ではそれも使える。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参考動画はスーツケースの広告なので場所が空港になっている。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こちらは通勤路に置き換える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（並木道 → 駅 → 会社のエントランス）。玄関・並木道・駅・会社のロビーの四か所で撮り切れる。売り込みはひとつも入れない。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3315500" y="4201355"/>
            <a:ext cx="257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並べて終わる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25-30秒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315500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7_01_人が出て小物だけが残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5500" y="4909459"/>
            <a:ext cx="797243" cy="51317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3315500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315500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バッグのアップショット。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4204183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7_02_全色が並ぶ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4183" y="4909459"/>
            <a:ext cx="797243" cy="5131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04183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204183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この画にテロップ「同じ道を、違う私で。」を重ね、ナレーション「毎日をカラフルに」が一言だけ入る。</a:t>
            </a:r>
            <a:endParaRPr lang="en-US" sz="540" dirty="0"/>
          </a:p>
        </p:txBody>
      </p:sp>
      <p:sp>
        <p:nvSpPr>
          <p:cNvPr id="27" name="Shape 23"/>
          <p:cNvSpPr/>
          <p:nvPr/>
        </p:nvSpPr>
        <p:spPr>
          <a:xfrm>
            <a:off x="5092865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共通_ロゴの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2865" y="4457387"/>
            <a:ext cx="797243" cy="141732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5092865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092865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31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60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完成した鞄を最初に一度だけ見せてから、工程の頭に戻る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一工程あたり二〜三カット、一カットは一〜二秒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最初に見せた完成品を、最後にもう一度見せて閉じる。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二十四カットを四十秒に詰めることで、手が止まらない感じが出る。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に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976862" y="3936583"/>
            <a:ext cx="29132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完成形を見せる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976862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1_01_完成形を手に持つ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862" y="4432786"/>
            <a:ext cx="910122" cy="11376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976862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976862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出来上がった鞄を手に取る（寄り）。</a:t>
            </a:r>
            <a:pPr indent="0" marL="0">
              <a:lnSpc>
                <a:spcPct val="124000"/>
              </a:lnSpc>
              <a:buNone/>
            </a:pPr>
            <a:r>
              <a:rPr lang="en-US" sz="70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これから何を作るのかを、最初に一度だけ見せる。</a:t>
            </a:r>
            <a:endParaRPr lang="en-US" sz="700" dirty="0"/>
          </a:p>
        </p:txBody>
      </p:sp>
      <p:sp>
        <p:nvSpPr>
          <p:cNvPr id="23" name="Shape 20"/>
          <p:cNvSpPr/>
          <p:nvPr/>
        </p:nvSpPr>
        <p:spPr>
          <a:xfrm>
            <a:off x="3978424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1_02_台に立てて置く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8424" y="4432786"/>
            <a:ext cx="910122" cy="11376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978424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978424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作業台に置いて、手が離れる（横）。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ここから工程の頭に戻る。</a:t>
            </a:r>
            <a:endParaRPr lang="en-US" sz="720" dirty="0"/>
          </a:p>
        </p:txBody>
      </p:sp>
      <p:sp>
        <p:nvSpPr>
          <p:cNvPr id="27" name="Text 23"/>
          <p:cNvSpPr/>
          <p:nvPr/>
        </p:nvSpPr>
        <p:spPr>
          <a:xfrm>
            <a:off x="6301588" y="3936583"/>
            <a:ext cx="29132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革を選ぶ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4-8秒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6301588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2_S2_01_革のロールが並ぶ棚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432786"/>
            <a:ext cx="910122" cy="1137652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6301588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301588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革のロールが並ぶ棚（引き）。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扱える革の量がそのまま画に入る。</a:t>
            </a:r>
            <a:endParaRPr lang="en-US" sz="720" dirty="0"/>
          </a:p>
        </p:txBody>
      </p:sp>
      <p:sp>
        <p:nvSpPr>
          <p:cNvPr id="32" name="Shape 27"/>
          <p:cNvSpPr/>
          <p:nvPr/>
        </p:nvSpPr>
        <p:spPr>
          <a:xfrm>
            <a:off x="7303149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2_S2_02_一本を抱えて運ぶ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3149" y="4432786"/>
            <a:ext cx="910122" cy="113765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7303149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7303149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一本を抱えて運ぶ。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ここから工程が始まる。</a:t>
            </a:r>
            <a:endParaRPr lang="en-US" sz="720" dirty="0"/>
          </a:p>
        </p:txBody>
      </p:sp>
      <p:sp>
        <p:nvSpPr>
          <p:cNvPr id="36" name="Text 3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31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60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完成した鞄を最初に一度だけ見せてから、工程の頭に戻る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一工程あたり二〜三カット、一カットは一〜二秒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最初に見せた完成品を、最後にもう一度見せて閉じる。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二十四カットを四十秒に詰めることで、手が止まらない感じが出る。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に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968468" y="3936583"/>
            <a:ext cx="29216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裁つ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8-13秒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96846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3_01_抜き型を革に置く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8468" y="4433525"/>
            <a:ext cx="912920" cy="114115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96846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96846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抜き型を革の上に置く（真俯瞰）。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置く位置を決める手。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97282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3_02_裁断機に革を送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2828" y="4433525"/>
            <a:ext cx="912920" cy="114115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97282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97282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裁断機に革を送る（横）。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刃が入る一音。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97718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2_S3_03_抜けたパーツ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7188" y="4433525"/>
            <a:ext cx="912920" cy="114115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97718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97718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抜いたパーツを型と並べて確かめる。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断面はまだ生成りのまま。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936583"/>
            <a:ext cx="29216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貼る・形を出す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13-19秒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2_S4_01_二枚を合わせ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4433525"/>
            <a:ext cx="912920" cy="1141150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二枚の革を合わせる（真俯瞰）。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表の革と裏の革。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7305947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2_S4_02_合わせた断面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5947" y="4433525"/>
            <a:ext cx="912920" cy="1141150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7305947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305947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重ねた一枚（寄り）。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表の革の下に、裏の革がある。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8310307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2_S4_03_両手で押さえて形を出す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0307" y="4433525"/>
            <a:ext cx="912920" cy="1141150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8310307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8310307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両手で押さえて形を出す。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平らな革が立体になる。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31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60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完成した鞄を最初に一度だけ見せてから、工程の頭に戻る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一工程あたり二〜三カット、一カットは一〜二秒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最初に見せた完成品を、最後にもう一度見せて閉じる。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二十四カットを四十秒に詰めることで、手が止まらない感じが出る。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に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976862" y="3936583"/>
            <a:ext cx="29132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縫う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19-27秒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976862" y="4192615"/>
            <a:ext cx="509497" cy="90577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5_01_革を持ってミシンへ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862" y="4327066"/>
            <a:ext cx="509497" cy="636871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976862" y="4192615"/>
            <a:ext cx="509497" cy="90577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976862" y="5134964"/>
            <a:ext cx="509497" cy="1247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革を持ってミシンへ（引き）。工房が背景に入る。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577799" y="4192615"/>
            <a:ext cx="509497" cy="90577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5_02_針が上下す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7799" y="4327066"/>
            <a:ext cx="509497" cy="63687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577799" y="4192615"/>
            <a:ext cx="509497" cy="90577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577799" y="5134964"/>
            <a:ext cx="509497" cy="1247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針が上下する（寄り）。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糸が締まる音。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78736" y="4192615"/>
            <a:ext cx="509497" cy="90577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2_S5_03_縫い進む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8736" y="4327066"/>
            <a:ext cx="509497" cy="636871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78736" y="4192615"/>
            <a:ext cx="509497" cy="90577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78736" y="5134964"/>
            <a:ext cx="509497" cy="1247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縫い進む（別の角度・寄り）。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縫い目が伸びていく。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4779673" y="4192615"/>
            <a:ext cx="509497" cy="90577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2_S5_04_手縫いで引き締め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9673" y="4327066"/>
            <a:ext cx="509497" cy="636871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4779673" y="4192615"/>
            <a:ext cx="509497" cy="90577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4779673" y="5134964"/>
            <a:ext cx="509497" cy="1247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手縫いに替える。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両手で糸を引き締める（寄り）。機械と手の両方でやっていることを見せる。</a:t>
            </a:r>
            <a:endParaRPr lang="en-US" sz="720" dirty="0"/>
          </a:p>
        </p:txBody>
      </p:sp>
      <p:sp>
        <p:nvSpPr>
          <p:cNvPr id="35" name="Shape 29"/>
          <p:cNvSpPr/>
          <p:nvPr/>
        </p:nvSpPr>
        <p:spPr>
          <a:xfrm>
            <a:off x="5380611" y="4192615"/>
            <a:ext cx="509497" cy="90577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6" name="Image 4" descr="/home/user/dougaseisaku/assets/ref4/2_S5_05_刃で切り込みを入れ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0611" y="4327066"/>
            <a:ext cx="509497" cy="636871"/>
          </a:xfrm>
          <a:prstGeom prst="rect">
            <a:avLst/>
          </a:prstGeom>
        </p:spPr>
      </p:pic>
      <p:sp>
        <p:nvSpPr>
          <p:cNvPr id="37" name="Shape 30"/>
          <p:cNvSpPr/>
          <p:nvPr/>
        </p:nvSpPr>
        <p:spPr>
          <a:xfrm>
            <a:off x="5380611" y="4192615"/>
            <a:ext cx="509497" cy="90577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5380611" y="5134964"/>
            <a:ext cx="509497" cy="1247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刃で縁に切り込みを入れる（超マクロ）。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切る一音を拾う。</a:t>
            </a:r>
            <a:endParaRPr lang="en-US" sz="720" dirty="0"/>
          </a:p>
        </p:txBody>
      </p:sp>
      <p:sp>
        <p:nvSpPr>
          <p:cNvPr id="39" name="Text 32"/>
          <p:cNvSpPr/>
          <p:nvPr/>
        </p:nvSpPr>
        <p:spPr>
          <a:xfrm>
            <a:off x="6301588" y="3936583"/>
            <a:ext cx="29132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コバ塗り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27-33秒</a:t>
            </a:r>
            <a:endParaRPr lang="en-US" sz="1150" dirty="0"/>
          </a:p>
        </p:txBody>
      </p:sp>
      <p:sp>
        <p:nvSpPr>
          <p:cNvPr id="40" name="Shape 33"/>
          <p:cNvSpPr/>
          <p:nvPr/>
        </p:nvSpPr>
        <p:spPr>
          <a:xfrm>
            <a:off x="6301588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2_S6_01_道具の先が断面に触れ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4378851"/>
            <a:ext cx="910122" cy="1245523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6301588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6301588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塗り始め。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道具の先が断面に触れる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（超マクロ）</a:t>
            </a:r>
            <a:endParaRPr lang="en-US" sz="720" dirty="0"/>
          </a:p>
        </p:txBody>
      </p:sp>
      <p:sp>
        <p:nvSpPr>
          <p:cNvPr id="44" name="Shape 36"/>
          <p:cNvSpPr/>
          <p:nvPr/>
        </p:nvSpPr>
        <p:spPr>
          <a:xfrm>
            <a:off x="7303149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5" name="Image 6" descr="/home/user/dougaseisaku/assets/ref4/2_S6_02_コバ塗り_塗り進む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03149" y="4378851"/>
            <a:ext cx="910122" cy="1245523"/>
          </a:xfrm>
          <a:prstGeom prst="rect">
            <a:avLst/>
          </a:prstGeom>
        </p:spPr>
      </p:pic>
      <p:sp>
        <p:nvSpPr>
          <p:cNvPr id="46" name="Shape 37"/>
          <p:cNvSpPr/>
          <p:nvPr/>
        </p:nvSpPr>
        <p:spPr>
          <a:xfrm>
            <a:off x="7303149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7" name="Text 38"/>
          <p:cNvSpPr/>
          <p:nvPr/>
        </p:nvSpPr>
        <p:spPr>
          <a:xfrm>
            <a:off x="7303149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この一本の見せ場。</a:t>
            </a:r>
            <a:pPr indent="0" marL="0">
              <a:lnSpc>
                <a:spcPct val="124000"/>
              </a:lnSpc>
              <a:buNone/>
            </a:pPr>
            <a:r>
              <a:rPr lang="en-US" sz="6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塗った側と塗っていない側が同じ画面に入る。</a:t>
            </a:r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長回し・カットを割らない。</a:t>
            </a:r>
            <a:endParaRPr lang="en-US" sz="620" dirty="0"/>
          </a:p>
        </p:txBody>
      </p:sp>
      <p:sp>
        <p:nvSpPr>
          <p:cNvPr id="48" name="Shape 39"/>
          <p:cNvSpPr/>
          <p:nvPr/>
        </p:nvSpPr>
        <p:spPr>
          <a:xfrm>
            <a:off x="8304711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9" name="Image 7" descr="/home/user/dougaseisaku/assets/ref4/2_S6_03_塗り終わりの断面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04711" y="4378851"/>
            <a:ext cx="910122" cy="1245523"/>
          </a:xfrm>
          <a:prstGeom prst="rect">
            <a:avLst/>
          </a:prstGeom>
        </p:spPr>
      </p:pic>
      <p:sp>
        <p:nvSpPr>
          <p:cNvPr id="50" name="Shape 40"/>
          <p:cNvSpPr/>
          <p:nvPr/>
        </p:nvSpPr>
        <p:spPr>
          <a:xfrm>
            <a:off x="8304711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1" name="Text 41"/>
          <p:cNvSpPr/>
          <p:nvPr/>
        </p:nvSpPr>
        <p:spPr>
          <a:xfrm>
            <a:off x="8304711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塗り終わり。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同じ画角のまま断面の色が変わりきっている。</a:t>
            </a:r>
            <a:endParaRPr lang="en-US" sz="720" dirty="0"/>
          </a:p>
        </p:txBody>
      </p:sp>
      <p:sp>
        <p:nvSpPr>
          <p:cNvPr id="52" name="Text 4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3" name="Text 4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31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60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完成した鞄を最初に一度だけ見せてから、工程の頭に戻る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一工程あたり二〜三カット、一カットは一〜二秒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最初に見せた完成品を、最後にもう一度見せて閉じる。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二十四カットを四十秒に詰めることで、手が止まらない感じが出る。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に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968468" y="3936583"/>
            <a:ext cx="29216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仕上げる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33-37秒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96846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7_01_作業台で確かめ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8468" y="4433525"/>
            <a:ext cx="912920" cy="114115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96846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96846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作業台で手元を確かめる（引き）。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誰が作っているかを一度だけ見せる。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97282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7_02_道具でコバを整え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2828" y="4433525"/>
            <a:ext cx="912920" cy="114115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97282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97282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道具でコバを整える（寄り）。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摩擦音。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97718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2_S7_03_縁に印をつけ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7188" y="4433525"/>
            <a:ext cx="912920" cy="114115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97718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97718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縁に印をつける（寄り）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936583"/>
            <a:ext cx="29216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完成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37-40秒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2_S8_01_縁を折り返す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4433525"/>
            <a:ext cx="912920" cy="1141150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最後の一手。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縁を手で仕上げる（寄り）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7305947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2_S8_02_完成品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5947" y="4433525"/>
            <a:ext cx="912920" cy="1141150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7305947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305947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完成した鞄を両手で持ち上げる（横）。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S1で見せた鞄が、ここで揃う。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8310307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共通_ロゴのみ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0307" y="4192615"/>
            <a:ext cx="912920" cy="1622969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8310307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8310307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ここで作業音も切る。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31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Voyageの作り方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15ショット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85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226519" y="2904317"/>
            <a:ext cx="46635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超マクロ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226519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1_01_闇に光の帯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6519" y="3943478"/>
            <a:ext cx="1493570" cy="1088977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1226519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226519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真っ黒。細い光の帯が一本だけ立つ。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811529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1_02_光の帯が動く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1529" y="4102747"/>
            <a:ext cx="1493570" cy="770439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811529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811529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光の帯がゆっくり動く。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無音から低いBGMが立ち上がる。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6301588" y="2904317"/>
            <a:ext cx="46635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貼り合わせ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4-8秒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6301588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2" descr="/home/user/dougaseisaku/assets/ref4/3_S2_01_道具と染料が並ぶ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134150"/>
            <a:ext cx="1493570" cy="707633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301588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6301588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作業台に革を置く。奥に染料と道具が並ぶ。</a:t>
            </a:r>
            <a:endParaRPr lang="en-US" sz="720" dirty="0"/>
          </a:p>
        </p:txBody>
      </p:sp>
      <p:sp>
        <p:nvSpPr>
          <p:cNvPr id="28" name="Shape 23"/>
          <p:cNvSpPr/>
          <p:nvPr/>
        </p:nvSpPr>
        <p:spPr>
          <a:xfrm>
            <a:off x="7886597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3_S2_02_手が革を持つ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6597" y="4005819"/>
            <a:ext cx="1493570" cy="96429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7886597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7886597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二枚を合わせて位置を決める。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腕時計・指輪は外す。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9471607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3_S2_03_暗がりで革を手に取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1607" y="4097898"/>
            <a:ext cx="1493570" cy="780136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9471607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9471607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合わせた革を押さえる。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ここから形になっていく。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 / 31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Voyageの作り方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15ショット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85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226519" y="2904317"/>
            <a:ext cx="46635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形をつくる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8-15秒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226519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3_01_手で革を折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6519" y="3989114"/>
            <a:ext cx="1493570" cy="99770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1226519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226519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手だけ。革を折り上げる。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暗がりに革の面だけが浮く。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811529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3_02_縁を押さえる_マクロ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1529" y="4052221"/>
            <a:ext cx="1493570" cy="871491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811529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811529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縁を押さえる（超マクロ）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396538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3_S3_03_角が立ち上が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6538" y="4205929"/>
            <a:ext cx="1493570" cy="564076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396538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396538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角が立ち上がる。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ここまで顔は一切映さない。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2904317"/>
            <a:ext cx="46635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金具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15-19秒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3_S4_01_白手袋で金具を持つ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4114574"/>
            <a:ext cx="1493570" cy="74678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白手袋で金具を革に取り付ける。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金属が触れる音。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7886597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3_S4_02_金具を取り付け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86597" y="4005819"/>
            <a:ext cx="1493570" cy="964295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886597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886597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取り付いた金具を手に取って確かめる（超マクロ）。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カチリと一音。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9471607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3_S4_03_金具の寄り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71607" y="3992346"/>
            <a:ext cx="1493570" cy="991241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9471607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9471607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取り付いた金具の寄り。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ここだけ光が回った明るい画にする。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 / 31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Voyageの作り方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15ショット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85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226519" y="2904317"/>
            <a:ext cx="46635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完成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19-28秒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226519" y="3160349"/>
            <a:ext cx="1097317" cy="195078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5_01_道具の前で持ち上げ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6519" y="3824126"/>
            <a:ext cx="1097317" cy="62323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1226519" y="3160349"/>
            <a:ext cx="1097317" cy="195078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226519" y="5147711"/>
            <a:ext cx="1097317" cy="1234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工房の奥、道具の前で完成品を持ち上げる。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ここだけ背景に道具が入る。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415276" y="3160349"/>
            <a:ext cx="1097317" cy="195078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5_02_完成品を両手で持つ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5276" y="3897686"/>
            <a:ext cx="1097317" cy="47611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415276" y="3160349"/>
            <a:ext cx="1097317" cy="195078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415276" y="5147711"/>
            <a:ext cx="1097317" cy="1234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黒い背景に戻り、完成品を両手で持つ。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上から一灯だけ。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604033" y="3160349"/>
            <a:ext cx="1097317" cy="195078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3_S5_03_完成品が作業台に立つ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4033" y="3771613"/>
            <a:ext cx="1097317" cy="728259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604033" y="3160349"/>
            <a:ext cx="1097317" cy="195078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604033" y="5147711"/>
            <a:ext cx="1097317" cy="1234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完成品が工房の作業台に立つ。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道具に囲まれた引き。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ここが着地点。</a:t>
            </a:r>
            <a:endParaRPr lang="en-US" sz="720" dirty="0"/>
          </a:p>
        </p:txBody>
      </p:sp>
      <p:sp>
        <p:nvSpPr>
          <p:cNvPr id="27" name="Shape 22"/>
          <p:cNvSpPr/>
          <p:nvPr/>
        </p:nvSpPr>
        <p:spPr>
          <a:xfrm>
            <a:off x="4792790" y="3160349"/>
            <a:ext cx="1097317" cy="195078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3" descr="/home/user/dougaseisaku/assets/ref4/共通_ロゴのみ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2790" y="3160349"/>
            <a:ext cx="1097317" cy="1950786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4792790" y="3160349"/>
            <a:ext cx="1097317" cy="195078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792790" y="5147711"/>
            <a:ext cx="1097317" cy="1234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BGMが止まる → 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ロゴのみ。テロップは出さない。</a:t>
            </a:r>
            <a:endParaRPr lang="en-US" sz="720" dirty="0"/>
          </a:p>
        </p:txBody>
      </p:sp>
      <p:sp>
        <p:nvSpPr>
          <p:cNvPr id="31" name="Text 2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 / 31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What You Carry Makes You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鞄を街に置いて撮る。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次の画へ横にスライドしてつなぐ。顔を主役にしない。カバンの中身を映す。ドラマ風の演出で実用性を訴求する。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置き画で終えて、そのままロゴだけにする。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自然光のみ。曇りの日でよい。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鞄を街に置くだけで絵になる。中身も、持った姿も、同じ一本で見せる。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 面 に テ ロ ッ プ は 出 さ な い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777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言葉は投稿の本文に置く。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例：持ち歩くものが、その人をつくる。／ What you carry makes you.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参考動画のキャプションの言い回し（New York polish, designed to carry your everyday）は使わない。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057282" y="3391647"/>
            <a:ext cx="38328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街に置く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057282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4_S1_01_フェンスに掛ける_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282" y="3803984"/>
            <a:ext cx="1216649" cy="185032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2057282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057282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フェンスに掛ける（引き・三脚で固定）。カメラは止めたまま、背景の街だけが動く。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365370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4_S1_02_肩に掛けて立つ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370" y="3886362"/>
            <a:ext cx="1216649" cy="168556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365370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365370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鞄を肩に掛けて立つ（横・引き）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673459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4_S1_03_石壁の前で全身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3459" y="3803984"/>
            <a:ext cx="1216649" cy="1850320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673459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673459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石壁の前。全身の引き。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顔は主役にしない。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391647"/>
            <a:ext cx="38328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中を見せる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8-15秒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4_S2_01_真俯瞰_口を開け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3803984"/>
            <a:ext cx="1216649" cy="1850320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鞄の口を開ける。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7609676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4_S2_02_真俯瞰_中身を整え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9676" y="3803984"/>
            <a:ext cx="1216649" cy="185032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609676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609676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真俯瞰。中身を整える手（寄り）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8917765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4_S2_03_横にスライドしてつなぐ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7765" y="3803984"/>
            <a:ext cx="1216649" cy="185032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917765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8917765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参考動画のつなぎ方はこれ一つだけ。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 / 31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What You Carry Makes You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鞄を街に置いて撮る。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次の画へ横にスライドしてつなぐ。顔を主役にしない。カバンの中身を映す。ドラマ風の演出で実用性を訴求する。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置き画で終えて、そのままロゴだけにする。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自然光のみ。曇りの日でよい。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鞄を街に置くだけで絵になる。中身も、持った姿も、同じ一本で見せる。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 面 に テ ロ ッ プ は 出 さ な い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777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言葉は投稿の本文に置く。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例：持ち歩くものが、その人をつくる。／ What you carry makes you.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参考動画のキャプションの言い回し（New York polish, designed to carry your everyday）は使わない。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048888" y="3391647"/>
            <a:ext cx="38412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街を歩く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15-22秒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048888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4_S3_01_高架を歩く_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888" y="3804344"/>
            <a:ext cx="1219447" cy="185457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2048888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048888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高い通路を歩く（引き）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359774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4_S3_02_肩の鞄に寄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9774" y="3804344"/>
            <a:ext cx="1219447" cy="185457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359774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359774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肩に掛かった鞄に寄る。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6301588" y="3391647"/>
            <a:ext cx="38412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立ち止まって終わる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22-30秒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6301588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2" descr="/home/user/dougaseisaku/assets/ref4/4_S4_01_立ち止ま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3804344"/>
            <a:ext cx="1219447" cy="1854575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301588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6301588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フェンスの前で立ち止まる。</a:t>
            </a:r>
            <a:endParaRPr lang="en-US" sz="720" dirty="0"/>
          </a:p>
        </p:txBody>
      </p:sp>
      <p:sp>
        <p:nvSpPr>
          <p:cNvPr id="28" name="Shape 23"/>
          <p:cNvSpPr/>
          <p:nvPr/>
        </p:nvSpPr>
        <p:spPr>
          <a:xfrm>
            <a:off x="7612474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4_S4_02_真俯瞰_持ち物を並べ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2474" y="3804344"/>
            <a:ext cx="1219447" cy="185457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7612474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7612474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真俯瞰。鞄と持ち物・靴を並べる置き画。この画で終わる。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923361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共通_ロゴのみ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23361" y="3647679"/>
            <a:ext cx="1219447" cy="2167905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923361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923361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 / 31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七十五秒（最長でも九十秒まで）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449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空撮（バードアイ）から入り、沿革 → 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画に映るのは永尾社長が冒頭と締めの二カット、くさがやさんが一カット。あとは声だけが画の上に流れ続ける。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頭と終わりを同じ顔で挟むと、七十五秒が一本にまとまる。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1979年から続く会社が、いま向島の工房と一つになった。空から店頭まで、会社の全体を七十五秒で見せる。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67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永尾社長＝①バストショット（顔の下に役職テロップ・冒頭と締めの二回）／くさがやさん＝②横顔（空いた側に見出しテロップ）。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年表テロップ（S2）は画面の右端に寄せて出す。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1979 東京千駄ヶ谷にて創業／1980 SHIPS／1982 BEAMS／1984 To Boot New York／1990 UNITED ARROWS／1991 Paul Smith／2011 RALPH LAUREN 全直営店のカルトン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空から入る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0-6秒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1_01_空撮_街と工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623235"/>
            <a:ext cx="1765249" cy="961911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バードアイショット。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東京の空から降り、向島の街と工房を見つける。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1_02_空撮_建物に寄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8169" y="3623235"/>
            <a:ext cx="1765249" cy="961911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高度を下げ、建物に寄る。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ここで永尾社長の声が先に入りはじめる（Jカット）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4858" y="3728701"/>
            <a:ext cx="1765249" cy="750979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永尾社長。この一カットだけ画に映る。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バストショット、顔の下に役職テロップ。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声は次のシーンにかぶったまま続く。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歴史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6-20秒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2_02_1984_ToBootNewYork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0020" y="3607714"/>
            <a:ext cx="1348385" cy="992953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コラボの実績から入る。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年号テロップを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画面の右端に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次々に重ねる（1980 SHIPS ／ 1982 BEAMS ／ 1984 To Boot New York ／ 1990 UNITED ARROWS ／ 1991 Paul Smith ／ 2011 RALPH LAUREN）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2_01_1979創業_店舗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6743" y="3607714"/>
            <a:ext cx="1528317" cy="99295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昔の外観。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実績を並べたあと、はじまりの店先に戻る。テロップ「1979　東京千駄ヶ谷にて創業」を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右端に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出す。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5_S2_03_今の店舗_ショーウィンドウ越し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95148" y="3607714"/>
            <a:ext cx="1004885" cy="992953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10014966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同じ構図のまま、今の外観へ。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昔の店先からそのまま移り変わる。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白黒からカラーに変わる。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 / 31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七十五秒（最長でも九十秒まで）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449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空撮（バードアイ）から入り、沿革 → 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画に映るのは永尾社長が冒頭と締めの二カット、くさがやさんが一カット。あとは声だけが画の上に流れ続ける。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頭と終わりを同じ顔で挟むと、七十五秒が一本にまとまる。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1979年から続く会社が、いま向島の工房と一つになった。空から店頭まで、会社の全体を七十五秒で見せる。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67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永尾社長＝①バストショット（顔の下に役職テロップ・冒頭と締めの二回）／くさがやさん＝②横顔（空いた側に見出しテロップ）。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年表テロップ（S2）は画面の右端に寄せて出す。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1979 東京千駄ヶ谷にて創業／1980 SHIPS／1982 BEAMS／1984 To Boot New York／1990 UNITED ARROWS／1991 Paul Smith／2011 RALPH LAUREN 全直営店のカルトン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企画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20-29秒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3_01_色見本を見ながら打ち合わせ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390" y="3607714"/>
            <a:ext cx="1489429" cy="992953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色見本を見ながら打ち合わせる。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二人で同じものを覗き込む（俯瞰気味）。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企画はここから始まる。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4_01_革が色ごとに並ぶ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5550" y="3607714"/>
            <a:ext cx="1710488" cy="99295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革を並べて色を決める。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扱える色数がそのまま伝わる。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3_03_机に広がる色見本と資料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39280" y="3607714"/>
            <a:ext cx="1336405" cy="992953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机いっぱいに色見本と資料が広がる。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手が動いて話している（引き）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設計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29-38秒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5_01_図面をなぞる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3623235"/>
            <a:ext cx="1765249" cy="961911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手が図面をなぞる（寄り）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5_02_図面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8277" y="3626975"/>
            <a:ext cx="1765249" cy="954431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型紙・図面の俯瞰。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5_S5_03_机で数値を入れる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14966" y="3623235"/>
            <a:ext cx="1765249" cy="961911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10014966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机で数値を決める。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永尾社長の声はそのまま続いている。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 / 31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七十五秒（最長でも九十秒まで）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449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空撮（バードアイ）から入り、沿革 → 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画に映るのは永尾社長が冒頭と締めの二カット、くさがやさんが一カット。あとは声だけが画の上に流れ続ける。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頭と終わりを同じ顔で挟むと、七十五秒が一本にまとまる。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1979年から続く会社が、いま向島の工房と一つになった。空から店頭まで、会社の全体を七十五秒で見せる。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67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永尾社長＝①バストショット（顔の下に役職テロップ・冒頭と締めの二回）／くさがやさん＝②横顔（空いた側に見出しテロップ）。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年表テロップ（S2）は画面の右端に寄せて出す。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1979 東京千駄ヶ谷にて創業／1980 SHIPS／1982 BEAMS／1984 To Boot New York／1990 UNITED ARROWS／1991 Paul Smith／2011 RALPH LAUREN 全直営店のカルトン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製造（簡潔に）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38-52秒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6_S2_01_工房の全景_引き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623235"/>
            <a:ext cx="1765249" cy="961911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工房の全体（引き）。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ここから製造に入る。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永尾社長の声はそのまま続く。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5_02_大型の機械が動く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5550" y="3607714"/>
            <a:ext cx="1710488" cy="99295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大型の機械が動いている（引き）。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設備の規模がそのまま伝わる。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6_02_職人が革を扱う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52239" y="3607714"/>
            <a:ext cx="1710488" cy="992953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裁つ・縫う・磨く。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一工程一カット。説明はしない。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ここでくさがやさんの声が先に入りはじめる（Jカット）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店舗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52-63秒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3_03_横顔_見出しテロップ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3728701"/>
            <a:ext cx="1765249" cy="750979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くさがやさん。この一カットだけ画に映る。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横顔、空いた側に見出しテロップ。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声は次のカットにかぶったまま続く。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6_02_店内_ショーケースと棚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3738" y="3607714"/>
            <a:ext cx="1534327" cy="99295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店内（引き）。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ショーケースと棚が並ぶ。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ロゴが入る位置まで見せる。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5_S2_03_今の店舗_ショーウィンドウ越し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95148" y="3607714"/>
            <a:ext cx="1004885" cy="992953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10014966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ショーウィンドウ越しに店内を見せる。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外から見た店の顔。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S2の「今の外観」と同じ写真です（画角の参考として同じものを当てています）。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棚から商品を手に取る寄りも撮っておく。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 / 31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七十五秒（最長でも九十秒まで）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449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空撮（バードアイ）から入り、沿革 → 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画に映るのは永尾社長が冒頭と締めの二カット、くさがやさんが一カット。あとは声だけが画の上に流れ続ける。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頭と終わりを同じ顔で挟むと、七十五秒が一本にまとまる。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1979年から続く会社が、いま向島の工房と一つになった。空から店頭まで、会社の全体を七十五秒で見せる。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67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永尾社長＝①バストショット（顔の下に役職テロップ・冒頭と締めの二回）／くさがやさん＝②横顔（空いた側に見出しテロップ）。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年表テロップ（S2）は画面の右端に寄せて出す。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1979 東京千駄ヶ谷にて創業／1980 SHIPS／1982 BEAMS／1984 To Boot New York／1990 UNITED ARROWS／1991 Paul Smith／2011 RALPH LAUREN 全直営店のカルトン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購入・使う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63-70秒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7_01_会計_カウンターで応対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861" y="3607714"/>
            <a:ext cx="1184487" cy="992953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店員が応対する。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二人が同じ画面に入る。購入シーン、笑顔で見送る。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7_02_手渡しと笑顔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53613" y="3607714"/>
            <a:ext cx="794362" cy="99295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手渡される瞬間と、受け取った人の笑顔。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渡す側と受け取る側を一つの画に入れる。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7_03_使っている手元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3947" y="3607714"/>
            <a:ext cx="1207073" cy="992953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実際に使われている手元。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ノートPCを入れる。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ここで永尾社長の声がもう一度入りはじめる（Jカット）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締め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70-75秒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3728701"/>
            <a:ext cx="1765249" cy="750979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永尾社長。締めの一言。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冒頭と同じ画角に戻し、頭と終わりで挟む。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この一本で言いたいことを、本人の言葉で置く。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共通_ロゴのみ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61633" y="3607714"/>
            <a:ext cx="558536" cy="99295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声が終わり、音が引く。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ロゴだけ。テロップは出さない。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 / 31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30ショット（展示会用の無音版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空撮から入る工場見学ワンテイク型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（上から降りて入口へ、工程順に歩き、梱包場で終わる）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まず工房の中を歩いて見せてから、話し手を出す。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参考動画と同じで、S1からS3の途中まで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。通路を奥へ進むトラッキング、見たことのない機械の寄り、材料が壁一面に並ぶ画を並べ、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順番は工程どおり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：バードアイ → 工房を歩く → 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量産も少量生産もできる。検品まで自社で完結し、この形で届く。誰が作っているかまで見せる。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裁断・縫製・仕上げ・検品・梱包まで自社で完結する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空から入る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0-8秒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5_S1_01_空撮_街と工房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123666"/>
            <a:ext cx="1765249" cy="961911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バードアイショット。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上から降りて、向島の工房を見つける。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1_02_空撮_建物の全景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169" y="4123666"/>
            <a:ext cx="1765249" cy="96191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高度を下げ、建物の全景へ。街の音。</a:t>
            </a:r>
            <a:endParaRPr lang="en-US" sz="720" dirty="0"/>
          </a:p>
        </p:txBody>
      </p:sp>
      <p:sp>
        <p:nvSpPr>
          <p:cNvPr id="27" name="Text 23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工房を歩く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8-20秒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6_S2_04_通路を奥へ進む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2756" y="4108145"/>
            <a:ext cx="1762912" cy="992953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入口を抜けて、通路を奥へ進む（歩きながら）。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消失点を画面の中心に置く。ここは切らずに長めに回す。</a:t>
            </a:r>
            <a:endParaRPr lang="en-US" sz="720" dirty="0"/>
          </a:p>
        </p:txBody>
      </p:sp>
      <p:sp>
        <p:nvSpPr>
          <p:cNvPr id="32" name="Shape 27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2_01_工房の全景_引き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8277" y="4123666"/>
            <a:ext cx="1765249" cy="961911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工房の全景（引き）。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規模が分かる画角。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2_02_機械と人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42347" y="4108145"/>
            <a:ext cx="1710488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機械と人が同じ画面に入る。台数と人数が分かる。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人は引きの中に小さく入れる。</a:t>
            </a:r>
            <a:endParaRPr lang="en-US" sz="720" dirty="0"/>
          </a:p>
        </p:txBody>
      </p:sp>
      <p:sp>
        <p:nvSpPr>
          <p:cNvPr id="40" name="Text 3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 / 31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30ショット（展示会用の無音版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空撮から入る工場見学ワンテイク型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（上から降りて入口へ、工程順に歩き、梱包場で終わる）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まず工房の中を歩いて見せてから、話し手を出す。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参考動画と同じで、S1からS3の途中まで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。通路を奥へ進むトラッキング、見たことのない機械の寄り、材料が壁一面に並ぶ画を並べ、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順番は工程どおり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：バードアイ → 工房を歩く → 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量産も少量生産もできる。検品まで自社で完結し、この形で届く。誰が作っているかまで見せる。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裁断・縫製・仕上げ・検品・梱包まで自社で完結する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工房の中身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20-30秒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2_05_機械の超クローズ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2649" y="4108145"/>
            <a:ext cx="1762912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見たことのない機械の寄り。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何をする機械かは説明しない。動きと質感だけで見せる。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2_06_材料が壁一面に並ぶ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9338" y="4108145"/>
            <a:ext cx="1762912" cy="99295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材料が壁一面に並ぶ（正面）。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量がそのまま伝わる画角。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5_S3_02_引き_ロゴの壁を背に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4858" y="4229132"/>
            <a:ext cx="1765249" cy="750979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佐藤さん。ここで初めて人が画に映る。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引き、背景に工房。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ここから最後まで、佐藤さんの声が画の上に流れ続ける。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各シーンで絵に合った強みを語る。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革を選ぶ・金型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30-46秒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3_01_棚に並ぶ革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8968" y="4108145"/>
            <a:ext cx="1710488" cy="992953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棚に革が並ぶシーン。奥行きがあるように撮影。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扱える革の種類の多さと量がそのまま伝わる。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3_02_金型が並ぶ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8277" y="4123666"/>
            <a:ext cx="1765249" cy="961911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金型・型紙が品番ごとに並ぶ。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手が一つを抜き出す。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6_S3_03_取り都合を決め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42347" y="4108145"/>
            <a:ext cx="1710488" cy="992953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革の上に型紙を置き、取り都合を決める（寄り）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 / 31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30ショット（展示会用の無音版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空撮から入る工場見学ワンテイク型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（上から降りて入口へ、工程順に歩き、梱包場で終わる）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まず工房の中を歩いて見せてから、話し手を出す。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参考動画と同じで、S1からS3の途中まで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。通路を奥へ進むトラッキング、見たことのない機械の寄り、材料が壁一面に並ぶ画を並べ、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順番は工程どおり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：バードアイ → 工房を歩く → 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量産も少量生産もできる。検品まで自社で完結し、この形で届く。誰が作っているかまで見せる。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裁断・縫製・仕上げ・検品・梱包まで自社で完結する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裁断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46-64秒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4_01_機械が下りる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253815"/>
            <a:ext cx="1765249" cy="70161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金型が置かれ、裁断機が下りる。テロップ「金型裁断 Die Cutting」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4_02_手で切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5550" y="4108145"/>
            <a:ext cx="1710488" cy="99295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革包丁で細部を切る。テロップ「手裁断 Hand Cutting」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4_03_パーツが並ぶ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4858" y="4123666"/>
            <a:ext cx="1765249" cy="961911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裁ち上がったパーツが並ぶ。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量産も少量も同じ場所でできる。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下仕事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64-84秒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301077" cy="73185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5_01_折り目をつけ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119585"/>
            <a:ext cx="1301077" cy="708977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301077" cy="73185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4876577"/>
            <a:ext cx="1301077" cy="1505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へらで折り目をつけ、縁を折り返す（寄り）。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テロップ「折り目つけ Creasing」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7694105" y="4108145"/>
            <a:ext cx="1301077" cy="73185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5_02_スプレーを吹く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4105" y="4119585"/>
            <a:ext cx="1301077" cy="708977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7694105" y="4108145"/>
            <a:ext cx="1301077" cy="73185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694105" y="4876577"/>
            <a:ext cx="1301077" cy="1505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革の裏にスプレーを吹き、貼り合わせる。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テロップ「貼り合わせ Bonding」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9086621" y="4108145"/>
            <a:ext cx="1301077" cy="73185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6_S5_03_コバ塗り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7219" y="4108145"/>
            <a:ext cx="599882" cy="731856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9086621" y="4108145"/>
            <a:ext cx="1301077" cy="73185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9086621" y="4876577"/>
            <a:ext cx="1301077" cy="1505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断面に塗料をのせる（超マクロ）。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塗った側と塗っていない側が同じ画面に入る。テロップ「コバ塗り Edge Painting」</a:t>
            </a:r>
            <a:endParaRPr lang="en-US" sz="720" dirty="0"/>
          </a:p>
        </p:txBody>
      </p:sp>
      <p:sp>
        <p:nvSpPr>
          <p:cNvPr id="44" name="Shape 36"/>
          <p:cNvSpPr/>
          <p:nvPr/>
        </p:nvSpPr>
        <p:spPr>
          <a:xfrm>
            <a:off x="10479138" y="4108145"/>
            <a:ext cx="1301077" cy="73185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5" name="Image 6" descr="/home/user/dougaseisaku/assets/ref4/6_S5_04_職人の目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9138" y="4120319"/>
            <a:ext cx="1301077" cy="707508"/>
          </a:xfrm>
          <a:prstGeom prst="rect">
            <a:avLst/>
          </a:prstGeom>
        </p:spPr>
      </p:pic>
      <p:sp>
        <p:nvSpPr>
          <p:cNvPr id="46" name="Shape 37"/>
          <p:cNvSpPr/>
          <p:nvPr/>
        </p:nvSpPr>
        <p:spPr>
          <a:xfrm>
            <a:off x="10479138" y="4108145"/>
            <a:ext cx="1301077" cy="73185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7" name="Text 38"/>
          <p:cNvSpPr/>
          <p:nvPr/>
        </p:nvSpPr>
        <p:spPr>
          <a:xfrm>
            <a:off x="10479138" y="4876577"/>
            <a:ext cx="1301077" cy="1505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Bロール：職人の目だけの超マクロ。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手元を見ている目に寄る。テロップは出さない。</a:t>
            </a:r>
            <a:endParaRPr lang="en-US" sz="720" dirty="0"/>
          </a:p>
        </p:txBody>
      </p:sp>
      <p:sp>
        <p:nvSpPr>
          <p:cNvPr id="48" name="Text 3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9" name="Text 4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 / 31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30ショット（展示会用の無音版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空撮から入る工場見学ワンテイク型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（上から降りて入口へ、工程順に歩き、梱包場で終わる）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まず工房の中を歩いて見せてから、話し手を出す。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参考動画と同じで、S1からS3の途中まで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。通路を奥へ進むトラッキング、見たことのない機械の寄り、材料が壁一面に並ぶ画を並べ、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順番は工程どおり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：バードアイ → 工房を歩く → 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量産も少量生産もできる。検品まで自社で完結し、この形で届く。誰が作っているかまで見せる。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裁断・縫製・仕上げ・検品・梱包まで自社で完結する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縫製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84-103秒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6_01_部品を手に取る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924" y="4108145"/>
            <a:ext cx="794362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縫う部品を手に取り、ミシンへ向かう。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縫い目と糸端が見える（寄り・背景ボケ）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6_02_針が革に落ち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1410" y="4108145"/>
            <a:ext cx="1038768" cy="99295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ミシンの針が革に落ちる（超マクロ）。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押さえ金と革だけ。テロップ「機械縫製 Machine Stitching」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6_03_ミシンで縫い進め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5542" y="4108145"/>
            <a:ext cx="803883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両手が生地を送り、縫い進める（引き寄り）。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手の動きと機械の音が同時に入る。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検品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103-122秒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7_01_光にかざす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123666"/>
            <a:ext cx="1765249" cy="961911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一点を手に取り、光にかざす。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作業音が消える。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7_02_開いて内側を確かめ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5848" y="4108145"/>
            <a:ext cx="1490106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手に取って開き、内側と縫い目まで確かめる（寄り）。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片方の手で押さえ、もう片方でめくる。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6_S2_03_職人の顔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123666"/>
            <a:ext cx="1765249" cy="961911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Bロール：職人の作業シーン。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手を止めずに作業している横顔（寄り）。テロップ「検品 Inspection」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 / 31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30ショット（展示会用の無音版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空撮から入る工場見学ワンテイク型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（上から降りて入口へ、工程順に歩き、梱包場で終わる）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まず工房の中を歩いて見せてから、話し手を出す。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参考動画と同じで、S1からS3の途中まで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。通路を奥へ進むトラッキング、見たことのない機械の寄り、材料が壁一面に並ぶ画を並べ、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順番は工程どおり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：バードアイ → 工房を歩く → 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量産も少量生産もできる。検品まで自社で完結し、この形で届く。誰が作っているかまで見せる。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裁断・縫製・仕上げ・検品・梱包まで自社で完結する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S9 梱包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122-133秒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8_01_白手袋で包む_手元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7930" y="4108145"/>
            <a:ext cx="1492349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梱包シーン。包む。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手元の寄り。不織布の角を折る。紙の音。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8_02_箱に納める_梱包場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767" y="4108145"/>
            <a:ext cx="1626053" cy="99295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箱に納め、テープで閉じる。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梱包場の引き。奥にも人が写る。テロップ「梱包 Packing」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4858" y="4229132"/>
            <a:ext cx="1765249" cy="750979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佐藤さん。話し終わる瞬間。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バストショットに寄る。言い終えて口を閉じるところまで残す。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S10 締めカード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133-140秒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9_01_締めカード_対応技法一覧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108145"/>
            <a:ext cx="1765249" cy="992953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対応技法の一覧（この見本のとおり文字で出す）。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下段に「小ロットから量産まで」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9_02_締めカード_問い合わせ先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8277" y="4108145"/>
            <a:ext cx="1765249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問い合わせ先とURL。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社名・住所・TEL・メール・WEBを一画面。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連絡先は確定したものに差し替え。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6_S9_03_締めカード_ロゴのみ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108145"/>
            <a:ext cx="1765249" cy="992953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白に反転してロゴだけ。ここでBGMも切る。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 / 31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支度も、仕事も、スマートに。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398293" y="3598702"/>
            <a:ext cx="3491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机の上の鞄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398293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1_01_机の上の鞄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8293" y="4080433"/>
            <a:ext cx="1102978" cy="15094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398293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398293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机に鞄が一つ置いてある。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正面固定の引き。手前に入れるものが並べてある。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592711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1_02_正面固定_同じ画角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2711" y="4080433"/>
            <a:ext cx="1102978" cy="15094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592711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592711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ここから最後までこの画角のまま。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787129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7_S1_03_鞄を開け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7129" y="4080433"/>
            <a:ext cx="1102978" cy="1509452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787129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787129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人が入ってきて、鞄の口を開ける。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中は空。顔は入れない。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598702"/>
            <a:ext cx="3491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入れる①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4-10秒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7_S2_01_PCを入れ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4080433"/>
            <a:ext cx="1102978" cy="150945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A4書類とノートPCを入れる。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7496006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7_S2_02_底まで収ま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6006" y="4080433"/>
            <a:ext cx="1102978" cy="1509452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7496006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496006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ノートPCが底まで収まる。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入れる音を拾う。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8690424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7_S2_03_手帳と小物を入れ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90424" y="4080433"/>
            <a:ext cx="1102978" cy="1509452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8690424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8690424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手帳・鍵・サングラス。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 / 31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支度も、仕事も、スマートに。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398293" y="3598702"/>
            <a:ext cx="3491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入れる②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10-15秒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398293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3_01_さらに入れ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8293" y="4080433"/>
            <a:ext cx="1102978" cy="15094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398293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398293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ペン・小物。入れる音を一つずつ拾う。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592711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3_02_小物を入れ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2711" y="4080433"/>
            <a:ext cx="1102978" cy="15094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592711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592711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傘・水筒まで入れる。それでもまだ閉まる。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787129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7_S3_03_最後の一つを入れ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7129" y="4153210"/>
            <a:ext cx="1102978" cy="1363898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787129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787129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最後の一つを入れる。ここで手が止まる。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598702"/>
            <a:ext cx="3491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持って出る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7_S4_01_持ち上げ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4080433"/>
            <a:ext cx="1102978" cy="150945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持ち手をまとめて持ち上げる。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7496006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7_S4_02_肩に掛け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6006" y="4080433"/>
            <a:ext cx="1102978" cy="1509452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7496006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496006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肩に掛けて、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そのままフレームの外へ出ていく。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台は動かさない。</a:t>
            </a:r>
            <a:endParaRPr lang="en-US" sz="720" dirty="0"/>
          </a:p>
        </p:txBody>
      </p:sp>
      <p:sp>
        <p:nvSpPr>
          <p:cNvPr id="40" name="Text 3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 / 31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支度も、仕事も、スマートに。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406687" y="3598702"/>
            <a:ext cx="348342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机だけが残る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20-25秒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406687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5_01_机だけが残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6687" y="4079636"/>
            <a:ext cx="1100180" cy="150607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406687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406687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人も鞄もフレームから出て、何も乗っていない机だけが残る。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参考動画と同じ終わり方。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598307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5_02_テロップ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8307" y="3854734"/>
            <a:ext cx="1100180" cy="19558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598307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598307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その画にテロップを重ねる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「支度も、仕事も、スマートに。」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789927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共通_ロゴの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9927" y="3854734"/>
            <a:ext cx="1100180" cy="1955876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789927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789927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27 / 31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65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窓を背にして、手前に植物や花を置いてボカす ③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：誰に聞くか（既存の購入者か、社内の方に使用者として話してもらうか）、顔出しの範囲、質問内容、撮影場所。</a:t>
            </a:r>
            <a:endParaRPr lang="en-US" sz="68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58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684" dirty="0"/>
          </a:p>
        </p:txBody>
      </p:sp>
      <p:sp>
        <p:nvSpPr>
          <p:cNvPr id="12" name="Text 10"/>
          <p:cNvSpPr/>
          <p:nvPr/>
        </p:nvSpPr>
        <p:spPr>
          <a:xfrm>
            <a:off x="6324448" y="1968297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51177"/>
            <a:ext cx="5455768" cy="595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61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61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1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61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612" dirty="0"/>
          </a:p>
        </p:txBody>
      </p:sp>
      <p:sp>
        <p:nvSpPr>
          <p:cNvPr id="14" name="Text 12"/>
          <p:cNvSpPr/>
          <p:nvPr/>
        </p:nvSpPr>
        <p:spPr>
          <a:xfrm>
            <a:off x="2192339" y="3476655"/>
            <a:ext cx="369776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つかみ①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0-5秒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192339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1_01_外観のロー_青空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2339" y="4526838"/>
            <a:ext cx="1171630" cy="49459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2192339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192339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空を入れて見上げる。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ロゴを重ねる。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455408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1_02_外観の全景_入口に人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5408" y="4526838"/>
            <a:ext cx="1171630" cy="49459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455408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455408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外観の全景（引き）。入口に人が立つ。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718478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1_03_厨房_作っている手元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478" y="4526838"/>
            <a:ext cx="1171630" cy="494595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718478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718478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つかみに入る。製作シーン。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手元だけ（寄り）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476655"/>
            <a:ext cx="369776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つかみ②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5-11秒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2_01_焼き上がりの寄り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526444"/>
            <a:ext cx="1171630" cy="495384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商品の寄り。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できあがった瞬間。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7564657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2_02_商品の真俯瞰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4657" y="4506342"/>
            <a:ext cx="1171630" cy="535587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564657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564657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商品の真俯瞰。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並べて撮る。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8827727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2_03_窓際の席と光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7727" y="4556256"/>
            <a:ext cx="1171630" cy="435759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827727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8827727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空間。窓際と光。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ここまで人の顔は出さない。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 / 31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65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窓を背にして、手前に植物や花を置いてボカす ③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：誰に聞くか（既存の購入者か、社内の方に使用者として話してもらうか）、顔出しの範囲、質問内容、撮影場所。</a:t>
            </a:r>
            <a:endParaRPr lang="en-US" sz="68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58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684" dirty="0"/>
          </a:p>
        </p:txBody>
      </p:sp>
      <p:sp>
        <p:nvSpPr>
          <p:cNvPr id="12" name="Text 10"/>
          <p:cNvSpPr/>
          <p:nvPr/>
        </p:nvSpPr>
        <p:spPr>
          <a:xfrm>
            <a:off x="6324448" y="1968297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51177"/>
            <a:ext cx="5455768" cy="595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61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61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1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61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612" dirty="0"/>
          </a:p>
        </p:txBody>
      </p:sp>
      <p:sp>
        <p:nvSpPr>
          <p:cNvPr id="14" name="Text 12"/>
          <p:cNvSpPr/>
          <p:nvPr/>
        </p:nvSpPr>
        <p:spPr>
          <a:xfrm>
            <a:off x="2624393" y="3476655"/>
            <a:ext cx="32657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話しはじめる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11-19秒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624393" y="3732687"/>
            <a:ext cx="1027612" cy="182686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3_01_インタビュー_バストショット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93" y="4464085"/>
            <a:ext cx="1027612" cy="364068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2624393" y="3732687"/>
            <a:ext cx="1027612" cy="182686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624393" y="5596128"/>
            <a:ext cx="10276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6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バストショット。窓を背にして、手前に植物を置いてボカす。</a:t>
            </a:r>
            <a:pPr indent="0" marL="0">
              <a:lnSpc>
                <a:spcPct val="124000"/>
              </a:lnSpc>
              <a:buNone/>
            </a:pPr>
            <a:r>
              <a:rPr lang="en-US" sz="66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名前は出さず「使っている人」として自己紹介。</a:t>
            </a:r>
            <a:pPr indent="0" marL="0">
              <a:lnSpc>
                <a:spcPct val="124000"/>
              </a:lnSpc>
              <a:buNone/>
            </a:pPr>
            <a:r>
              <a:rPr lang="en-US" sz="66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話した言葉をそのままテロップで出す。</a:t>
            </a:r>
            <a:endParaRPr lang="en-US" sz="660" dirty="0"/>
          </a:p>
        </p:txBody>
      </p:sp>
      <p:sp>
        <p:nvSpPr>
          <p:cNvPr id="19" name="Shape 16"/>
          <p:cNvSpPr/>
          <p:nvPr/>
        </p:nvSpPr>
        <p:spPr>
          <a:xfrm>
            <a:off x="3743444" y="3732687"/>
            <a:ext cx="1027612" cy="182686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3_02_店内の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3444" y="4464085"/>
            <a:ext cx="1027612" cy="36406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743444" y="3732687"/>
            <a:ext cx="1027612" cy="182686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743444" y="5596128"/>
            <a:ext cx="10276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ここから画はBロールに変わるが、声はそのまま流し続ける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（引き）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862496" y="3732687"/>
            <a:ext cx="1027612" cy="182686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3_03_商品の寄り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2496" y="4464085"/>
            <a:ext cx="1027612" cy="364068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862496" y="3732687"/>
            <a:ext cx="1027612" cy="182686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862496" y="5596128"/>
            <a:ext cx="10276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商品の寄り。話している内容に合わせて切り替える。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476655"/>
            <a:ext cx="32657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なぜ選んだか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19-28秒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732687"/>
            <a:ext cx="1027612" cy="182686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4_01_インタビュー_同じ画角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464085"/>
            <a:ext cx="1027612" cy="36406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732687"/>
            <a:ext cx="1027612" cy="182686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5596128"/>
            <a:ext cx="10276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インタビューに戻る。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同じ画角。カメラは一度も動かさない。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7420639" y="3732687"/>
            <a:ext cx="1027612" cy="182686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4_02_壁とテーブル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0639" y="4464085"/>
            <a:ext cx="1027612" cy="364068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420639" y="3732687"/>
            <a:ext cx="1027612" cy="182686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420639" y="5596128"/>
            <a:ext cx="10276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声の上にBロール。空間の引き。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8539691" y="3732687"/>
            <a:ext cx="1027612" cy="182686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4_03_窓辺とドライフラワー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9691" y="4464085"/>
            <a:ext cx="1027612" cy="364068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539691" y="3732687"/>
            <a:ext cx="1027612" cy="182686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8539691" y="5596128"/>
            <a:ext cx="10276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窓辺の一枚。間を作る。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29 / 31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65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窓を背にして、手前に植物や花を置いてボカす ③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：誰に聞くか（既存の購入者か、社内の方に使用者として話してもらうか）、顔出しの範囲、質問内容、撮影場所。</a:t>
            </a:r>
            <a:endParaRPr lang="en-US" sz="68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58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684" dirty="0"/>
          </a:p>
        </p:txBody>
      </p:sp>
      <p:sp>
        <p:nvSpPr>
          <p:cNvPr id="12" name="Text 10"/>
          <p:cNvSpPr/>
          <p:nvPr/>
        </p:nvSpPr>
        <p:spPr>
          <a:xfrm>
            <a:off x="6324448" y="1968297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51177"/>
            <a:ext cx="5455768" cy="595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61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61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1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61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612" dirty="0"/>
          </a:p>
        </p:txBody>
      </p:sp>
      <p:sp>
        <p:nvSpPr>
          <p:cNvPr id="14" name="Text 12"/>
          <p:cNvSpPr/>
          <p:nvPr/>
        </p:nvSpPr>
        <p:spPr>
          <a:xfrm>
            <a:off x="2192339" y="3476655"/>
            <a:ext cx="369776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使っている場面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28-38秒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192339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5_01_二階のテーブル席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2339" y="4566590"/>
            <a:ext cx="1171630" cy="415092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2192339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192339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別の場所へ移る（引き）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455408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5_02_ソファ席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5408" y="4566590"/>
            <a:ext cx="1171630" cy="415092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455408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455408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落ち着いた場所での一枚。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718478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5_03_外に出る_青空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478" y="4566590"/>
            <a:ext cx="1171630" cy="415092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718478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718478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外に出る。空を入れて気分を変える。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476655"/>
            <a:ext cx="369776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本音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38-50秒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6_01_インタビュー_表情のアップ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566590"/>
            <a:ext cx="1171630" cy="415092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インタビューに戻る。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表情のアップ。買ってから変わったことを一言で。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7564657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6_02_屋上で手を上げ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4657" y="4566590"/>
            <a:ext cx="1171630" cy="415092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564657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564657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外の引きに人が入る。声はそのまま続く。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8827727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6_03_窓辺に戻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7727" y="4566590"/>
            <a:ext cx="1171630" cy="415092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827727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8827727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静かな一枚を入れる。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 / 31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65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窓を背にして、手前に植物や花を置いてボカす ③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：誰に聞くか（既存の購入者か、社内の方に使用者として話してもらうか）、顔出しの範囲、質問内容、撮影場所。</a:t>
            </a:r>
            <a:endParaRPr lang="en-US" sz="68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58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684" dirty="0"/>
          </a:p>
        </p:txBody>
      </p:sp>
      <p:sp>
        <p:nvSpPr>
          <p:cNvPr id="12" name="Text 10"/>
          <p:cNvSpPr/>
          <p:nvPr/>
        </p:nvSpPr>
        <p:spPr>
          <a:xfrm>
            <a:off x="6324448" y="1968297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51177"/>
            <a:ext cx="5455768" cy="595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61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61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1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61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612" dirty="0"/>
          </a:p>
        </p:txBody>
      </p:sp>
      <p:sp>
        <p:nvSpPr>
          <p:cNvPr id="14" name="Text 12"/>
          <p:cNvSpPr/>
          <p:nvPr/>
        </p:nvSpPr>
        <p:spPr>
          <a:xfrm>
            <a:off x="2192339" y="3476655"/>
            <a:ext cx="369776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見送りで終わる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50-60秒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192339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7_01_店の前にスタッフが出る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2339" y="4526444"/>
            <a:ext cx="1171630" cy="49538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2192339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192339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スタッフが出てくる（引き）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455408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7_02_手を振って見送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5408" y="4526444"/>
            <a:ext cx="1171630" cy="495384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455408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455408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手を振って見送る。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カメラは動かさない。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718478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7_03_中央にロゴが重な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478" y="4526444"/>
            <a:ext cx="1171630" cy="495384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718478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718478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同じ引きの画面の中央に、ロゴが重なる。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476655"/>
            <a:ext cx="369776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白に抜ける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60秒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8_01_白に抜けてロゴだけ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444615"/>
            <a:ext cx="1171630" cy="659042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映像が白に抜けて、ロゴだけが残る。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ここで音も切る。</a:t>
            </a:r>
            <a:endParaRPr lang="en-US" sz="720" dirty="0"/>
          </a:p>
        </p:txBody>
      </p:sp>
      <p:sp>
        <p:nvSpPr>
          <p:cNvPr id="32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3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 / 31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2026-09-07T07:19:43Z</dcterms:created>
  <dcterms:modified xsi:type="dcterms:W3CDTF">2026-09-07T07:19:43Z</dcterms:modified>
</cp:coreProperties>
</file>