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://youtube.com/shorts/c2mH8rStFCA" TargetMode="External"/><Relationship Id="rId3" Type="http://schemas.openxmlformats.org/officeDocument/2006/relationships/hyperlink" Target="https://www.instagram.com/reel/DbAniDDyF0U/" TargetMode="External"/><Relationship Id="rId4" Type="http://schemas.openxmlformats.org/officeDocument/2006/relationships/hyperlink" Target="https://www.instagram.com/reels/DWiwFp5DED-/" TargetMode="External"/><Relationship Id="rId5" Type="http://schemas.openxmlformats.org/officeDocument/2006/relationships/hyperlink" Target="https://www.instagram.com/reels/DcOkNyyoFFJ/" TargetMode="External"/><Relationship Id="rId6" Type="http://schemas.openxmlformats.org/officeDocument/2006/relationships/hyperlink" Target="https://www.instagram.com/reel/DaxjHnkB62p/" TargetMode="External"/><Relationship Id="rId7" Type="http://schemas.openxmlformats.org/officeDocument/2006/relationships/hyperlink" Target="https://www.youtube.com/watch?v=4DEy0CAg43s" TargetMode="External"/><Relationship Id="rId8" Type="http://schemas.openxmlformats.org/officeDocument/2006/relationships/hyperlink" Target="https://youtu.be/OU-qyAcn2YM" TargetMode="External"/><Relationship Id="rId9" Type="http://schemas.openxmlformats.org/officeDocument/2006/relationships/hyperlink" Target="https://youtu.be/OPDWrOeD-gU" TargetMode="External"/><Relationship Id="rId10" Type="http://schemas.openxmlformats.org/officeDocument/2006/relationships/hyperlink" Target="https://www.instagram.com/reel/DZE-_hZuwXb/" TargetMode="External"/><Relationship Id="rId11" Type="http://schemas.openxmlformats.org/officeDocument/2006/relationships/hyperlink" Target="https://www.instagram.com/reel/DaorwuKvWAj/" TargetMode="Externa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image" Target="../media/image-3-5.jpg"/><Relationship Id="rId7" Type="http://schemas.openxmlformats.org/officeDocument/2006/relationships/image" Target="../media/image-3-6.jpg"/><Relationship Id="rId8" Type="http://schemas.openxmlformats.org/officeDocument/2006/relationships/image" Target="../media/image-3-7.jpg"/><Relationship Id="rId9" Type="http://schemas.openxmlformats.org/officeDocument/2006/relationships/image" Target="../media/image-3-8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4-1.jpg"/><Relationship Id="rId4" Type="http://schemas.openxmlformats.org/officeDocument/2006/relationships/image" Target="../media/image-4-2.jpg"/><Relationship Id="rId5" Type="http://schemas.openxmlformats.org/officeDocument/2006/relationships/image" Target="../media/image-4-3.jpg"/><Relationship Id="rId6" Type="http://schemas.openxmlformats.org/officeDocument/2006/relationships/image" Target="../media/image-4-4.jpg"/><Relationship Id="rId7" Type="http://schemas.openxmlformats.org/officeDocument/2006/relationships/image" Target="../media/image-4-5.jpg"/><Relationship Id="rId8" Type="http://schemas.openxmlformats.org/officeDocument/2006/relationships/image" Target="../media/image-4-6.jpg"/><Relationship Id="rId9" Type="http://schemas.openxmlformats.org/officeDocument/2006/relationships/image" Target="../media/image-4-7.jpg"/><Relationship Id="rId10" Type="http://schemas.openxmlformats.org/officeDocument/2006/relationships/image" Target="../media/image-4-8.jpg"/><Relationship Id="rId11" Type="http://schemas.openxmlformats.org/officeDocument/2006/relationships/image" Target="../media/image-4-9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image" Target="../media/image-5-5.jpg"/><Relationship Id="rId7" Type="http://schemas.openxmlformats.org/officeDocument/2006/relationships/image" Target="../media/image-5-6.jpg"/><Relationship Id="rId8" Type="http://schemas.openxmlformats.org/officeDocument/2006/relationships/image" Target="../media/image-5-7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hyperlink" Target="https://www.instagram.com/reel/DaxjHnkB62p/" TargetMode="External"/><Relationship Id="rId3" Type="http://schemas.openxmlformats.org/officeDocument/2006/relationships/image" Target="../media/image-6-1.jpg"/><Relationship Id="rId4" Type="http://schemas.openxmlformats.org/officeDocument/2006/relationships/image" Target="../media/image-6-2.jpg"/><Relationship Id="rId5" Type="http://schemas.openxmlformats.org/officeDocument/2006/relationships/image" Target="../media/image-6-3.jpg"/><Relationship Id="rId6" Type="http://schemas.openxmlformats.org/officeDocument/2006/relationships/image" Target="../media/image-6-4.jpg"/><Relationship Id="rId7" Type="http://schemas.openxmlformats.org/officeDocument/2006/relationships/image" Target="../media/image-6-5.jpg"/><Relationship Id="rId8" Type="http://schemas.openxmlformats.org/officeDocument/2006/relationships/image" Target="../media/image-6-6.jpg"/><Relationship Id="rId9" Type="http://schemas.openxmlformats.org/officeDocument/2006/relationships/image" Target="../media/image-6-7.jpg"/><Relationship Id="rId10" Type="http://schemas.openxmlformats.org/officeDocument/2006/relationships/image" Target="../media/image-6-8.jpg"/><Relationship Id="rId11" Type="http://schemas.openxmlformats.org/officeDocument/2006/relationships/image" Target="../media/image-6-9.jpg"/><Relationship Id="rId12" Type="http://schemas.openxmlformats.org/officeDocument/2006/relationships/image" Target="../media/image-6-10.jpg"/><Relationship Id="rId13" Type="http://schemas.openxmlformats.org/officeDocument/2006/relationships/image" Target="../media/image-6-11.jp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7-1.jpg"/><Relationship Id="rId5" Type="http://schemas.openxmlformats.org/officeDocument/2006/relationships/image" Target="../media/image-7-2.jpg"/><Relationship Id="rId6" Type="http://schemas.openxmlformats.org/officeDocument/2006/relationships/image" Target="../media/image-7-3.jpg"/><Relationship Id="rId7" Type="http://schemas.openxmlformats.org/officeDocument/2006/relationships/image" Target="../media/image-7-4.jpg"/><Relationship Id="rId8" Type="http://schemas.openxmlformats.org/officeDocument/2006/relationships/image" Target="../media/image-7-5.jpg"/><Relationship Id="rId9" Type="http://schemas.openxmlformats.org/officeDocument/2006/relationships/image" Target="../media/image-7-6.jpg"/><Relationship Id="rId10" Type="http://schemas.openxmlformats.org/officeDocument/2006/relationships/image" Target="../media/image-7-7.jpg"/><Relationship Id="rId11" Type="http://schemas.openxmlformats.org/officeDocument/2006/relationships/image" Target="../media/image-7-8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hyperlink" Target="https://www.instagram.com/reel/DaorwuKvWAj/" TargetMode="External"/><Relationship Id="rId3" Type="http://schemas.openxmlformats.org/officeDocument/2006/relationships/image" Target="../media/image-9-1.jpg"/><Relationship Id="rId4" Type="http://schemas.openxmlformats.org/officeDocument/2006/relationships/image" Target="../media/image-9-2.jpg"/><Relationship Id="rId5" Type="http://schemas.openxmlformats.org/officeDocument/2006/relationships/image" Target="../media/image-9-3.jpg"/><Relationship Id="rId6" Type="http://schemas.openxmlformats.org/officeDocument/2006/relationships/image" Target="../media/image-9-4.jpg"/><Relationship Id="rId7" Type="http://schemas.openxmlformats.org/officeDocument/2006/relationships/image" Target="../media/image-9-5.jpg"/><Relationship Id="rId8" Type="http://schemas.openxmlformats.org/officeDocument/2006/relationships/image" Target="../media/image-9-6.jpg"/><Relationship Id="rId9" Type="http://schemas.openxmlformats.org/officeDocument/2006/relationships/image" Target="../media/image-9-7.jpg"/><Relationship Id="rId10" Type="http://schemas.openxmlformats.org/officeDocument/2006/relationships/image" Target="../media/image-9-8.jpg"/><Relationship Id="rId11" Type="http://schemas.openxmlformats.org/officeDocument/2006/relationships/image" Target="../media/image-9-9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2026年9月3日　第4版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1〜5本目と7本目は参考動画があり、絵コンテの写真もそこから抜いています。6・8本目は参考動画・詳細をいただき次第、同じ形式で内容を確定します。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今日の服に、合う色。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Royale M Tote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ロワイヤルMトートの作りかた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絵になる日常を。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Everyday, Worth a Frame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仕事道具として買う人・贈る人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（yifan.liii × COACH）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1979年から、東京で。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Since 1979, Tokyo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 ×1／60秒短縮版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9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つくる、確かめる、包む。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Make. Check. Pack.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参考動画：未定（工場見学ワンテイク型を推奨）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HURRY UP.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急ぐ朝ほど、迷わない。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 ×3品番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0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購入者インタビュー（仮タイトル）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 (Title TBD)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尺・ショット数＝未定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参考動画：未定（購入者インタビュー型を推奨）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今日の服に、合う色。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054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家を出てから会社に着くまでの二十秒。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カメラは固定し、変わるのは服と革の色だけ。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車・電車・エスカレーターが視界を横切った瞬間に切り替える。売り込みはひとつも入れない。玄関一か所、通勤路二か所、会社前一か所で撮り切れる。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010891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212059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3941750"/>
            <a:ext cx="3063240" cy="11448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069766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270934"/>
            <a:ext cx="2697480" cy="35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4360" y="4685614"/>
            <a:ext cx="2697480" cy="254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528779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 レ ー シ ョ ン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48896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毎日をカラフルに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0-4秒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玄関。財布をポケットに入れる（寄り）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ドアノブに手がかかる（超寄り）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0" descr="/home/user/dougaseisaku/assets/ref4/1_S1_03_玄関を出た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0465" y="1554480"/>
            <a:ext cx="1260018" cy="81473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ドアが開き、外へ出る（引き・逆光）</a:t>
            </a:r>
            <a:endParaRPr lang="en-US" sz="720" dirty="0"/>
          </a:p>
        </p:txBody>
      </p:sp>
      <p:sp>
        <p:nvSpPr>
          <p:cNvPr id="28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変わる①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4-9秒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0" name="Image 1" descr="/home/user/dougaseisaku/assets/ref4/1_S2_01_同じ画角で服が変わ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3756" y="2777490"/>
            <a:ext cx="1260018" cy="814730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同じ画角のまま服が変わっている。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小物の色も変わる</a:t>
            </a:r>
            <a:endParaRPr lang="en-US" sz="720" dirty="0"/>
          </a:p>
        </p:txBody>
      </p:sp>
      <p:sp>
        <p:nvSpPr>
          <p:cNvPr id="33" name="Shape 29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4" name="Image 2" descr="/home/user/dougaseisaku/assets/ref4/1_S2_02_通り過ぎてトランジション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110" y="2777490"/>
            <a:ext cx="1260018" cy="814730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車が横切る → 抜けたら別の服・別の色</a:t>
            </a:r>
            <a:endParaRPr lang="en-US" sz="720" dirty="0"/>
          </a:p>
        </p:txBody>
      </p:sp>
      <p:sp>
        <p:nvSpPr>
          <p:cNvPr id="37" name="Shape 32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8" name="Image 3" descr="/home/user/dougaseisaku/assets/ref4/1_S2_03_別の色の小物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0465" y="2777490"/>
            <a:ext cx="1260018" cy="814730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手元の小物だけに寄る（キャメル）</a:t>
            </a:r>
            <a:endParaRPr lang="en-US" sz="720" dirty="0"/>
          </a:p>
        </p:txBody>
      </p:sp>
      <p:sp>
        <p:nvSpPr>
          <p:cNvPr id="41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変わる②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9-15秒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3" name="Image 4" descr="/home/user/dougaseisaku/assets/ref4/1_S3_01_さらに別の色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3756" y="4000500"/>
            <a:ext cx="1260018" cy="814730"/>
          </a:xfrm>
          <a:prstGeom prst="rect">
            <a:avLst/>
          </a:prstGeom>
        </p:spPr>
      </p:pic>
      <p:sp>
        <p:nvSpPr>
          <p:cNvPr id="44" name="Shape 37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 → 抜けたら変わっている</a:t>
            </a:r>
            <a:endParaRPr lang="en-US" sz="720" dirty="0"/>
          </a:p>
        </p:txBody>
      </p:sp>
      <p:sp>
        <p:nvSpPr>
          <p:cNvPr id="46" name="Shape 39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7" name="Image 5" descr="/home/user/dougaseisaku/assets/ref4/1_S3_02_建物内で変わ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2110" y="4000500"/>
            <a:ext cx="1260018" cy="814730"/>
          </a:xfrm>
          <a:prstGeom prst="rect">
            <a:avLst/>
          </a:prstGeom>
        </p:spPr>
      </p:pic>
      <p:sp>
        <p:nvSpPr>
          <p:cNvPr id="48" name="Shape 40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9" name="Text 41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エスカレーターを上がりきると変わっている</a:t>
            </a:r>
            <a:endParaRPr lang="en-US" sz="720" dirty="0"/>
          </a:p>
        </p:txBody>
      </p:sp>
      <p:sp>
        <p:nvSpPr>
          <p:cNvPr id="50" name="Shape 42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1" name="Text 43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2" name="Text 44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歩く足元（ロー）。手元の色だけが見える</a:t>
            </a:r>
            <a:endParaRPr lang="en-US" sz="720" dirty="0"/>
          </a:p>
        </p:txBody>
      </p:sp>
      <p:sp>
        <p:nvSpPr>
          <p:cNvPr id="53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到着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15-20秒</a:t>
            </a:r>
            <a:endParaRPr lang="en-US" sz="1050" dirty="0"/>
          </a:p>
        </p:txBody>
      </p:sp>
      <p:sp>
        <p:nvSpPr>
          <p:cNvPr id="54" name="Shape 46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5" name="Image 6" descr="/home/user/dougaseisaku/assets/ref4/1_S4_01_到着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63756" y="5223510"/>
            <a:ext cx="1260018" cy="81473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7" name="Text 48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会社のエントランス。ここが到着点</a:t>
            </a:r>
            <a:endParaRPr lang="en-US" sz="720" dirty="0"/>
          </a:p>
        </p:txBody>
      </p:sp>
      <p:sp>
        <p:nvSpPr>
          <p:cNvPr id="58" name="Shape 49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9" name="Image 7" descr="/home/user/dougaseisaku/assets/ref4/1_S4_02_全色が並ぶ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42110" y="5223510"/>
            <a:ext cx="1260018" cy="814730"/>
          </a:xfrm>
          <a:prstGeom prst="rect">
            <a:avLst/>
          </a:prstGeom>
        </p:spPr>
      </p:pic>
      <p:sp>
        <p:nvSpPr>
          <p:cNvPr id="60" name="Shape 50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61" name="Text 51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真俯瞰。四色が並ぶ</a:t>
            </a:r>
            <a:endParaRPr lang="en-US" sz="720" dirty="0"/>
          </a:p>
        </p:txBody>
      </p:sp>
      <p:sp>
        <p:nvSpPr>
          <p:cNvPr id="62" name="Shape 52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63" name="Text 53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64" name="Text 54"/>
          <p:cNvSpPr/>
          <p:nvPr/>
        </p:nvSpPr>
        <p:spPr>
          <a:xfrm>
            <a:off x="9520733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1.5秒 → ロゴ 0.5秒</a:t>
            </a:r>
            <a:endParaRPr lang="en-US" sz="720" dirty="0"/>
          </a:p>
        </p:txBody>
      </p:sp>
      <p:sp>
        <p:nvSpPr>
          <p:cNvPr id="65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66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104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真俯瞰と横の二つだけ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。音はカメラのマイクでは録れないので、スマホを手元三十センチに置いて別録りする。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S3のコバ塗りがこの一本の核。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一カットの中でビフォーアフターが起きる。参考動画が四百七十七万回見られた理由がこれ。最後は作業机で終わらせず、使われている場所に置いて終える。</a:t>
            </a:r>
            <a:endParaRPr lang="en-US" sz="836" dirty="0"/>
          </a:p>
        </p:txBody>
      </p:sp>
      <p:sp>
        <p:nvSpPr>
          <p:cNvPr id="9" name="Text 7"/>
          <p:cNvSpPr/>
          <p:nvPr/>
        </p:nvSpPr>
        <p:spPr>
          <a:xfrm>
            <a:off x="411480" y="303758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238754"/>
            <a:ext cx="3063240" cy="4826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11480" y="3898438"/>
            <a:ext cx="3063240" cy="10886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02645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227622"/>
            <a:ext cx="2697480" cy="325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594360" y="4607903"/>
            <a:ext cx="2697480" cy="23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6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836" dirty="0"/>
          </a:p>
        </p:txBody>
      </p:sp>
      <p:sp>
        <p:nvSpPr>
          <p:cNvPr id="15" name="Text 13"/>
          <p:cNvSpPr/>
          <p:nvPr/>
        </p:nvSpPr>
        <p:spPr>
          <a:xfrm>
            <a:off x="411480" y="516415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 バ 塗 り の カ ッ ト で 出 す テ ロ ッ プ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365322"/>
            <a:ext cx="3063240" cy="73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766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音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0-3秒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2_S1_01_刃が革に入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6432" y="1554480"/>
            <a:ext cx="534667" cy="81473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超マクロ。刃が革に入る瞬間。何を見ているか分からない距離</a:t>
            </a:r>
            <a:endParaRPr lang="en-US" sz="720" dirty="0"/>
          </a:p>
        </p:txBody>
      </p:sp>
      <p:sp>
        <p:nvSpPr>
          <p:cNvPr id="22" name="Shape 19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3" name="Text 20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「スッ」の一音だけ。BGMは鳴らさない</a:t>
            </a:r>
            <a:endParaRPr lang="en-US" sz="720" dirty="0"/>
          </a:p>
        </p:txBody>
      </p:sp>
      <p:sp>
        <p:nvSpPr>
          <p:cNvPr id="25" name="Text 22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切る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3-14秒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1" descr="/home/user/dougaseisaku/assets/ref4/2_S2_01_金属定規で直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6432" y="2777490"/>
            <a:ext cx="534667" cy="814730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金属定規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を当てて直線を一気に引く</a:t>
            </a:r>
            <a:endParaRPr lang="en-US" sz="720" dirty="0"/>
          </a:p>
        </p:txBody>
      </p:sp>
      <p:sp>
        <p:nvSpPr>
          <p:cNvPr id="30" name="Shape 26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1" name="Image 2" descr="/home/user/dougaseisaku/assets/ref4/2_S2_02_角を丸く回す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4786" y="2777490"/>
            <a:ext cx="534667" cy="814730"/>
          </a:xfrm>
          <a:prstGeom prst="rect">
            <a:avLst/>
          </a:prstGeom>
        </p:spPr>
      </p:pic>
      <p:sp>
        <p:nvSpPr>
          <p:cNvPr id="32" name="Shape 27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四十五度。角を丸く回して切る</a:t>
            </a:r>
            <a:endParaRPr lang="en-US" sz="720" dirty="0"/>
          </a:p>
        </p:txBody>
      </p:sp>
      <p:sp>
        <p:nvSpPr>
          <p:cNvPr id="34" name="Shape 29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5" name="Image 3" descr="/home/user/dougaseisaku/assets/ref4/2_S2_03_作業台と職人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6779" y="2777490"/>
            <a:ext cx="807390" cy="814730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真俯瞰。作業台と職人の手全体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38" name="Text 32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縫う・塗る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14-31秒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0" name="Image 4" descr="/home/user/dougaseisaku/assets/ref4/2_S3_01_針と糸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6432" y="4000500"/>
            <a:ext cx="534667" cy="814730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5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真俯瞰。針が革を抜ける</a:t>
            </a:r>
            <a:endParaRPr lang="en-US" sz="720" dirty="0"/>
          </a:p>
        </p:txBody>
      </p:sp>
      <p:sp>
        <p:nvSpPr>
          <p:cNvPr id="43" name="Shape 36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4" name="Image 5" descr="/home/user/dougaseisaku/assets/ref4/2_S3_02_横から目のアップ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48992" y="4000500"/>
            <a:ext cx="846256" cy="814730"/>
          </a:xfrm>
          <a:prstGeom prst="rect">
            <a:avLst/>
          </a:prstGeom>
        </p:spPr>
      </p:pic>
      <p:sp>
        <p:nvSpPr>
          <p:cNvPr id="45" name="Shape 37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6" name="Text 38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横から。目だけのアップ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。顔全体は入れない</a:t>
            </a:r>
            <a:endParaRPr lang="en-US" sz="720" dirty="0"/>
          </a:p>
        </p:txBody>
      </p:sp>
      <p:sp>
        <p:nvSpPr>
          <p:cNvPr id="47" name="Shape 39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8" name="Image 6" descr="/home/user/dougaseisaku/assets/ref4/2_S3_03b_コバ塗り_ワンカット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50608" y="4000500"/>
            <a:ext cx="599732" cy="814730"/>
          </a:xfrm>
          <a:prstGeom prst="rect">
            <a:avLst/>
          </a:prstGeom>
        </p:spPr>
      </p:pic>
      <p:sp>
        <p:nvSpPr>
          <p:cNvPr id="49" name="Shape 40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0" name="Text 41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 ★核。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塗った側と塗っていない側が同じ画面に入る。長回し・カットを割らない</a:t>
            </a:r>
            <a:endParaRPr lang="en-US" sz="720" dirty="0"/>
          </a:p>
        </p:txBody>
      </p:sp>
      <p:sp>
        <p:nvSpPr>
          <p:cNvPr id="51" name="Text 42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磨く・終わり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31-40秒</a:t>
            </a:r>
            <a:endParaRPr lang="en-US" sz="1050" dirty="0"/>
          </a:p>
        </p:txBody>
      </p:sp>
      <p:sp>
        <p:nvSpPr>
          <p:cNvPr id="52" name="Shape 43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3" name="Image 7" descr="/home/user/dougaseisaku/assets/ref4/2_S4_01_仕上げ剤を取る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6432" y="5223510"/>
            <a:ext cx="534667" cy="814730"/>
          </a:xfrm>
          <a:prstGeom prst="rect">
            <a:avLst/>
          </a:prstGeom>
        </p:spPr>
      </p:pic>
      <p:sp>
        <p:nvSpPr>
          <p:cNvPr id="54" name="Shape 44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5" name="Text 45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超マクロ。コバを磨く。摩擦音</a:t>
            </a:r>
            <a:endParaRPr lang="en-US" sz="720" dirty="0"/>
          </a:p>
        </p:txBody>
      </p:sp>
      <p:sp>
        <p:nvSpPr>
          <p:cNvPr id="56" name="Shape 46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7" name="Text 47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8" name="Text 48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手が止まる。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職人の声が一言だけ入る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（台本なし）</a:t>
            </a:r>
            <a:endParaRPr lang="en-US" sz="720" dirty="0"/>
          </a:p>
        </p:txBody>
      </p:sp>
      <p:sp>
        <p:nvSpPr>
          <p:cNvPr id="59" name="Shape 49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60" name="Image 8" descr="/home/user/dougaseisaku/assets/ref4/2_S4_03_使われる場所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83141" y="5223510"/>
            <a:ext cx="534667" cy="814730"/>
          </a:xfrm>
          <a:prstGeom prst="rect">
            <a:avLst/>
          </a:prstGeom>
        </p:spPr>
      </p:pic>
      <p:sp>
        <p:nvSpPr>
          <p:cNvPr id="61" name="Shape 50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62" name="Text 51"/>
          <p:cNvSpPr/>
          <p:nvPr/>
        </p:nvSpPr>
        <p:spPr>
          <a:xfrm>
            <a:off x="9520733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使われている場所に置かれる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テロップ → ロゴ</a:t>
            </a:r>
            <a:endParaRPr lang="en-US" sz="720" dirty="0"/>
          </a:p>
        </p:txBody>
      </p:sp>
      <p:sp>
        <p:nvSpPr>
          <p:cNvPr id="63" name="Text 5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64" name="Text 5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Royale M Tote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ロワイヤルMトートの作りかた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9ショット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（delvaux「le Brillant Tempo」）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顔と工房は一切映さない。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映るのは手と、革と、金具だけ。この一本だけは商品を売らない。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：背景（黒／実景）・光（一灯／自然光）・被写体（手だけ／人と機械）・カメラ（固定／歩く）・音（BGM／作業音）・終わり方（ロゴ／梱包と問い合わせ先）。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撮影日も分ける。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69134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闇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0-5秒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5" name="Image 0" descr="/home/user/dougaseisaku/assets/ref4/3_S1_02_黒の中の光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3756" y="1554480"/>
            <a:ext cx="1260018" cy="81473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真っ黒。細い光の帯が、革の断面だけを照らす</a:t>
            </a:r>
            <a:endParaRPr lang="en-US" sz="720" dirty="0"/>
          </a:p>
        </p:txBody>
      </p:sp>
      <p:sp>
        <p:nvSpPr>
          <p:cNvPr id="18" name="Shape 15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1" descr="/home/user/dougaseisaku/assets/ref4/3_S1_01_道具が並ぶ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2110" y="1554480"/>
            <a:ext cx="1260018" cy="81473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黒の上に道具だけが並ぶ（真俯瞰）</a:t>
            </a:r>
            <a:endParaRPr lang="en-US" sz="720" dirty="0"/>
          </a:p>
        </p:txBody>
      </p:sp>
      <p:sp>
        <p:nvSpPr>
          <p:cNvPr id="22" name="Shape 18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3" name="Text 19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4" name="Text 20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無音から、低いBGMが立ち上がる</a:t>
            </a:r>
            <a:endParaRPr lang="en-US" sz="720" dirty="0"/>
          </a:p>
        </p:txBody>
      </p:sp>
      <p:sp>
        <p:nvSpPr>
          <p:cNvPr id="25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5-15秒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2" descr="/home/user/dougaseisaku/assets/ref4/3_S2_01_手で革を折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756" y="2777490"/>
            <a:ext cx="1260018" cy="81473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手だけ。革を折り、角を作る。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</a:t>
            </a:r>
            <a:endParaRPr lang="en-US" sz="720" dirty="0"/>
          </a:p>
        </p:txBody>
      </p:sp>
      <p:sp>
        <p:nvSpPr>
          <p:cNvPr id="30" name="Shape 25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1" name="Image 3" descr="/home/user/dougaseisaku/assets/ref4/3_S2_02_角を作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2110" y="2777490"/>
            <a:ext cx="1260018" cy="81473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角が立ち上がる（超マクロ）</a:t>
            </a:r>
            <a:endParaRPr lang="en-US" sz="720" dirty="0"/>
          </a:p>
        </p:txBody>
      </p:sp>
      <p:sp>
        <p:nvSpPr>
          <p:cNvPr id="34" name="Shape 28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5" name="Image 4" descr="/home/user/dougaseisaku/assets/ref4/3_S2_03_白手袋と金具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20465" y="2777490"/>
            <a:ext cx="1260018" cy="814730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で金具を持ち、取り付ける。金属が触れる音</a:t>
            </a:r>
            <a:endParaRPr lang="en-US" sz="720" dirty="0"/>
          </a:p>
        </p:txBody>
      </p:sp>
      <p:sp>
        <p:nvSpPr>
          <p:cNvPr id="38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コバ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15-24秒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0" name="Text 33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1" name="Text 34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コバに染料を入れる（超マクロ）</a:t>
            </a:r>
            <a:endParaRPr lang="en-US" sz="720" dirty="0"/>
          </a:p>
        </p:txBody>
      </p:sp>
      <p:sp>
        <p:nvSpPr>
          <p:cNvPr id="42" name="Shape 35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3" name="Image 5" descr="/home/user/dougaseisaku/assets/ref4/3_S3_02_磨く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2110" y="4000500"/>
            <a:ext cx="1260018" cy="814730"/>
          </a:xfrm>
          <a:prstGeom prst="rect">
            <a:avLst/>
          </a:prstGeom>
        </p:spPr>
      </p:pic>
      <p:sp>
        <p:nvSpPr>
          <p:cNvPr id="44" name="Shape 36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5" name="Text 37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磨く。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光が断面に反射する角度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を探す</a:t>
            </a:r>
            <a:endParaRPr lang="en-US" sz="720" dirty="0"/>
          </a:p>
        </p:txBody>
      </p:sp>
      <p:sp>
        <p:nvSpPr>
          <p:cNvPr id="46" name="Shape 38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7" name="Image 6" descr="/home/user/dougaseisaku/assets/ref4/3_S3_03_完成品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20465" y="4000500"/>
            <a:ext cx="1260018" cy="814730"/>
          </a:xfrm>
          <a:prstGeom prst="rect">
            <a:avLst/>
          </a:prstGeom>
        </p:spPr>
      </p:pic>
      <p:sp>
        <p:nvSpPr>
          <p:cNvPr id="48" name="Shape 39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完成品が黒の中に浮かぶ。上から一灯だけ</a:t>
            </a:r>
            <a:endParaRPr lang="en-US" sz="720" dirty="0"/>
          </a:p>
        </p:txBody>
      </p:sp>
      <p:sp>
        <p:nvSpPr>
          <p:cNvPr id="50" name="Text 41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24-28秒</a:t>
            </a:r>
            <a:endParaRPr lang="en-US" sz="1050" dirty="0"/>
          </a:p>
        </p:txBody>
      </p:sp>
      <p:sp>
        <p:nvSpPr>
          <p:cNvPr id="51" name="Shape 42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2" name="Text 43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3" name="Text 44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54" name="Text 4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5" name="Text 4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絵になる日常を。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対象＝仕事道具として買う人・贈る人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（yifan.liii × COACH・11.8万いいね）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映画×vlogの参考から三つを取る。①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電車・看板・柱をトランジションに使う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（1本目と同じ手法）②街の引きの間に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金具や財布の超マクロを差し込む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③テロップは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英語一文を街の壁に重ねるだけ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、画面の下に出さない。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自然光のみ。夕方の斜光。手持ちの揺れを少しだけ残すが、引きの構図はきっちり止める。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一人で完結させる。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誰とも話さない。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この鞄を持った日常は、そのまま絵になる。A4もノートPCも入る。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 に 重 ね る 一 文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69134"/>
            <a:ext cx="3063240" cy="64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frame.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街の白い壁に重ねる。画面の下にテロップは出さない。最後はロゴだけ。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街に出る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0-8秒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5" name="Image 0" descr="/home/user/dougaseisaku/assets/ref4/4_S1_01_ガラスの反射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006" y="1554480"/>
            <a:ext cx="1079518" cy="81473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店のガラスの反射に映る（引き）</a:t>
            </a:r>
            <a:endParaRPr lang="en-US" sz="720" dirty="0"/>
          </a:p>
        </p:txBody>
      </p:sp>
      <p:sp>
        <p:nvSpPr>
          <p:cNvPr id="18" name="Shape 15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1" descr="/home/user/dougaseisaku/assets/ref4/4_S1_02_街を歩く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2361" y="1554480"/>
            <a:ext cx="1079518" cy="81473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街を歩く。横移動で追う</a:t>
            </a:r>
            <a:endParaRPr lang="en-US" sz="720" dirty="0"/>
          </a:p>
        </p:txBody>
      </p:sp>
      <p:sp>
        <p:nvSpPr>
          <p:cNvPr id="22" name="Shape 18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2" descr="/home/user/dougaseisaku/assets/ref4/4_S1_03_電車が通り過ぎ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0715" y="1554480"/>
            <a:ext cx="1079518" cy="81473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電車が通り過ぎる（ブレ＝トランジション）</a:t>
            </a:r>
            <a:endParaRPr lang="en-US" sz="720" dirty="0"/>
          </a:p>
        </p:txBody>
      </p:sp>
      <p:sp>
        <p:nvSpPr>
          <p:cNvPr id="26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中身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8-17秒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3" descr="/home/user/dougaseisaku/assets/ref4/4_S2_01_真俯瞰で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4561" y="2777490"/>
            <a:ext cx="638408" cy="814730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手すりに置き、真俯瞰でA4とノートPCを入れる</a:t>
            </a:r>
            <a:endParaRPr lang="en-US" sz="720" dirty="0"/>
          </a:p>
        </p:txBody>
      </p:sp>
      <p:sp>
        <p:nvSpPr>
          <p:cNvPr id="31" name="Shape 25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4" descr="/home/user/dougaseisaku/assets/ref4/4_S2_02_中身を並べ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2916" y="2777490"/>
            <a:ext cx="638408" cy="814730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寄り。内ポケットに名刺入れ・鍵・携帯</a:t>
            </a:r>
            <a:endParaRPr lang="en-US" sz="720" dirty="0"/>
          </a:p>
        </p:txBody>
      </p:sp>
      <p:sp>
        <p:nvSpPr>
          <p:cNvPr id="35" name="Shape 28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5" descr="/home/user/dougaseisaku/assets/ref4/4_S2_03_財布に差し込む超マクロ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10715" y="2777490"/>
            <a:ext cx="1079518" cy="814730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0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財布に何かを差し込む超マクロ</a:t>
            </a:r>
            <a:endParaRPr lang="en-US" sz="720" dirty="0"/>
          </a:p>
        </p:txBody>
      </p:sp>
      <p:sp>
        <p:nvSpPr>
          <p:cNvPr id="39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一人の時間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17-25秒</a:t>
            </a:r>
            <a:endParaRPr lang="en-US" sz="1050" dirty="0"/>
          </a:p>
        </p:txBody>
      </p:sp>
      <p:sp>
        <p:nvSpPr>
          <p:cNvPr id="40" name="Shape 32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6" descr="/home/user/dougaseisaku/assets/ref4/4_S3_01_カフェの窓際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54006" y="4000500"/>
            <a:ext cx="1079518" cy="814730"/>
          </a:xfrm>
          <a:prstGeom prst="rect">
            <a:avLst/>
          </a:prstGeom>
        </p:spPr>
      </p:pic>
      <p:sp>
        <p:nvSpPr>
          <p:cNvPr id="42" name="Shape 33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カフェの窓際。自然光・浅い被写界深度</a:t>
            </a:r>
            <a:endParaRPr lang="en-US" sz="720" dirty="0"/>
          </a:p>
        </p:txBody>
      </p:sp>
      <p:sp>
        <p:nvSpPr>
          <p:cNvPr id="44" name="Shape 35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7" descr="/home/user/dougaseisaku/assets/ref4/4_S3_02_金具のロゴに超マクロ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32361" y="4000500"/>
            <a:ext cx="1079518" cy="814730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金具のロゴに超マクロ</a:t>
            </a:r>
            <a:endParaRPr lang="en-US" sz="720" dirty="0"/>
          </a:p>
        </p:txBody>
      </p:sp>
      <p:sp>
        <p:nvSpPr>
          <p:cNvPr id="48" name="Shape 38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9" name="Image 8" descr="/home/user/dougaseisaku/assets/ref4/4_S3_03_高い場所に立つ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10715" y="4000500"/>
            <a:ext cx="1079518" cy="814730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高い場所に立つ（引き・映画的）</a:t>
            </a:r>
            <a:endParaRPr lang="en-US" sz="720" dirty="0"/>
          </a:p>
        </p:txBody>
      </p:sp>
      <p:sp>
        <p:nvSpPr>
          <p:cNvPr id="52" name="Text 41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25-30秒</a:t>
            </a:r>
            <a:endParaRPr lang="en-US" sz="1050" dirty="0"/>
          </a:p>
        </p:txBody>
      </p:sp>
      <p:sp>
        <p:nvSpPr>
          <p:cNvPr id="53" name="Shape 42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4" name="Image 9" descr="/home/user/dougaseisaku/assets/ref4/4_S4_02_街に置く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74561" y="5223510"/>
            <a:ext cx="638408" cy="814730"/>
          </a:xfrm>
          <a:prstGeom prst="rect">
            <a:avLst/>
          </a:prstGeom>
        </p:spPr>
      </p:pic>
      <p:sp>
        <p:nvSpPr>
          <p:cNvPr id="55" name="Shape 43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6" name="Text 44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街に置く。背景をボカして流す</a:t>
            </a:r>
            <a:endParaRPr lang="en-US" sz="720" dirty="0"/>
          </a:p>
        </p:txBody>
      </p:sp>
      <p:sp>
        <p:nvSpPr>
          <p:cNvPr id="57" name="Shape 45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8" name="Image 10" descr="/home/user/dougaseisaku/assets/ref4/4_S4_01_白い壁の前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32361" y="5223510"/>
            <a:ext cx="1079518" cy="814730"/>
          </a:xfrm>
          <a:prstGeom prst="rect">
            <a:avLst/>
          </a:prstGeom>
        </p:spPr>
      </p:pic>
      <p:sp>
        <p:nvSpPr>
          <p:cNvPr id="59" name="Shape 46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60" name="Text 47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白い壁の前。正面。壁に英語一文を重ねる</a:t>
            </a:r>
            <a:endParaRPr lang="en-US" sz="720" dirty="0"/>
          </a:p>
        </p:txBody>
      </p:sp>
      <p:sp>
        <p:nvSpPr>
          <p:cNvPr id="61" name="Shape 48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62" name="Text 49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63" name="Text 50"/>
          <p:cNvSpPr/>
          <p:nvPr/>
        </p:nvSpPr>
        <p:spPr>
          <a:xfrm>
            <a:off x="9520733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64" name="Text 51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65" name="Text 52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1979年から、東京で。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Since 1979, Tokyo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 ／ 12ショット（60秒短縮版 ×1）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（コーポレートムービー）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2027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0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会社を一本で説明できる映像がない。公式サイトのHISTORYページは中身が作られないまま公開されている。</a:t>
            </a:r>
            <a:pPr indent="0" marL="0">
              <a:lnSpc>
                <a:spcPct val="134000"/>
              </a:lnSpc>
              <a:buNone/>
            </a:pPr>
            <a:r>
              <a:rPr lang="en-US" sz="703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年表で信用を作り、最後に二人の顔と声で締める。</a:t>
            </a:r>
            <a:pPr indent="0" marL="0">
              <a:lnSpc>
                <a:spcPct val="134000"/>
              </a:lnSpc>
              <a:buNone/>
            </a:pPr>
            <a:r>
              <a:rPr lang="en-US" sz="70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これがいちばん低予算で、いちばんメディアに刺さる。</a:t>
            </a:r>
            <a:pPr indent="0" marL="0">
              <a:lnSpc>
                <a:spcPct val="134000"/>
              </a:lnSpc>
              <a:buNone/>
            </a:pPr>
            <a:endParaRPr lang="en-US" sz="703" dirty="0"/>
          </a:p>
          <a:p>
            <a:pPr indent="0" marL="0">
              <a:lnSpc>
                <a:spcPct val="134000"/>
              </a:lnSpc>
              <a:buNone/>
            </a:pPr>
            <a:endParaRPr lang="en-US" sz="703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03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70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：工程の詳しい説明、技術の解説、商品スペック。それは他の動画の役割。</a:t>
            </a:r>
            <a:pPr indent="0" marL="0">
              <a:lnSpc>
                <a:spcPct val="134000"/>
              </a:lnSpc>
              <a:buNone/>
            </a:pPr>
            <a:endParaRPr lang="en-US" sz="703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03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先に要ること</a:t>
            </a:r>
            <a:pPr indent="0" marL="0">
              <a:lnSpc>
                <a:spcPct val="134000"/>
              </a:lnSpc>
              <a:buNone/>
            </a:pPr>
            <a:r>
              <a:rPr lang="en-US" sz="70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：お二人の収録を三十分ずつ。使うのは各十秒ほどだが、</a:t>
            </a:r>
            <a:pPr indent="0" marL="0">
              <a:lnSpc>
                <a:spcPct val="134000"/>
              </a:lnSpc>
              <a:buNone/>
            </a:pPr>
            <a:r>
              <a:rPr lang="en-US" sz="703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単独インタビュー動画にそのまま展開できる素材</a:t>
            </a:r>
            <a:pPr indent="0" marL="0">
              <a:lnSpc>
                <a:spcPct val="134000"/>
              </a:lnSpc>
              <a:buNone/>
            </a:pPr>
            <a:r>
              <a:rPr lang="en-US" sz="70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になる。</a:t>
            </a:r>
            <a:pPr indent="0" marL="0">
              <a:lnSpc>
                <a:spcPct val="134000"/>
              </a:lnSpc>
              <a:buNone/>
            </a:pPr>
            <a:endParaRPr lang="en-US" sz="703" dirty="0"/>
          </a:p>
          <a:p>
            <a:pPr indent="0" marL="0">
              <a:lnSpc>
                <a:spcPct val="134000"/>
              </a:lnSpc>
              <a:buNone/>
            </a:pPr>
            <a:endParaRPr lang="en-US" sz="703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03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ナレーションは永尾社長の声。</a:t>
            </a:r>
            <a:pPr indent="0" marL="0">
              <a:lnSpc>
                <a:spcPct val="134000"/>
              </a:lnSpc>
              <a:buNone/>
            </a:pPr>
            <a:r>
              <a:rPr lang="en-US" sz="70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を読み上げるのではなく、三十分の収録から経営方針についての本音の一言を拾う形にする（想定トピック：なぜ向島工房と一つになったか／変えないと決めていること／これから）。顔が映らないS1・S3・S4の上に重ねる。</a:t>
            </a:r>
            <a:endParaRPr lang="en-US" sz="703" dirty="0"/>
          </a:p>
        </p:txBody>
      </p:sp>
      <p:sp>
        <p:nvSpPr>
          <p:cNvPr id="9" name="Text 7"/>
          <p:cNvSpPr/>
          <p:nvPr/>
        </p:nvSpPr>
        <p:spPr>
          <a:xfrm>
            <a:off x="411480" y="393171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4132885"/>
            <a:ext cx="3063240" cy="28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4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</a:t>
            </a:r>
            <a:endParaRPr lang="en-US" sz="740" dirty="0"/>
          </a:p>
        </p:txBody>
      </p:sp>
      <p:sp>
        <p:nvSpPr>
          <p:cNvPr id="11" name="Shape 9"/>
          <p:cNvSpPr/>
          <p:nvPr/>
        </p:nvSpPr>
        <p:spPr>
          <a:xfrm>
            <a:off x="411480" y="4569474"/>
            <a:ext cx="3063240" cy="102313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697490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898658"/>
            <a:ext cx="2697480" cy="285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作る場所は、変わっていません。</a:t>
            </a:r>
            <a:endParaRPr lang="en-US" sz="1110" dirty="0"/>
          </a:p>
        </p:txBody>
      </p:sp>
      <p:sp>
        <p:nvSpPr>
          <p:cNvPr id="14" name="Text 12"/>
          <p:cNvSpPr/>
          <p:nvPr/>
        </p:nvSpPr>
        <p:spPr>
          <a:xfrm>
            <a:off x="594360" y="5238806"/>
            <a:ext cx="2697480" cy="207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3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place has not changed.</a:t>
            </a:r>
            <a:endParaRPr lang="en-US" sz="703" dirty="0"/>
          </a:p>
        </p:txBody>
      </p:sp>
      <p:sp>
        <p:nvSpPr>
          <p:cNvPr id="15" name="Text 13"/>
          <p:cNvSpPr/>
          <p:nvPr/>
        </p:nvSpPr>
        <p:spPr>
          <a:xfrm>
            <a:off x="411480" y="574147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表 テ ロ ッ プ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942644"/>
            <a:ext cx="3063240" cy="392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4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 創業　／　1980 SHIPS　／　1982 BEAMS　／　1990 UNITED ARROWS　／　1991 Paul Smith　／　2011 RALPH LAUREN 全直営店のカルトン</a:t>
            </a:r>
            <a:endParaRPr lang="en-US" sz="644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刻印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0-25秒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5_S1_01_刻印風マクロ_金属に光る文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2191" y="1554480"/>
            <a:ext cx="1543149" cy="81473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黒。刻印が押され、ロゴが革に沈む（超マクロ）</a:t>
            </a:r>
            <a:endParaRPr lang="en-US" sz="720" dirty="0"/>
          </a:p>
        </p:txBody>
      </p:sp>
      <p:sp>
        <p:nvSpPr>
          <p:cNvPr id="22" name="Shape 19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5_S1_02_窪みに光が差す赤熱マクロ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0545" y="1554480"/>
            <a:ext cx="1543149" cy="81473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窪みに光が差す。そこに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が重なる</a:t>
            </a:r>
            <a:endParaRPr lang="en-US" sz="720" dirty="0"/>
          </a:p>
        </p:txBody>
      </p:sp>
      <p:sp>
        <p:nvSpPr>
          <p:cNvPr id="26" name="Shape 22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2" descr="/home/user/dougaseisaku/assets/ref4/5_S1_03_工房の全景ハイアング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8899" y="1554480"/>
            <a:ext cx="1543149" cy="81473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引くと向島工房の全景になる（ハイアングル）</a:t>
            </a:r>
            <a:endParaRPr lang="en-US" sz="720" dirty="0"/>
          </a:p>
        </p:txBody>
      </p:sp>
      <p:sp>
        <p:nvSpPr>
          <p:cNvPr id="30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二人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25-57秒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5_S2_01_社長ポートレート_工房背景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2191" y="2777490"/>
            <a:ext cx="1543149" cy="814730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永尾社長。窓を背に座る（中景）。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顔が出るのはここだけ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5_S2_02_二人目ポートレート_同じ画角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6000" y="2777490"/>
            <a:ext cx="1452238" cy="814730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同じ光・同じ画角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</a:t>
            </a:r>
            <a:endParaRPr lang="en-US" sz="720" dirty="0"/>
          </a:p>
        </p:txBody>
      </p:sp>
      <p:sp>
        <p:nvSpPr>
          <p:cNvPr id="39" name="Shape 32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0" name="Text 33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1" name="Text 34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打ち合わせ台を真俯瞰。図面・革見本・道具</a:t>
            </a:r>
            <a:endParaRPr lang="en-US" sz="720" dirty="0"/>
          </a:p>
        </p:txBody>
      </p:sp>
      <p:sp>
        <p:nvSpPr>
          <p:cNvPr id="42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製造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57-96秒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4" name="Image 5" descr="/home/user/dougaseisaku/assets/ref4/5_S3_01_原反が広げられる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67646" y="4000500"/>
            <a:ext cx="1452238" cy="814730"/>
          </a:xfrm>
          <a:prstGeom prst="rect">
            <a:avLst/>
          </a:prstGeom>
        </p:spPr>
      </p:pic>
      <p:sp>
        <p:nvSpPr>
          <p:cNvPr id="45" name="Shape 37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6" name="Text 38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原反が広げられる（真俯瞰）</a:t>
            </a:r>
            <a:endParaRPr lang="en-US" sz="720" dirty="0"/>
          </a:p>
        </p:txBody>
      </p:sp>
      <p:sp>
        <p:nvSpPr>
          <p:cNvPr id="47" name="Shape 39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8" name="Image 6" descr="/home/user/dougaseisaku/assets/ref4/5_S3_02_手元での精密作業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00545" y="4000500"/>
            <a:ext cx="1543149" cy="814730"/>
          </a:xfrm>
          <a:prstGeom prst="rect">
            <a:avLst/>
          </a:prstGeom>
        </p:spPr>
      </p:pic>
      <p:sp>
        <p:nvSpPr>
          <p:cNvPr id="49" name="Shape 40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0" name="Text 41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 → 縫製 → コバ磨き。声が終わり工程の音だけになる</a:t>
            </a:r>
            <a:endParaRPr lang="en-US" sz="720" dirty="0"/>
          </a:p>
        </p:txBody>
      </p:sp>
      <p:sp>
        <p:nvSpPr>
          <p:cNvPr id="51" name="Shape 42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2" name="Image 7" descr="/home/user/dougaseisaku/assets/ref4/5_S3_03_検品する横顔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78899" y="4000500"/>
            <a:ext cx="1543149" cy="814730"/>
          </a:xfrm>
          <a:prstGeom prst="rect">
            <a:avLst/>
          </a:prstGeom>
        </p:spPr>
      </p:pic>
      <p:sp>
        <p:nvSpPr>
          <p:cNvPr id="53" name="Shape 43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4" name="Text 44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ここで一度、音を消す</a:t>
            </a:r>
            <a:endParaRPr lang="en-US" sz="720" dirty="0"/>
          </a:p>
        </p:txBody>
      </p:sp>
      <p:sp>
        <p:nvSpPr>
          <p:cNvPr id="55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渡る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96-120秒</a:t>
            </a:r>
            <a:endParaRPr lang="en-US" sz="1050" dirty="0"/>
          </a:p>
        </p:txBody>
      </p:sp>
      <p:sp>
        <p:nvSpPr>
          <p:cNvPr id="56" name="Shape 46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7" name="Text 47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8" name="Text 48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梱包され、箱が閉じる（真俯瞰）</a:t>
            </a:r>
            <a:endParaRPr lang="en-US" sz="720" dirty="0"/>
          </a:p>
        </p:txBody>
      </p:sp>
      <p:sp>
        <p:nvSpPr>
          <p:cNvPr id="59" name="Shape 49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60" name="Text 50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61" name="Text 51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受け取る手。開けた瞬間</a:t>
            </a:r>
            <a:endParaRPr lang="en-US" sz="720" dirty="0"/>
          </a:p>
        </p:txBody>
      </p:sp>
      <p:sp>
        <p:nvSpPr>
          <p:cNvPr id="62" name="Shape 52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63" name="Text 53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64" name="Text 54"/>
          <p:cNvSpPr/>
          <p:nvPr/>
        </p:nvSpPr>
        <p:spPr>
          <a:xfrm>
            <a:off x="9520733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仕事で使われている → テロップ → ロゴ</a:t>
            </a:r>
            <a:endParaRPr lang="en-US" sz="720" dirty="0"/>
          </a:p>
        </p:txBody>
      </p:sp>
      <p:sp>
        <p:nvSpPr>
          <p:cNvPr id="65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66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12ショット（展示会用の無音版 ×1）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工場見学ワンテイク型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を推奨（入口から入り、工程順に歩き、梱包場で終わる）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5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760" dirty="0"/>
          </a:p>
        </p:txBody>
      </p:sp>
      <p:sp>
        <p:nvSpPr>
          <p:cNvPr id="9" name="Text 7"/>
          <p:cNvSpPr/>
          <p:nvPr/>
        </p:nvSpPr>
        <p:spPr>
          <a:xfrm>
            <a:off x="411480" y="337007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571244"/>
            <a:ext cx="3063240" cy="452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11480" y="4184258"/>
            <a:ext cx="3063240" cy="1051231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31227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513442"/>
            <a:ext cx="2697480" cy="302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4870789"/>
            <a:ext cx="2697480" cy="218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760" dirty="0"/>
          </a:p>
        </p:txBody>
      </p:sp>
      <p:sp>
        <p:nvSpPr>
          <p:cNvPr id="15" name="Text 13"/>
          <p:cNvSpPr/>
          <p:nvPr/>
        </p:nvSpPr>
        <p:spPr>
          <a:xfrm>
            <a:off x="411480" y="539642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は 工 程 名 だ け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597591"/>
            <a:ext cx="3063240" cy="545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9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Cutting／機械縫製 Machine Stitching／手縫い Hand Stitching／目止め Edge Sealing／コバ磨き Edge Burnishing／検品 Inspection／梱包 Packing</a:t>
            </a:r>
            <a:endParaRPr lang="en-US" sz="696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入る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0-25秒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工房の外観と看板（ローアングル）。街の音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中に入る。工房の全景（ハイアングル）。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規模が分かる画角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作業台に原反が広がる（真俯瞰）。扱える革の大きさを示す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歩く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25-95秒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金型が置かれ、裁断機が下りる／革包丁で細部を切る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ミシンで縫う（横）／手縫い。二本の針が交差する（マクロ）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目止め → コバ磨き。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全工程の四割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とテロップ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検品 ★最重要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95-120秒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職人が縫い目と断面を目で確かめる（寄り）。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検品済みの製品と道具が並ぶ（真俯瞰）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包む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120-140秒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不織布で包み、角を折る（真俯瞰）。紙の音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ここまで見せる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53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9520733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 → 問い合わせ先とURL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HURRY UP.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急ぐ朝ほど、迷わない。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×3品番 ／ 10ショット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（ASMR実測）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8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購入転換率が0.263%。前年0.583%から半減している。写真では入る量が伝わらない。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白い台の上、正面固定。カメラは一度も動かさない。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三品番を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同じ画角・同じ小物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で撮るので、並べたときに大きさの差がそのまま分かる。冒頭三秒は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で入り、引いた瞬間にカラーへ。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秤のカットは使わない。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数字を読ませるかわりに、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片手で持ち上げる動作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で軽さを見せる。数字は小さくテロップで添えるだけ。</a:t>
            </a:r>
            <a:endParaRPr lang="en-US" sz="779" dirty="0"/>
          </a:p>
        </p:txBody>
      </p:sp>
      <p:sp>
        <p:nvSpPr>
          <p:cNvPr id="9" name="Text 7"/>
          <p:cNvSpPr/>
          <p:nvPr/>
        </p:nvSpPr>
        <p:spPr>
          <a:xfrm>
            <a:off x="411480" y="3406779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607947"/>
            <a:ext cx="3063240" cy="459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2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A4もノートPCも入って、片手で持ち上がる。三品番の大きさの差が、並べれば分かる。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11480" y="4232629"/>
            <a:ext cx="3063240" cy="106059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360645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561813"/>
            <a:ext cx="2697480" cy="30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かばんも、身支度のうち。</a:t>
            </a:r>
            <a:endParaRPr lang="en-US" sz="1230" dirty="0"/>
          </a:p>
        </p:txBody>
      </p:sp>
      <p:sp>
        <p:nvSpPr>
          <p:cNvPr id="14" name="Text 12"/>
          <p:cNvSpPr/>
          <p:nvPr/>
        </p:nvSpPr>
        <p:spPr>
          <a:xfrm>
            <a:off x="594360" y="4924893"/>
            <a:ext cx="2697480" cy="22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9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BAG IS PART OF GETTING READY.</a:t>
            </a:r>
            <a:endParaRPr lang="en-US" sz="779" dirty="0"/>
          </a:p>
        </p:txBody>
      </p:sp>
      <p:sp>
        <p:nvSpPr>
          <p:cNvPr id="15" name="Text 13"/>
          <p:cNvSpPr/>
          <p:nvPr/>
        </p:nvSpPr>
        <p:spPr>
          <a:xfrm>
            <a:off x="411480" y="545818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659350"/>
            <a:ext cx="3063240" cy="418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千百六十グラム　／　返品送料無料</a:t>
            </a:r>
            <a:pPr indent="0" marL="0">
              <a:lnSpc>
                <a:spcPct val="134000"/>
              </a:lnSpc>
              <a:buNone/>
            </a:pPr>
            <a:endParaRPr lang="en-US" sz="713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三品番＝ロワイヤルMトート・ベルシートート・Lジップ</a:t>
            </a:r>
            <a:endParaRPr lang="en-US" sz="713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質感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0-6秒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7_S1_01_モノクロのファスナー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97" y="1554480"/>
            <a:ext cx="585936" cy="81473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超マクロ・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。ファスナーの歯</a:t>
            </a:r>
            <a:endParaRPr lang="en-US" sz="720" dirty="0"/>
          </a:p>
        </p:txBody>
      </p:sp>
      <p:sp>
        <p:nvSpPr>
          <p:cNvPr id="22" name="Shape 19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7_S1_02_型押しの質感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9151" y="1554480"/>
            <a:ext cx="585936" cy="81473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型押しのロゴ、ハンドルの付け根</a:t>
            </a:r>
            <a:endParaRPr lang="en-US" sz="720" dirty="0"/>
          </a:p>
        </p:txBody>
      </p:sp>
      <p:sp>
        <p:nvSpPr>
          <p:cNvPr id="26" name="Shape 22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2" descr="/home/user/dougaseisaku/assets/ref4/7_S1_03_白い台に鞄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57506" y="1554480"/>
            <a:ext cx="585936" cy="81473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カラーに変わる。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白い台に鞄が一つ</a:t>
            </a:r>
            <a:endParaRPr lang="en-US" sz="720" dirty="0"/>
          </a:p>
        </p:txBody>
      </p:sp>
      <p:sp>
        <p:nvSpPr>
          <p:cNvPr id="30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6-16秒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7_S2_03_PC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0797" y="2777490"/>
            <a:ext cx="585936" cy="814730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正面固定。A4書類とノートPCを入れる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7_S2_01_入れていく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9151" y="2777490"/>
            <a:ext cx="585936" cy="814730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同じ画角。手帳・鍵・サングラス。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顔は入れない</a:t>
            </a:r>
            <a:endParaRPr lang="en-US" sz="720" dirty="0"/>
          </a:p>
        </p:txBody>
      </p:sp>
      <p:sp>
        <p:nvSpPr>
          <p:cNvPr id="39" name="Shape 32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0" name="Image 5" descr="/home/user/dougaseisaku/assets/ref4/7_S2_02_小物を入れる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7506" y="2777490"/>
            <a:ext cx="585936" cy="814730"/>
          </a:xfrm>
          <a:prstGeom prst="rect">
            <a:avLst/>
          </a:prstGeom>
        </p:spPr>
      </p:pic>
      <p:sp>
        <p:nvSpPr>
          <p:cNvPr id="41" name="Shape 33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4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同じ画角。ペン・小物。入れる音を一つずつ拾う</a:t>
            </a:r>
            <a:endParaRPr lang="en-US" sz="720" dirty="0"/>
          </a:p>
        </p:txBody>
      </p:sp>
      <p:sp>
        <p:nvSpPr>
          <p:cNvPr id="43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持ち上げる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16-20秒</a:t>
            </a:r>
            <a:endParaRPr lang="en-US" sz="1050" dirty="0"/>
          </a:p>
        </p:txBody>
      </p:sp>
      <p:sp>
        <p:nvSpPr>
          <p:cNvPr id="44" name="Shape 36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6" descr="/home/user/dougaseisaku/assets/ref4/7_S3_01_持ち上げる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00797" y="4000500"/>
            <a:ext cx="585936" cy="814730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軽さを動作で見せる</a:t>
            </a:r>
            <a:endParaRPr lang="en-US" sz="720" dirty="0"/>
          </a:p>
        </p:txBody>
      </p:sp>
      <p:sp>
        <p:nvSpPr>
          <p:cNvPr id="48" name="Shape 39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40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1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肩にかける。台は動かさない</a:t>
            </a:r>
            <a:endParaRPr lang="en-US" sz="720" dirty="0"/>
          </a:p>
        </p:txBody>
      </p:sp>
      <p:sp>
        <p:nvSpPr>
          <p:cNvPr id="51" name="Text 42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残る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20-25秒</a:t>
            </a:r>
            <a:endParaRPr lang="en-US" sz="1050" dirty="0"/>
          </a:p>
        </p:txBody>
      </p:sp>
      <p:sp>
        <p:nvSpPr>
          <p:cNvPr id="52" name="Shape 43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3" name="Image 7" descr="/home/user/dougaseisaku/assets/ref4/7_S4_01_鞄だけが残る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00797" y="5223510"/>
            <a:ext cx="585936" cy="814730"/>
          </a:xfrm>
          <a:prstGeom prst="rect">
            <a:avLst/>
          </a:prstGeom>
        </p:spPr>
      </p:pic>
      <p:sp>
        <p:nvSpPr>
          <p:cNvPr id="54" name="Shape 44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5" name="Text 45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人がフレームから出る。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鞄だけが残る</a:t>
            </a:r>
            <a:endParaRPr lang="en-US" sz="720" dirty="0"/>
          </a:p>
        </p:txBody>
      </p:sp>
      <p:sp>
        <p:nvSpPr>
          <p:cNvPr id="56" name="Shape 46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7" name="Image 8" descr="/home/user/dougaseisaku/assets/ref4/7_S4_02_テロップ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79151" y="5223510"/>
            <a:ext cx="585936" cy="814730"/>
          </a:xfrm>
          <a:prstGeom prst="rect">
            <a:avLst/>
          </a:prstGeom>
        </p:spPr>
      </p:pic>
      <p:sp>
        <p:nvSpPr>
          <p:cNvPr id="58" name="Shape 47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60" name="Text 4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61" name="Text 5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購入者インタビュー（仮タイトル）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 (Title TBD)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尺・ショット数＝未定（インタビュー形式）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EC商品ページ・レビュー欄・Instagram（仮）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を推奨（顔出しの可否・質問内容は未定）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59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参考動画・具体的な演出はまだ未定。商品説明を人が語らない他の七本とは違い、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唯一の一本になる見込み。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：誰に聞くか（既存の購入者にお願いするか、社内の方に使用者として話してもらうか）、顔出しの範囲、質問内容、撮影場所。これらが決まり次第、絵コンテを本設計に差し替える。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55555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756721"/>
            <a:ext cx="3063240" cy="719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7752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 め る こ と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7869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出演者・顔出しの範囲・質問内容・撮影場所。これらが決まり次第、絵コンテを本設計に差し替えます。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導入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日常の中で迎える（来店・使用シーンなど）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名前は出さず「使っている人」として自己紹介</a:t>
            </a:r>
            <a:endParaRPr lang="en-US" sz="720" dirty="0"/>
          </a:p>
        </p:txBody>
      </p:sp>
      <p:sp>
        <p:nvSpPr>
          <p:cNvPr id="20" name="Shape 18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手元のBROOKLYNの鞄が画面に入る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質問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「なぜこれを選んだか」を聞く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実際に使っているシーンを見せながら答えてもらう</a:t>
            </a:r>
            <a:endParaRPr lang="en-US" sz="720" dirty="0"/>
          </a:p>
        </p:txBody>
      </p:sp>
      <p:sp>
        <p:nvSpPr>
          <p:cNvPr id="30" name="Shape 28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良かった点を具体的なエピソードで語ってもらう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本音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購入前に迷っていた話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買ってから変わったことを一言で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表情のアップ。台本にない一言を拾う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鞄を持って歩き出す後ろ姿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2026-09-04T05:03:25Z</dcterms:created>
  <dcterms:modified xsi:type="dcterms:W3CDTF">2026-09-04T05:03:25Z</dcterms:modified>
</cp:coreProperties>
</file>