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s/dzg2dvmh-ts/" TargetMode="External"/><Relationship Id="rId2" Type="http://schemas.openxmlformats.org/officeDocument/2006/relationships/hyperlink" Target="http://youtube.com/shorts/c2mh8rstfca" TargetMode="External"/><Relationship Id="rId3" Type="http://schemas.openxmlformats.org/officeDocument/2006/relationships/hyperlink" Target="https://www.instagram.com/reel/dbaniddyf0u/" TargetMode="External"/><Relationship Id="rId4" Type="http://schemas.openxmlformats.org/officeDocument/2006/relationships/hyperlink" Target="https://www.instagram.com/reels/dwiwfp5ded-/" TargetMode="External"/><Relationship Id="rId5" Type="http://schemas.openxmlformats.org/officeDocument/2006/relationships/hyperlink" Target="https://www.instagram.com/reels/dcoknyyoffj/" TargetMode="External"/><Relationship Id="rId6" Type="http://schemas.openxmlformats.org/officeDocument/2006/relationships/hyperlink" Target="https://www.instagram.com/reel/daxjhnkb62p/" TargetMode="External"/><Relationship Id="rId7" Type="http://schemas.openxmlformats.org/officeDocument/2006/relationships/hyperlink" Target="https://www.instagram.com/reel/dze-_hzuwxb/" TargetMode="External"/><Relationship Id="rId8" Type="http://schemas.openxmlformats.org/officeDocument/2006/relationships/hyperlink" Target="https://www.instagram.com/reel/daorwukvwaj/" TargetMode="External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s/dzg2dvmh-ts/" TargetMode="External"/><Relationship Id="rId2" Type="http://schemas.openxmlformats.org/officeDocument/2006/relationships/image" Target="../media/image-3-1.jpg"/><Relationship Id="rId3" Type="http://schemas.openxmlformats.org/officeDocument/2006/relationships/image" Target="../media/image-3-2.jpg"/><Relationship Id="rId4" Type="http://schemas.openxmlformats.org/officeDocument/2006/relationships/image" Target="../media/image-3-3.jpg"/><Relationship Id="rId5" Type="http://schemas.openxmlformats.org/officeDocument/2006/relationships/image" Target="../media/image-3-4.jpg"/><Relationship Id="rId6" Type="http://schemas.openxmlformats.org/officeDocument/2006/relationships/image" Target="../media/image-3-5.jpg"/><Relationship Id="rId7" Type="http://schemas.openxmlformats.org/officeDocument/2006/relationships/image" Target="../media/image-3-6.jpg"/><Relationship Id="rId8" Type="http://schemas.openxmlformats.org/officeDocument/2006/relationships/image" Target="../media/image-3-7.jpg"/><Relationship Id="rId9" Type="http://schemas.openxmlformats.org/officeDocument/2006/relationships/image" Target="../media/image-3-8.jp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://youtube.com/shorts/c2mh8rstfca" TargetMode="External"/><Relationship Id="rId2" Type="http://schemas.openxmlformats.org/officeDocument/2006/relationships/hyperlink" Target="https://www.instagram.com/reel/dbaniddyf0u/" TargetMode="External"/><Relationship Id="rId3" Type="http://schemas.openxmlformats.org/officeDocument/2006/relationships/image" Target="../media/image-4-1.jpg"/><Relationship Id="rId4" Type="http://schemas.openxmlformats.org/officeDocument/2006/relationships/image" Target="../media/image-4-2.jpg"/><Relationship Id="rId5" Type="http://schemas.openxmlformats.org/officeDocument/2006/relationships/image" Target="../media/image-4-3.jpg"/><Relationship Id="rId6" Type="http://schemas.openxmlformats.org/officeDocument/2006/relationships/image" Target="../media/image-4-4.jpg"/><Relationship Id="rId7" Type="http://schemas.openxmlformats.org/officeDocument/2006/relationships/image" Target="../media/image-4-5.jpg"/><Relationship Id="rId8" Type="http://schemas.openxmlformats.org/officeDocument/2006/relationships/image" Target="../media/image-4-6.jpg"/><Relationship Id="rId9" Type="http://schemas.openxmlformats.org/officeDocument/2006/relationships/image" Target="../media/image-4-7.jpg"/><Relationship Id="rId10" Type="http://schemas.openxmlformats.org/officeDocument/2006/relationships/image" Target="../media/image-4-8.jpg"/><Relationship Id="rId11" Type="http://schemas.openxmlformats.org/officeDocument/2006/relationships/image" Target="../media/image-4-9.jp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s/dwiwfp5ded-/" TargetMode="External"/><Relationship Id="rId2" Type="http://schemas.openxmlformats.org/officeDocument/2006/relationships/image" Target="../media/image-5-1.jpg"/><Relationship Id="rId3" Type="http://schemas.openxmlformats.org/officeDocument/2006/relationships/image" Target="../media/image-5-2.jpg"/><Relationship Id="rId4" Type="http://schemas.openxmlformats.org/officeDocument/2006/relationships/image" Target="../media/image-5-3.jpg"/><Relationship Id="rId5" Type="http://schemas.openxmlformats.org/officeDocument/2006/relationships/image" Target="../media/image-5-4.jpg"/><Relationship Id="rId6" Type="http://schemas.openxmlformats.org/officeDocument/2006/relationships/image" Target="../media/image-5-5.jpg"/><Relationship Id="rId7" Type="http://schemas.openxmlformats.org/officeDocument/2006/relationships/image" Target="../media/image-5-6.jpg"/><Relationship Id="rId8" Type="http://schemas.openxmlformats.org/officeDocument/2006/relationships/image" Target="../media/image-5-7.jp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s/dcoknyyoffj/" TargetMode="External"/><Relationship Id="rId2" Type="http://schemas.openxmlformats.org/officeDocument/2006/relationships/hyperlink" Target="https://www.instagram.com/reel/daxjhnkb62p/" TargetMode="External"/><Relationship Id="rId3" Type="http://schemas.openxmlformats.org/officeDocument/2006/relationships/image" Target="../media/image-6-1.jpg"/><Relationship Id="rId4" Type="http://schemas.openxmlformats.org/officeDocument/2006/relationships/image" Target="../media/image-6-2.jpg"/><Relationship Id="rId5" Type="http://schemas.openxmlformats.org/officeDocument/2006/relationships/image" Target="../media/image-6-3.jpg"/><Relationship Id="rId6" Type="http://schemas.openxmlformats.org/officeDocument/2006/relationships/image" Target="../media/image-6-4.jpg"/><Relationship Id="rId7" Type="http://schemas.openxmlformats.org/officeDocument/2006/relationships/image" Target="../media/image-6-5.jpg"/><Relationship Id="rId8" Type="http://schemas.openxmlformats.org/officeDocument/2006/relationships/image" Target="../media/image-6-6.jpg"/><Relationship Id="rId9" Type="http://schemas.openxmlformats.org/officeDocument/2006/relationships/image" Target="../media/image-6-7.jpg"/><Relationship Id="rId10" Type="http://schemas.openxmlformats.org/officeDocument/2006/relationships/image" Target="../media/image-6-8.jpg"/><Relationship Id="rId11" Type="http://schemas.openxmlformats.org/officeDocument/2006/relationships/image" Target="../media/image-6-9.jpg"/><Relationship Id="rId12" Type="http://schemas.openxmlformats.org/officeDocument/2006/relationships/image" Target="../media/image-6-10.jpg"/><Relationship Id="rId13" Type="http://schemas.openxmlformats.org/officeDocument/2006/relationships/image" Target="../media/image-6-11.jp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/dze-_hzuwxb/" TargetMode="External"/><Relationship Id="rId2" Type="http://schemas.openxmlformats.org/officeDocument/2006/relationships/hyperlink" Target="https://www.instagram.com/reel/daorwukvwaj/" TargetMode="External"/><Relationship Id="rId3" Type="http://schemas.openxmlformats.org/officeDocument/2006/relationships/image" Target="../media/image-9-1.jpg"/><Relationship Id="rId4" Type="http://schemas.openxmlformats.org/officeDocument/2006/relationships/image" Target="../media/image-9-2.jpg"/><Relationship Id="rId5" Type="http://schemas.openxmlformats.org/officeDocument/2006/relationships/image" Target="../media/image-9-3.jpg"/><Relationship Id="rId6" Type="http://schemas.openxmlformats.org/officeDocument/2006/relationships/image" Target="../media/image-9-4.jpg"/><Relationship Id="rId7" Type="http://schemas.openxmlformats.org/officeDocument/2006/relationships/image" Target="../media/image-9-5.jpg"/><Relationship Id="rId8" Type="http://schemas.openxmlformats.org/officeDocument/2006/relationships/image" Target="../media/image-9-6.jpg"/><Relationship Id="rId9" Type="http://schemas.openxmlformats.org/officeDocument/2006/relationships/image" Target="../media/image-9-7.jpg"/><Relationship Id="rId10" Type="http://schemas.openxmlformats.org/officeDocument/2006/relationships/image" Target="../media/image-9-8.jpg"/><Relationship Id="rId11" Type="http://schemas.openxmlformats.org/officeDocument/2006/relationships/image" Target="../media/image-9-9.jp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371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411480" y="1737360"/>
            <a:ext cx="1371600" cy="0"/>
          </a:xfrm>
          <a:prstGeom prst="line">
            <a:avLst/>
          </a:prstGeom>
          <a:noFill/>
          <a:ln w="27940">
            <a:solidFill>
              <a:srgbClr val="1A1A1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920240"/>
            <a:ext cx="9144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4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動画 8本</a:t>
            </a:r>
            <a:endParaRPr lang="en-US" sz="4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4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企画・構成・絵コンテ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411480" y="342900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spc="150" kern="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Eight Films / Plan, Structure, Storyboard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11480" y="5486400"/>
            <a:ext cx="11368735" cy="0"/>
          </a:xfrm>
          <a:prstGeom prst="line">
            <a:avLst/>
          </a:prstGeom>
          <a:noFill/>
          <a:ln w="12700">
            <a:solidFill>
              <a:srgbClr val="E6DED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5614416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2026年9月3日　第4版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株式会社B supply　宮下 詩織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テロップはすべて日本語と英語の二本立てで記載しています。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 / 10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目 次　CONTENTS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11480" y="621792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8本の動画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11480" y="1170432"/>
            <a:ext cx="113687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1〜4本目と7本目は参考動画があり、絵コンテの写真もそこから抜いています。5・6・8本目は参考動画・詳細をいただき次第、同じ形式で内容を確定します。</a:t>
            </a:r>
            <a:endParaRPr lang="en-US" sz="1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691640"/>
          <a:ext cx="11368735" cy="914400"/>
        </p:xfrm>
        <a:graphic>
          <a:graphicData uri="http://schemas.openxmlformats.org/drawingml/2006/table">
            <a:tbl>
              <a:tblPr/>
              <a:tblGrid>
                <a:gridCol w="502920"/>
                <a:gridCol w="3017520"/>
                <a:gridCol w="1417320"/>
                <a:gridCol w="2606040"/>
                <a:gridCol w="384048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#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タイトル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尺・本数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届ける相手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参考動画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8763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今日の服に、合う色。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A Colour for Every Outfit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5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20秒 ×1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新規・リピーター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1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instagram.com/reels/DZG2DvMh-Ts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（innovator SWEDEN）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8763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この道、20年。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Twenty Years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5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40秒 ×1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新規（まだ知らない人）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2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youtube.com/shorts/c2mH8rStFCA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　＋　</a:t>
                      </a:r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3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instagram.com/reel/DbAniDDyF0U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（コバ塗り・477万再生）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8763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The Making of the Royale M Tote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ロワイヤルMトートの作りかた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5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28秒 ×1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メディア関係者・ハイエンド層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4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instagram.com/reels/DWiwFp5DED-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（delvaux）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8763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絵になる日常を。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Everyday, Worth a Frame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5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30秒 ×1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仕事道具として買う人・贈る人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5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instagram.com/reels/DcOkNyyoFFJ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　＋　</a:t>
                      </a:r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6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instagram.com/reel/DaxjHnkB62p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（yifan.liii × COACH）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8763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1979年から、東京で。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Since 1979, Tokyo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5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2分 ×1／60秒短縮版 ×1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メディア関係者・OEMの調達担当・新規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B8AC9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参考動画：未定（年号で語る型を推奨）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8763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つくる、確かめる、包む。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Make. Check. Pack.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5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2分20秒 ×1／無音版 ×1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OEMの調達・生産担当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B8AC9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参考動画：未定（工場見学ワンテイク型を推奨）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8763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HURRY UP.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急ぐ朝ほど、迷わない。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5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25秒 ×3品番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新規（買う直前の人）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7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instagram.com/reel/DZE-_hZuwXb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　＋　</a:t>
                      </a:r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8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instagram.com/reel/DaorwuKvWAj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8763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購入者インタビュー（仮タイトル）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Customer Interview (Title TBD)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5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尺・ショット数＝未定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購入を迷っている新規（仮）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B8AC9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参考動画：未定（購入者インタビュー型を推奨）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 / 10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4747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11480" y="530352"/>
            <a:ext cx="5989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今日の服に、合う色。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11480" y="969264"/>
            <a:ext cx="5989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 Colour for Every Outfit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583680" y="347472"/>
            <a:ext cx="51965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20秒 ／ 12ショット</a:t>
            </a:r>
            <a:endParaRPr lang="en-US" sz="1100" dirty="0"/>
          </a:p>
          <a:p>
            <a:pPr algn="r" indent="0" marL="0">
              <a:lnSpc>
                <a:spcPct val="135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対象＝新規・リピーター　／　全媒体</a:t>
            </a:r>
            <a:endParaRPr lang="en-US" sz="1100" dirty="0"/>
          </a:p>
          <a:p>
            <a:pPr algn="r"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5000"/>
              </a:lnSpc>
              <a:buNone/>
            </a:pPr>
            <a:r>
              <a:rPr lang="en-US" sz="80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instagram.com/reels/DZG2DvMh-Ts</a:t>
            </a:r>
            <a:pPr algn="r"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（innovator SWEDEN）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11480" y="1426464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1554480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411480" y="1755648"/>
            <a:ext cx="3063240" cy="1054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家を出てから会社に着くまでの二十秒。</a:t>
            </a:r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カメラは固定し、変わるのは服と革の色だけ。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車・電車・エスカレーターが視界を横切った瞬間に切り替える。売り込みはひとつも入れない。玄関一か所、通勤路二か所、会社前一か所で撮り切れる。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411480" y="3010891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411480" y="3212059"/>
            <a:ext cx="3063240" cy="5285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服が変われば、合う革の色も変わる。同じ革・同じ色で、財布からバッグまで揃う。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1480" y="3941750"/>
            <a:ext cx="3063240" cy="1144875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2" name="Text 10"/>
          <p:cNvSpPr/>
          <p:nvPr/>
        </p:nvSpPr>
        <p:spPr>
          <a:xfrm>
            <a:off x="594360" y="4069766"/>
            <a:ext cx="2697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594360" y="4270934"/>
            <a:ext cx="2697480" cy="359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その日の服に、その日の色。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94360" y="4685614"/>
            <a:ext cx="2697480" cy="2547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 colour for every outfit.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11480" y="5287792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ナ レ ー シ ョ ン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411480" y="5488960"/>
            <a:ext cx="3063240" cy="4788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87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毎日をカラフルに</a:t>
            </a:r>
            <a:pPr indent="0" marL="0">
              <a:lnSpc>
                <a:spcPct val="134000"/>
              </a:lnSpc>
              <a:buNone/>
            </a:pPr>
            <a:endParaRPr lang="en-US" sz="87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87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Make every day colourful.</a:t>
            </a:r>
            <a:endParaRPr lang="en-US" sz="870" dirty="0"/>
          </a:p>
        </p:txBody>
      </p:sp>
      <p:sp>
        <p:nvSpPr>
          <p:cNvPr id="17" name="Text 15"/>
          <p:cNvSpPr/>
          <p:nvPr/>
        </p:nvSpPr>
        <p:spPr>
          <a:xfrm>
            <a:off x="3749040" y="155448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 支度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0-4秒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764024" y="155448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19" name="Text 17"/>
          <p:cNvSpPr/>
          <p:nvPr/>
        </p:nvSpPr>
        <p:spPr>
          <a:xfrm>
            <a:off x="4764024" y="155448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4764024" y="226999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玄関。財布をポケットに入れる（寄り）</a:t>
            </a:r>
            <a:endParaRPr lang="en-US" sz="720" dirty="0"/>
          </a:p>
        </p:txBody>
      </p:sp>
      <p:sp>
        <p:nvSpPr>
          <p:cNvPr id="21" name="Shape 19"/>
          <p:cNvSpPr/>
          <p:nvPr/>
        </p:nvSpPr>
        <p:spPr>
          <a:xfrm>
            <a:off x="7142378" y="155448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22" name="Text 20"/>
          <p:cNvSpPr/>
          <p:nvPr/>
        </p:nvSpPr>
        <p:spPr>
          <a:xfrm>
            <a:off x="7142378" y="155448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7142378" y="226999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ドアノブに手がかかる（超寄り）</a:t>
            </a:r>
            <a:endParaRPr lang="en-US" sz="720" dirty="0"/>
          </a:p>
        </p:txBody>
      </p:sp>
      <p:pic>
        <p:nvPicPr>
          <p:cNvPr id="24" name="Image 0" descr="/home/user/dougaseisaku/assets/ref4/1_S1_03_玄関を出た引き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9520733" y="1554480"/>
            <a:ext cx="2259482" cy="678942"/>
          </a:xfrm>
          <a:prstGeom prst="rect">
            <a:avLst/>
          </a:prstGeom>
        </p:spPr>
      </p:pic>
      <p:sp>
        <p:nvSpPr>
          <p:cNvPr id="25" name="Shape 22"/>
          <p:cNvSpPr/>
          <p:nvPr/>
        </p:nvSpPr>
        <p:spPr>
          <a:xfrm>
            <a:off x="9520733" y="155448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9520733" y="226999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ドアが開き、外へ出る（引き・逆光）</a:t>
            </a:r>
            <a:endParaRPr lang="en-US" sz="720" dirty="0"/>
          </a:p>
        </p:txBody>
      </p:sp>
      <p:sp>
        <p:nvSpPr>
          <p:cNvPr id="27" name="Text 24"/>
          <p:cNvSpPr/>
          <p:nvPr/>
        </p:nvSpPr>
        <p:spPr>
          <a:xfrm>
            <a:off x="3749040" y="277749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 変わる①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4-9秒</a:t>
            </a:r>
            <a:endParaRPr lang="en-US" sz="1050" dirty="0"/>
          </a:p>
        </p:txBody>
      </p:sp>
      <p:pic>
        <p:nvPicPr>
          <p:cNvPr id="28" name="Image 1" descr="/home/user/dougaseisaku/assets/ref4/1_S2_01_同じ画角で服が変わる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764024" y="2777490"/>
            <a:ext cx="2259482" cy="678942"/>
          </a:xfrm>
          <a:prstGeom prst="rect">
            <a:avLst/>
          </a:prstGeom>
        </p:spPr>
      </p:pic>
      <p:sp>
        <p:nvSpPr>
          <p:cNvPr id="29" name="Shape 25"/>
          <p:cNvSpPr/>
          <p:nvPr/>
        </p:nvSpPr>
        <p:spPr>
          <a:xfrm>
            <a:off x="4764024" y="277749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6"/>
          <p:cNvSpPr/>
          <p:nvPr/>
        </p:nvSpPr>
        <p:spPr>
          <a:xfrm>
            <a:off x="4764024" y="349300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同じ画角のまま服が変わっている。</a:t>
            </a:r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小物の色も変わる</a:t>
            </a:r>
            <a:endParaRPr lang="en-US" sz="720" dirty="0"/>
          </a:p>
        </p:txBody>
      </p:sp>
      <p:pic>
        <p:nvPicPr>
          <p:cNvPr id="31" name="Image 2" descr="/home/user/dougaseisaku/assets/ref4/1_S2_02_通り過ぎてトランジション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7142378" y="2777490"/>
            <a:ext cx="2259482" cy="678942"/>
          </a:xfrm>
          <a:prstGeom prst="rect">
            <a:avLst/>
          </a:prstGeom>
        </p:spPr>
      </p:pic>
      <p:sp>
        <p:nvSpPr>
          <p:cNvPr id="32" name="Shape 27"/>
          <p:cNvSpPr/>
          <p:nvPr/>
        </p:nvSpPr>
        <p:spPr>
          <a:xfrm>
            <a:off x="7142378" y="277749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3" name="Text 28"/>
          <p:cNvSpPr/>
          <p:nvPr/>
        </p:nvSpPr>
        <p:spPr>
          <a:xfrm>
            <a:off x="7142378" y="349300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車が横切る → 抜けたら別の服・別の色</a:t>
            </a:r>
            <a:endParaRPr lang="en-US" sz="720" dirty="0"/>
          </a:p>
        </p:txBody>
      </p:sp>
      <p:pic>
        <p:nvPicPr>
          <p:cNvPr id="34" name="Image 3" descr="/home/user/dougaseisaku/assets/ref4/1_S2_03_別の色の小物.jp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9520733" y="2777490"/>
            <a:ext cx="2259482" cy="678942"/>
          </a:xfrm>
          <a:prstGeom prst="rect">
            <a:avLst/>
          </a:prstGeom>
        </p:spPr>
      </p:pic>
      <p:sp>
        <p:nvSpPr>
          <p:cNvPr id="35" name="Shape 29"/>
          <p:cNvSpPr/>
          <p:nvPr/>
        </p:nvSpPr>
        <p:spPr>
          <a:xfrm>
            <a:off x="9520733" y="277749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6" name="Text 30"/>
          <p:cNvSpPr/>
          <p:nvPr/>
        </p:nvSpPr>
        <p:spPr>
          <a:xfrm>
            <a:off x="9520733" y="349300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手元の小物だけに寄る（キャメル）</a:t>
            </a:r>
            <a:endParaRPr lang="en-US" sz="720" dirty="0"/>
          </a:p>
        </p:txBody>
      </p:sp>
      <p:sp>
        <p:nvSpPr>
          <p:cNvPr id="37" name="Text 31"/>
          <p:cNvSpPr/>
          <p:nvPr/>
        </p:nvSpPr>
        <p:spPr>
          <a:xfrm>
            <a:off x="3749040" y="400050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 変わる②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9-15秒</a:t>
            </a:r>
            <a:endParaRPr lang="en-US" sz="1050" dirty="0"/>
          </a:p>
        </p:txBody>
      </p:sp>
      <p:pic>
        <p:nvPicPr>
          <p:cNvPr id="38" name="Image 4" descr="/home/user/dougaseisaku/assets/ref4/1_S3_01_さらに別の色.jp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4764024" y="4000500"/>
            <a:ext cx="2259482" cy="678942"/>
          </a:xfrm>
          <a:prstGeom prst="rect">
            <a:avLst/>
          </a:prstGeom>
        </p:spPr>
      </p:pic>
      <p:sp>
        <p:nvSpPr>
          <p:cNvPr id="39" name="Shape 32"/>
          <p:cNvSpPr/>
          <p:nvPr/>
        </p:nvSpPr>
        <p:spPr>
          <a:xfrm>
            <a:off x="4764024" y="400050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0" name="Text 33"/>
          <p:cNvSpPr/>
          <p:nvPr/>
        </p:nvSpPr>
        <p:spPr>
          <a:xfrm>
            <a:off x="4764024" y="471601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電車が通り過ぎる → 抜けたら変わっている</a:t>
            </a:r>
            <a:endParaRPr lang="en-US" sz="720" dirty="0"/>
          </a:p>
        </p:txBody>
      </p:sp>
      <p:pic>
        <p:nvPicPr>
          <p:cNvPr id="41" name="Image 5" descr="/home/user/dougaseisaku/assets/ref4/1_S3_02_建物内で変わる.jpg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7142378" y="4000500"/>
            <a:ext cx="2259482" cy="678942"/>
          </a:xfrm>
          <a:prstGeom prst="rect">
            <a:avLst/>
          </a:prstGeom>
        </p:spPr>
      </p:pic>
      <p:sp>
        <p:nvSpPr>
          <p:cNvPr id="42" name="Shape 34"/>
          <p:cNvSpPr/>
          <p:nvPr/>
        </p:nvSpPr>
        <p:spPr>
          <a:xfrm>
            <a:off x="7142378" y="400050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3" name="Text 35"/>
          <p:cNvSpPr/>
          <p:nvPr/>
        </p:nvSpPr>
        <p:spPr>
          <a:xfrm>
            <a:off x="7142378" y="471601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エスカレーターを上がりきると変わっている</a:t>
            </a:r>
            <a:endParaRPr lang="en-US" sz="720" dirty="0"/>
          </a:p>
        </p:txBody>
      </p:sp>
      <p:sp>
        <p:nvSpPr>
          <p:cNvPr id="44" name="Shape 36"/>
          <p:cNvSpPr/>
          <p:nvPr/>
        </p:nvSpPr>
        <p:spPr>
          <a:xfrm>
            <a:off x="9520733" y="400050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45" name="Text 37"/>
          <p:cNvSpPr/>
          <p:nvPr/>
        </p:nvSpPr>
        <p:spPr>
          <a:xfrm>
            <a:off x="9520733" y="400050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46" name="Text 38"/>
          <p:cNvSpPr/>
          <p:nvPr/>
        </p:nvSpPr>
        <p:spPr>
          <a:xfrm>
            <a:off x="9520733" y="471601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歩く足元（ロー）。手元の色だけが見える</a:t>
            </a:r>
            <a:endParaRPr lang="en-US" sz="720" dirty="0"/>
          </a:p>
        </p:txBody>
      </p:sp>
      <p:sp>
        <p:nvSpPr>
          <p:cNvPr id="47" name="Text 39"/>
          <p:cNvSpPr/>
          <p:nvPr/>
        </p:nvSpPr>
        <p:spPr>
          <a:xfrm>
            <a:off x="3749040" y="522351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S4 到着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15-20秒</a:t>
            </a:r>
            <a:endParaRPr lang="en-US" sz="1050" dirty="0"/>
          </a:p>
        </p:txBody>
      </p:sp>
      <p:pic>
        <p:nvPicPr>
          <p:cNvPr id="48" name="Image 6" descr="/home/user/dougaseisaku/assets/ref4/1_S4_01_到着.jpg">    </p:cNvPr>
          <p:cNvPicPr>
            <a:picLocks noChangeAspect="1"/>
          </p:cNvPicPr>
          <p:nvPr/>
        </p:nvPicPr>
        <p:blipFill>
          <a:blip r:embed="rId8"/>
          <a:srcRect l="0" r="0" t="0" b="0"/>
          <a:stretch/>
        </p:blipFill>
        <p:spPr>
          <a:xfrm>
            <a:off x="4764024" y="5223510"/>
            <a:ext cx="2259482" cy="678942"/>
          </a:xfrm>
          <a:prstGeom prst="rect">
            <a:avLst/>
          </a:prstGeom>
        </p:spPr>
      </p:pic>
      <p:sp>
        <p:nvSpPr>
          <p:cNvPr id="49" name="Shape 40"/>
          <p:cNvSpPr/>
          <p:nvPr/>
        </p:nvSpPr>
        <p:spPr>
          <a:xfrm>
            <a:off x="4764024" y="522351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50" name="Text 41"/>
          <p:cNvSpPr/>
          <p:nvPr/>
        </p:nvSpPr>
        <p:spPr>
          <a:xfrm>
            <a:off x="4764024" y="593902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会社のエントランス。ここが到着点</a:t>
            </a:r>
            <a:endParaRPr lang="en-US" sz="720" dirty="0"/>
          </a:p>
        </p:txBody>
      </p:sp>
      <p:pic>
        <p:nvPicPr>
          <p:cNvPr id="51" name="Image 7" descr="/home/user/dougaseisaku/assets/ref4/1_S4_02_全色が並ぶ.jpg">    </p:cNvPr>
          <p:cNvPicPr>
            <a:picLocks noChangeAspect="1"/>
          </p:cNvPicPr>
          <p:nvPr/>
        </p:nvPicPr>
        <p:blipFill>
          <a:blip r:embed="rId9"/>
          <a:srcRect l="0" r="0" t="0" b="0"/>
          <a:stretch/>
        </p:blipFill>
        <p:spPr>
          <a:xfrm>
            <a:off x="7142378" y="5223510"/>
            <a:ext cx="2259482" cy="678942"/>
          </a:xfrm>
          <a:prstGeom prst="rect">
            <a:avLst/>
          </a:prstGeom>
        </p:spPr>
      </p:pic>
      <p:sp>
        <p:nvSpPr>
          <p:cNvPr id="52" name="Shape 42"/>
          <p:cNvSpPr/>
          <p:nvPr/>
        </p:nvSpPr>
        <p:spPr>
          <a:xfrm>
            <a:off x="7142378" y="522351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53" name="Text 43"/>
          <p:cNvSpPr/>
          <p:nvPr/>
        </p:nvSpPr>
        <p:spPr>
          <a:xfrm>
            <a:off x="7142378" y="593902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真俯瞰。四色が並ぶ</a:t>
            </a:r>
            <a:endParaRPr lang="en-US" sz="720" dirty="0"/>
          </a:p>
        </p:txBody>
      </p:sp>
      <p:sp>
        <p:nvSpPr>
          <p:cNvPr id="54" name="Shape 44"/>
          <p:cNvSpPr/>
          <p:nvPr/>
        </p:nvSpPr>
        <p:spPr>
          <a:xfrm>
            <a:off x="9520733" y="522351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55" name="Text 45"/>
          <p:cNvSpPr/>
          <p:nvPr/>
        </p:nvSpPr>
        <p:spPr>
          <a:xfrm>
            <a:off x="9520733" y="522351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56" name="Text 46"/>
          <p:cNvSpPr/>
          <p:nvPr/>
        </p:nvSpPr>
        <p:spPr>
          <a:xfrm>
            <a:off x="9520733" y="593902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 1.5秒 → ロゴ 0.5秒</a:t>
            </a:r>
            <a:endParaRPr lang="en-US" sz="720" dirty="0"/>
          </a:p>
        </p:txBody>
      </p:sp>
      <p:sp>
        <p:nvSpPr>
          <p:cNvPr id="57" name="Text 47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58" name="Text 48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 / 10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4747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11480" y="530352"/>
            <a:ext cx="5989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この道、20年。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11480" y="969264"/>
            <a:ext cx="5989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Twenty Years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583680" y="347472"/>
            <a:ext cx="51965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40秒 ／ 12ショット</a:t>
            </a:r>
            <a:endParaRPr lang="en-US" sz="1100" dirty="0"/>
          </a:p>
          <a:p>
            <a:pPr algn="r" indent="0" marL="0">
              <a:lnSpc>
                <a:spcPct val="135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対象＝新規（まだ知らない人）　／　EC Promotionタブ・公式Instagram</a:t>
            </a:r>
            <a:endParaRPr lang="en-US" sz="1100" dirty="0"/>
          </a:p>
          <a:p>
            <a:pPr algn="r"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5000"/>
              </a:lnSpc>
              <a:buNone/>
            </a:pPr>
            <a:r>
              <a:rPr lang="en-US" sz="80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youtube.com/shorts/c2mH8rStFCA</a:t>
            </a:r>
            <a:pPr algn="r"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＋　</a:t>
            </a:r>
            <a:pPr algn="r" indent="0" marL="0">
              <a:lnSpc>
                <a:spcPct val="135000"/>
              </a:lnSpc>
              <a:buNone/>
            </a:pPr>
            <a:r>
              <a:rPr lang="en-US" sz="80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instagram.com/reel/DbAniDDyF0U</a:t>
            </a:r>
            <a:pPr algn="r"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（コバ塗り・477万再生）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11480" y="1426464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1554480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411480" y="1755648"/>
            <a:ext cx="3063240" cy="11049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83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アングルは</a:t>
            </a:r>
            <a:pPr indent="0" marL="0">
              <a:lnSpc>
                <a:spcPct val="134000"/>
              </a:lnSpc>
              <a:buNone/>
            </a:pPr>
            <a:r>
              <a:rPr lang="en-US" sz="83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真俯瞰と横の二つだけ</a:t>
            </a:r>
            <a:pPr indent="0" marL="0">
              <a:lnSpc>
                <a:spcPct val="134000"/>
              </a:lnSpc>
              <a:buNone/>
            </a:pPr>
            <a:r>
              <a:rPr lang="en-US" sz="83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。音はカメラのマイクでは録れないので、スマホを手元三十センチに置いて別録りする。</a:t>
            </a:r>
            <a:pPr indent="0" marL="0">
              <a:lnSpc>
                <a:spcPct val="134000"/>
              </a:lnSpc>
              <a:buNone/>
            </a:pPr>
            <a:r>
              <a:rPr lang="en-US" sz="83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S3のコバ塗りがこの一本の核。</a:t>
            </a:r>
            <a:pPr indent="0" marL="0">
              <a:lnSpc>
                <a:spcPct val="134000"/>
              </a:lnSpc>
              <a:buNone/>
            </a:pPr>
            <a:r>
              <a:rPr lang="en-US" sz="83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塗料が乗った瞬間に断面の色が変わる ── 一カットの中でビフォーアフターが起きる。参考動画が四百七十七万回見られた理由がこれ。最後は作業机で終わらせず、使われている場所に置いて終える。</a:t>
            </a:r>
            <a:endParaRPr lang="en-US" sz="836" dirty="0"/>
          </a:p>
        </p:txBody>
      </p:sp>
      <p:sp>
        <p:nvSpPr>
          <p:cNvPr id="9" name="Text 7"/>
          <p:cNvSpPr/>
          <p:nvPr/>
        </p:nvSpPr>
        <p:spPr>
          <a:xfrm>
            <a:off x="411480" y="3037586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411480" y="3238754"/>
            <a:ext cx="3063240" cy="48265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88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ここで作っている。工程の四割は、この断面に使われている。</a:t>
            </a:r>
            <a:endParaRPr lang="en-US" sz="880" dirty="0"/>
          </a:p>
        </p:txBody>
      </p:sp>
      <p:sp>
        <p:nvSpPr>
          <p:cNvPr id="11" name="Shape 9"/>
          <p:cNvSpPr/>
          <p:nvPr/>
        </p:nvSpPr>
        <p:spPr>
          <a:xfrm>
            <a:off x="411480" y="3898438"/>
            <a:ext cx="3063240" cy="108868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2" name="Text 10"/>
          <p:cNvSpPr/>
          <p:nvPr/>
        </p:nvSpPr>
        <p:spPr>
          <a:xfrm>
            <a:off x="594360" y="4026454"/>
            <a:ext cx="2697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594360" y="4227622"/>
            <a:ext cx="2697480" cy="3254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2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神は細部に宿る。</a:t>
            </a:r>
            <a:endParaRPr lang="en-US" sz="1320" dirty="0"/>
          </a:p>
        </p:txBody>
      </p:sp>
      <p:sp>
        <p:nvSpPr>
          <p:cNvPr id="14" name="Text 12"/>
          <p:cNvSpPr/>
          <p:nvPr/>
        </p:nvSpPr>
        <p:spPr>
          <a:xfrm>
            <a:off x="594360" y="4607903"/>
            <a:ext cx="2697480" cy="23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36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God is in the details.</a:t>
            </a:r>
            <a:endParaRPr lang="en-US" sz="836" dirty="0"/>
          </a:p>
        </p:txBody>
      </p:sp>
      <p:sp>
        <p:nvSpPr>
          <p:cNvPr id="15" name="Text 13"/>
          <p:cNvSpPr/>
          <p:nvPr/>
        </p:nvSpPr>
        <p:spPr>
          <a:xfrm>
            <a:off x="411480" y="5164154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 バ 塗 り の カ ッ ト で 出 す テ ロ ッ プ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411480" y="5365322"/>
            <a:ext cx="3063240" cy="7315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76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一つの製品の、四割の時間は、この断面に使われます。</a:t>
            </a:r>
            <a:pPr indent="0" marL="0">
              <a:lnSpc>
                <a:spcPct val="134000"/>
              </a:lnSpc>
              <a:buNone/>
            </a:pPr>
            <a:endParaRPr lang="en-US" sz="76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766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Forty percent of the making goes into this one edge.</a:t>
            </a:r>
            <a:pPr indent="0" marL="0">
              <a:lnSpc>
                <a:spcPct val="134000"/>
              </a:lnSpc>
              <a:buNone/>
            </a:pPr>
            <a:endParaRPr lang="en-US" sz="76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766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コバの色はキャメル（生成りの断面）を推奨。差がいちばん出ます。</a:t>
            </a:r>
            <a:endParaRPr lang="en-US" sz="766" dirty="0"/>
          </a:p>
        </p:txBody>
      </p:sp>
      <p:sp>
        <p:nvSpPr>
          <p:cNvPr id="17" name="Text 15"/>
          <p:cNvSpPr/>
          <p:nvPr/>
        </p:nvSpPr>
        <p:spPr>
          <a:xfrm>
            <a:off x="3749040" y="155448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 音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0-3秒</a:t>
            </a:r>
            <a:endParaRPr lang="en-US" sz="1050" dirty="0"/>
          </a:p>
        </p:txBody>
      </p:sp>
      <p:pic>
        <p:nvPicPr>
          <p:cNvPr id="18" name="Image 0" descr="/home/user/dougaseisaku/assets/ref4/2_S1_01_刃が革に入る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764024" y="1554480"/>
            <a:ext cx="2259482" cy="678942"/>
          </a:xfrm>
          <a:prstGeom prst="rect">
            <a:avLst/>
          </a:prstGeom>
        </p:spPr>
      </p:pic>
      <p:sp>
        <p:nvSpPr>
          <p:cNvPr id="19" name="Shape 16"/>
          <p:cNvSpPr/>
          <p:nvPr/>
        </p:nvSpPr>
        <p:spPr>
          <a:xfrm>
            <a:off x="4764024" y="155448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764024" y="226999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超マクロ。刃が革に入る瞬間。何を見ているか分からない距離</a:t>
            </a:r>
            <a:endParaRPr lang="en-US" sz="720" dirty="0"/>
          </a:p>
        </p:txBody>
      </p:sp>
      <p:sp>
        <p:nvSpPr>
          <p:cNvPr id="21" name="Shape 18"/>
          <p:cNvSpPr/>
          <p:nvPr/>
        </p:nvSpPr>
        <p:spPr>
          <a:xfrm>
            <a:off x="7142378" y="155448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22" name="Text 19"/>
          <p:cNvSpPr/>
          <p:nvPr/>
        </p:nvSpPr>
        <p:spPr>
          <a:xfrm>
            <a:off x="7142378" y="155448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23" name="Text 20"/>
          <p:cNvSpPr/>
          <p:nvPr/>
        </p:nvSpPr>
        <p:spPr>
          <a:xfrm>
            <a:off x="7142378" y="226999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「スッ」の一音だけ。BGMは鳴らさない</a:t>
            </a:r>
            <a:endParaRPr lang="en-US" sz="720" dirty="0"/>
          </a:p>
        </p:txBody>
      </p:sp>
      <p:sp>
        <p:nvSpPr>
          <p:cNvPr id="24" name="Text 21"/>
          <p:cNvSpPr/>
          <p:nvPr/>
        </p:nvSpPr>
        <p:spPr>
          <a:xfrm>
            <a:off x="3749040" y="277749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 切る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3-14秒</a:t>
            </a:r>
            <a:endParaRPr lang="en-US" sz="1050" dirty="0"/>
          </a:p>
        </p:txBody>
      </p:sp>
      <p:pic>
        <p:nvPicPr>
          <p:cNvPr id="25" name="Image 1" descr="/home/user/dougaseisaku/assets/ref4/2_S2_01_金属定規で直線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764024" y="2777490"/>
            <a:ext cx="2259482" cy="678942"/>
          </a:xfrm>
          <a:prstGeom prst="rect">
            <a:avLst/>
          </a:prstGeom>
        </p:spPr>
      </p:pic>
      <p:sp>
        <p:nvSpPr>
          <p:cNvPr id="26" name="Shape 22"/>
          <p:cNvSpPr/>
          <p:nvPr/>
        </p:nvSpPr>
        <p:spPr>
          <a:xfrm>
            <a:off x="4764024" y="277749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4764024" y="349300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真俯瞰。</a:t>
            </a:r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金属定規</a:t>
            </a:r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を当てて直線を一気に引く</a:t>
            </a:r>
            <a:endParaRPr lang="en-US" sz="720" dirty="0"/>
          </a:p>
        </p:txBody>
      </p:sp>
      <p:pic>
        <p:nvPicPr>
          <p:cNvPr id="28" name="Image 2" descr="/home/user/dougaseisaku/assets/ref4/2_S2_02_角を丸く回す.jp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7142378" y="2777490"/>
            <a:ext cx="2259482" cy="678942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7142378" y="277749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7142378" y="349300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四十五度。角を丸く回して切る</a:t>
            </a:r>
            <a:endParaRPr lang="en-US" sz="720" dirty="0"/>
          </a:p>
        </p:txBody>
      </p:sp>
      <p:pic>
        <p:nvPicPr>
          <p:cNvPr id="31" name="Image 3" descr="/home/user/dougaseisaku/assets/ref4/2_S2_03_作業台と職人.jp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9520733" y="2777490"/>
            <a:ext cx="2259482" cy="678942"/>
          </a:xfrm>
          <a:prstGeom prst="rect">
            <a:avLst/>
          </a:prstGeom>
        </p:spPr>
      </p:pic>
      <p:sp>
        <p:nvSpPr>
          <p:cNvPr id="32" name="Shape 26"/>
          <p:cNvSpPr/>
          <p:nvPr/>
        </p:nvSpPr>
        <p:spPr>
          <a:xfrm>
            <a:off x="9520733" y="277749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3" name="Text 27"/>
          <p:cNvSpPr/>
          <p:nvPr/>
        </p:nvSpPr>
        <p:spPr>
          <a:xfrm>
            <a:off x="9520733" y="349300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真俯瞰。作業台と職人の手全体</a:t>
            </a:r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（引き）</a:t>
            </a:r>
            <a:endParaRPr lang="en-US" sz="720" dirty="0"/>
          </a:p>
        </p:txBody>
      </p:sp>
      <p:sp>
        <p:nvSpPr>
          <p:cNvPr id="34" name="Text 28"/>
          <p:cNvSpPr/>
          <p:nvPr/>
        </p:nvSpPr>
        <p:spPr>
          <a:xfrm>
            <a:off x="3749040" y="400050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 縫う・塗る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14-31秒</a:t>
            </a:r>
            <a:endParaRPr lang="en-US" sz="1050" dirty="0"/>
          </a:p>
        </p:txBody>
      </p:sp>
      <p:pic>
        <p:nvPicPr>
          <p:cNvPr id="35" name="Image 4" descr="/home/user/dougaseisaku/assets/ref4/2_S3_01_針と糸.jpg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4764024" y="4000500"/>
            <a:ext cx="2259482" cy="678942"/>
          </a:xfrm>
          <a:prstGeom prst="rect">
            <a:avLst/>
          </a:prstGeom>
        </p:spPr>
      </p:pic>
      <p:sp>
        <p:nvSpPr>
          <p:cNvPr id="36" name="Shape 29"/>
          <p:cNvSpPr/>
          <p:nvPr/>
        </p:nvSpPr>
        <p:spPr>
          <a:xfrm>
            <a:off x="4764024" y="400050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7" name="Text 30"/>
          <p:cNvSpPr/>
          <p:nvPr/>
        </p:nvSpPr>
        <p:spPr>
          <a:xfrm>
            <a:off x="4764024" y="471601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真俯瞰。針が革を抜ける</a:t>
            </a:r>
            <a:endParaRPr lang="en-US" sz="720" dirty="0"/>
          </a:p>
        </p:txBody>
      </p:sp>
      <p:pic>
        <p:nvPicPr>
          <p:cNvPr id="38" name="Image 5" descr="/home/user/dougaseisaku/assets/ref4/2_S3_02_横から目のアップ.jpg">    </p:cNvPr>
          <p:cNvPicPr>
            <a:picLocks noChangeAspect="1"/>
          </p:cNvPicPr>
          <p:nvPr/>
        </p:nvPicPr>
        <p:blipFill>
          <a:blip r:embed="rId8"/>
          <a:srcRect l="0" r="0" t="0" b="0"/>
          <a:stretch/>
        </p:blipFill>
        <p:spPr>
          <a:xfrm>
            <a:off x="7142378" y="4000500"/>
            <a:ext cx="2259482" cy="678942"/>
          </a:xfrm>
          <a:prstGeom prst="rect">
            <a:avLst/>
          </a:prstGeom>
        </p:spPr>
      </p:pic>
      <p:sp>
        <p:nvSpPr>
          <p:cNvPr id="39" name="Shape 31"/>
          <p:cNvSpPr/>
          <p:nvPr/>
        </p:nvSpPr>
        <p:spPr>
          <a:xfrm>
            <a:off x="7142378" y="400050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0" name="Text 32"/>
          <p:cNvSpPr/>
          <p:nvPr/>
        </p:nvSpPr>
        <p:spPr>
          <a:xfrm>
            <a:off x="7142378" y="471601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横から。目だけのアップ</a:t>
            </a:r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。顔全体は入れない</a:t>
            </a:r>
            <a:endParaRPr lang="en-US" sz="720" dirty="0"/>
          </a:p>
        </p:txBody>
      </p:sp>
      <p:pic>
        <p:nvPicPr>
          <p:cNvPr id="41" name="Image 6" descr="/home/user/dougaseisaku/assets/ref4/2_S3_03b_コバ塗り_ワンカット.jpg">    </p:cNvPr>
          <p:cNvPicPr>
            <a:picLocks noChangeAspect="1"/>
          </p:cNvPicPr>
          <p:nvPr/>
        </p:nvPicPr>
        <p:blipFill>
          <a:blip r:embed="rId9"/>
          <a:srcRect l="0" r="0" t="0" b="0"/>
          <a:stretch/>
        </p:blipFill>
        <p:spPr>
          <a:xfrm>
            <a:off x="9520733" y="4000500"/>
            <a:ext cx="2259482" cy="678942"/>
          </a:xfrm>
          <a:prstGeom prst="rect">
            <a:avLst/>
          </a:prstGeom>
        </p:spPr>
      </p:pic>
      <p:sp>
        <p:nvSpPr>
          <p:cNvPr id="42" name="Shape 33"/>
          <p:cNvSpPr/>
          <p:nvPr/>
        </p:nvSpPr>
        <p:spPr>
          <a:xfrm>
            <a:off x="9520733" y="400050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3" name="Text 34"/>
          <p:cNvSpPr/>
          <p:nvPr/>
        </p:nvSpPr>
        <p:spPr>
          <a:xfrm>
            <a:off x="9520733" y="471601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コバ塗り ★核。</a:t>
            </a:r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塗った側と塗っていない側が同じ画面に入る。長回し・カットを割らない</a:t>
            </a:r>
            <a:endParaRPr lang="en-US" sz="720" dirty="0"/>
          </a:p>
        </p:txBody>
      </p:sp>
      <p:sp>
        <p:nvSpPr>
          <p:cNvPr id="44" name="Text 35"/>
          <p:cNvSpPr/>
          <p:nvPr/>
        </p:nvSpPr>
        <p:spPr>
          <a:xfrm>
            <a:off x="3749040" y="522351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S4 磨く・終わり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31-40秒</a:t>
            </a:r>
            <a:endParaRPr lang="en-US" sz="1050" dirty="0"/>
          </a:p>
        </p:txBody>
      </p:sp>
      <p:pic>
        <p:nvPicPr>
          <p:cNvPr id="45" name="Image 7" descr="/home/user/dougaseisaku/assets/ref4/2_S4_01_仕上げ剤を取る.jpg">    </p:cNvPr>
          <p:cNvPicPr>
            <a:picLocks noChangeAspect="1"/>
          </p:cNvPicPr>
          <p:nvPr/>
        </p:nvPicPr>
        <p:blipFill>
          <a:blip r:embed="rId10"/>
          <a:srcRect l="0" r="0" t="0" b="0"/>
          <a:stretch/>
        </p:blipFill>
        <p:spPr>
          <a:xfrm>
            <a:off x="4764024" y="5223510"/>
            <a:ext cx="2259482" cy="678942"/>
          </a:xfrm>
          <a:prstGeom prst="rect">
            <a:avLst/>
          </a:prstGeom>
        </p:spPr>
      </p:pic>
      <p:sp>
        <p:nvSpPr>
          <p:cNvPr id="46" name="Shape 36"/>
          <p:cNvSpPr/>
          <p:nvPr/>
        </p:nvSpPr>
        <p:spPr>
          <a:xfrm>
            <a:off x="4764024" y="522351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7" name="Text 37"/>
          <p:cNvSpPr/>
          <p:nvPr/>
        </p:nvSpPr>
        <p:spPr>
          <a:xfrm>
            <a:off x="4764024" y="593902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超マクロ。コバを磨く。摩擦音</a:t>
            </a:r>
            <a:endParaRPr lang="en-US" sz="720" dirty="0"/>
          </a:p>
        </p:txBody>
      </p:sp>
      <p:sp>
        <p:nvSpPr>
          <p:cNvPr id="48" name="Shape 38"/>
          <p:cNvSpPr/>
          <p:nvPr/>
        </p:nvSpPr>
        <p:spPr>
          <a:xfrm>
            <a:off x="7142378" y="522351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49" name="Text 39"/>
          <p:cNvSpPr/>
          <p:nvPr/>
        </p:nvSpPr>
        <p:spPr>
          <a:xfrm>
            <a:off x="7142378" y="522351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50" name="Text 40"/>
          <p:cNvSpPr/>
          <p:nvPr/>
        </p:nvSpPr>
        <p:spPr>
          <a:xfrm>
            <a:off x="7142378" y="593902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手が止まる。</a:t>
            </a:r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職人の声が一言だけ入る</a:t>
            </a:r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（台本なし）</a:t>
            </a:r>
            <a:endParaRPr lang="en-US" sz="720" dirty="0"/>
          </a:p>
        </p:txBody>
      </p:sp>
      <p:pic>
        <p:nvPicPr>
          <p:cNvPr id="51" name="Image 8" descr="/home/user/dougaseisaku/assets/ref4/2_S4_03_使われる場所.jpg">    </p:cNvPr>
          <p:cNvPicPr>
            <a:picLocks noChangeAspect="1"/>
          </p:cNvPicPr>
          <p:nvPr/>
        </p:nvPicPr>
        <p:blipFill>
          <a:blip r:embed="rId11"/>
          <a:srcRect l="0" r="0" t="0" b="0"/>
          <a:stretch/>
        </p:blipFill>
        <p:spPr>
          <a:xfrm>
            <a:off x="9520733" y="5223510"/>
            <a:ext cx="2259482" cy="678942"/>
          </a:xfrm>
          <a:prstGeom prst="rect">
            <a:avLst/>
          </a:prstGeom>
        </p:spPr>
      </p:pic>
      <p:sp>
        <p:nvSpPr>
          <p:cNvPr id="52" name="Shape 41"/>
          <p:cNvSpPr/>
          <p:nvPr/>
        </p:nvSpPr>
        <p:spPr>
          <a:xfrm>
            <a:off x="9520733" y="522351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53" name="Text 42"/>
          <p:cNvSpPr/>
          <p:nvPr/>
        </p:nvSpPr>
        <p:spPr>
          <a:xfrm>
            <a:off x="9520733" y="593902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使われている場所に置かれる</a:t>
            </a:r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→ テロップ → ロゴ</a:t>
            </a:r>
            <a:endParaRPr lang="en-US" sz="720" dirty="0"/>
          </a:p>
        </p:txBody>
      </p:sp>
      <p:sp>
        <p:nvSpPr>
          <p:cNvPr id="54" name="Text 43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55" name="Text 44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 / 10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4747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11480" y="530352"/>
            <a:ext cx="5989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The Making of the Royale M Tote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11480" y="969264"/>
            <a:ext cx="5989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ロワイヤルMトートの作りかた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583680" y="347472"/>
            <a:ext cx="51965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28秒 ／ 9ショット</a:t>
            </a:r>
            <a:endParaRPr lang="en-US" sz="1100" dirty="0"/>
          </a:p>
          <a:p>
            <a:pPr algn="r" indent="0" marL="0">
              <a:lnSpc>
                <a:spcPct val="135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対象＝メディア関係者・ハイエンド層　／　公式Instagram・B supply ホームページ</a:t>
            </a:r>
            <a:endParaRPr lang="en-US" sz="1100" dirty="0"/>
          </a:p>
          <a:p>
            <a:pPr algn="r"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5000"/>
              </a:lnSpc>
              <a:buNone/>
            </a:pPr>
            <a:r>
              <a:rPr lang="en-US" sz="80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instagram.com/reels/DWiwFp5DED-</a:t>
            </a:r>
            <a:pPr algn="r"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（delvaux「le Brillant Tempo」）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11480" y="1426464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1554480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411480" y="1755648"/>
            <a:ext cx="3063240" cy="17802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ブランドの格を上げる一本。</a:t>
            </a:r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黒い布一枚とライト一灯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で撮れる。工房の蛍光灯は全部消す。</a:t>
            </a:r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顔と工房は一切映さない。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映るのは手と、革と、金具だけ。この一本だけは商品を売らない。</a:t>
            </a:r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6本目との違い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：背景（黒／実景）・光（一灯／自然光）・被写体（手だけ／人と機械）・カメラ（固定／歩く）・音（BGM／作業音）・終わり方（ロゴ／梱包と問い合わせ先）。</a:t>
            </a:r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撮影日も分ける。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411480" y="3737107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411480" y="3938275"/>
            <a:ext cx="3063240" cy="5285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一点の革製品が生まれるまでを、美しさだけで見せる。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11480" y="4667966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 後 は ロ ゴ だ け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411480" y="4869134"/>
            <a:ext cx="3063240" cy="4788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87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テロップは出さない。BGMが終わり、ロゴが0.5秒。それで終える。</a:t>
            </a:r>
            <a:endParaRPr lang="en-US" sz="870" dirty="0"/>
          </a:p>
        </p:txBody>
      </p:sp>
      <p:sp>
        <p:nvSpPr>
          <p:cNvPr id="13" name="Text 11"/>
          <p:cNvSpPr/>
          <p:nvPr/>
        </p:nvSpPr>
        <p:spPr>
          <a:xfrm>
            <a:off x="3749040" y="155448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 闇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0-5秒</a:t>
            </a:r>
            <a:endParaRPr lang="en-US" sz="1050" dirty="0"/>
          </a:p>
        </p:txBody>
      </p:sp>
      <p:pic>
        <p:nvPicPr>
          <p:cNvPr id="14" name="Image 0" descr="/home/user/dougaseisaku/assets/ref4/3_S1_02_黒の中の光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764024" y="1554480"/>
            <a:ext cx="2259482" cy="678942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4764024" y="155448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764024" y="226999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真っ黒。細い光の帯が、革の断面だけを照らす</a:t>
            </a:r>
            <a:endParaRPr lang="en-US" sz="720" dirty="0"/>
          </a:p>
        </p:txBody>
      </p:sp>
      <p:pic>
        <p:nvPicPr>
          <p:cNvPr id="17" name="Image 1" descr="/home/user/dougaseisaku/assets/ref4/3_S1_01_道具が並ぶ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7142378" y="1554480"/>
            <a:ext cx="2259482" cy="678942"/>
          </a:xfrm>
          <a:prstGeom prst="rect">
            <a:avLst/>
          </a:prstGeom>
        </p:spPr>
      </p:pic>
      <p:sp>
        <p:nvSpPr>
          <p:cNvPr id="18" name="Shape 14"/>
          <p:cNvSpPr/>
          <p:nvPr/>
        </p:nvSpPr>
        <p:spPr>
          <a:xfrm>
            <a:off x="7142378" y="155448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7142378" y="226999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黒の上に道具だけが並ぶ（真俯瞰）</a:t>
            </a:r>
            <a:endParaRPr lang="en-US" sz="720" dirty="0"/>
          </a:p>
        </p:txBody>
      </p:sp>
      <p:sp>
        <p:nvSpPr>
          <p:cNvPr id="20" name="Shape 16"/>
          <p:cNvSpPr/>
          <p:nvPr/>
        </p:nvSpPr>
        <p:spPr>
          <a:xfrm>
            <a:off x="9520733" y="155448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21" name="Text 17"/>
          <p:cNvSpPr/>
          <p:nvPr/>
        </p:nvSpPr>
        <p:spPr>
          <a:xfrm>
            <a:off x="9520733" y="155448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22" name="Text 18"/>
          <p:cNvSpPr/>
          <p:nvPr/>
        </p:nvSpPr>
        <p:spPr>
          <a:xfrm>
            <a:off x="9520733" y="226999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無音から、低いBGMが立ち上がる</a:t>
            </a:r>
            <a:endParaRPr lang="en-US" sz="720" dirty="0"/>
          </a:p>
        </p:txBody>
      </p:sp>
      <p:sp>
        <p:nvSpPr>
          <p:cNvPr id="23" name="Text 19"/>
          <p:cNvSpPr/>
          <p:nvPr/>
        </p:nvSpPr>
        <p:spPr>
          <a:xfrm>
            <a:off x="3749040" y="277749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 手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5-15秒</a:t>
            </a:r>
            <a:endParaRPr lang="en-US" sz="1050" dirty="0"/>
          </a:p>
        </p:txBody>
      </p:sp>
      <p:pic>
        <p:nvPicPr>
          <p:cNvPr id="24" name="Image 2" descr="/home/user/dougaseisaku/assets/ref4/3_S2_01_手で革を折る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764024" y="2777490"/>
            <a:ext cx="2259482" cy="678942"/>
          </a:xfrm>
          <a:prstGeom prst="rect">
            <a:avLst/>
          </a:prstGeom>
        </p:spPr>
      </p:pic>
      <p:sp>
        <p:nvSpPr>
          <p:cNvPr id="25" name="Shape 20"/>
          <p:cNvSpPr/>
          <p:nvPr/>
        </p:nvSpPr>
        <p:spPr>
          <a:xfrm>
            <a:off x="4764024" y="277749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4764024" y="349300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手だけ。革を折り、角を作る。</a:t>
            </a:r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腕時計・指輪は外す</a:t>
            </a:r>
            <a:endParaRPr lang="en-US" sz="720" dirty="0"/>
          </a:p>
        </p:txBody>
      </p:sp>
      <p:pic>
        <p:nvPicPr>
          <p:cNvPr id="27" name="Image 3" descr="/home/user/dougaseisaku/assets/ref4/3_S2_02_角を作る.jp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7142378" y="2777490"/>
            <a:ext cx="2259482" cy="678942"/>
          </a:xfrm>
          <a:prstGeom prst="rect">
            <a:avLst/>
          </a:prstGeom>
        </p:spPr>
      </p:pic>
      <p:sp>
        <p:nvSpPr>
          <p:cNvPr id="28" name="Shape 22"/>
          <p:cNvSpPr/>
          <p:nvPr/>
        </p:nvSpPr>
        <p:spPr>
          <a:xfrm>
            <a:off x="7142378" y="277749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9" name="Text 23"/>
          <p:cNvSpPr/>
          <p:nvPr/>
        </p:nvSpPr>
        <p:spPr>
          <a:xfrm>
            <a:off x="7142378" y="349300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角が立ち上がる（超マクロ）</a:t>
            </a:r>
            <a:endParaRPr lang="en-US" sz="720" dirty="0"/>
          </a:p>
        </p:txBody>
      </p:sp>
      <p:pic>
        <p:nvPicPr>
          <p:cNvPr id="30" name="Image 4" descr="/home/user/dougaseisaku/assets/ref4/3_S2_03_白手袋と金具.jp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9520733" y="2777490"/>
            <a:ext cx="2259482" cy="678942"/>
          </a:xfrm>
          <a:prstGeom prst="rect">
            <a:avLst/>
          </a:prstGeom>
        </p:spPr>
      </p:pic>
      <p:sp>
        <p:nvSpPr>
          <p:cNvPr id="31" name="Shape 24"/>
          <p:cNvSpPr/>
          <p:nvPr/>
        </p:nvSpPr>
        <p:spPr>
          <a:xfrm>
            <a:off x="9520733" y="277749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2" name="Text 25"/>
          <p:cNvSpPr/>
          <p:nvPr/>
        </p:nvSpPr>
        <p:spPr>
          <a:xfrm>
            <a:off x="9520733" y="349300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白手袋</a:t>
            </a:r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で金具を持ち、取り付ける。金属が触れる音</a:t>
            </a:r>
            <a:endParaRPr lang="en-US" sz="720" dirty="0"/>
          </a:p>
        </p:txBody>
      </p:sp>
      <p:sp>
        <p:nvSpPr>
          <p:cNvPr id="33" name="Text 26"/>
          <p:cNvSpPr/>
          <p:nvPr/>
        </p:nvSpPr>
        <p:spPr>
          <a:xfrm>
            <a:off x="3749040" y="400050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 コバ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15-24秒</a:t>
            </a:r>
            <a:endParaRPr lang="en-US" sz="1050" dirty="0"/>
          </a:p>
        </p:txBody>
      </p:sp>
      <p:sp>
        <p:nvSpPr>
          <p:cNvPr id="34" name="Shape 27"/>
          <p:cNvSpPr/>
          <p:nvPr/>
        </p:nvSpPr>
        <p:spPr>
          <a:xfrm>
            <a:off x="4764024" y="400050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35" name="Text 28"/>
          <p:cNvSpPr/>
          <p:nvPr/>
        </p:nvSpPr>
        <p:spPr>
          <a:xfrm>
            <a:off x="4764024" y="400050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36" name="Text 29"/>
          <p:cNvSpPr/>
          <p:nvPr/>
        </p:nvSpPr>
        <p:spPr>
          <a:xfrm>
            <a:off x="4764024" y="471601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コバに染料を入れる（超マクロ）</a:t>
            </a:r>
            <a:endParaRPr lang="en-US" sz="720" dirty="0"/>
          </a:p>
        </p:txBody>
      </p:sp>
      <p:pic>
        <p:nvPicPr>
          <p:cNvPr id="37" name="Image 5" descr="/home/user/dougaseisaku/assets/ref4/3_S3_02_磨く.jpg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7142378" y="4000500"/>
            <a:ext cx="2259482" cy="678942"/>
          </a:xfrm>
          <a:prstGeom prst="rect">
            <a:avLst/>
          </a:prstGeom>
        </p:spPr>
      </p:pic>
      <p:sp>
        <p:nvSpPr>
          <p:cNvPr id="38" name="Shape 30"/>
          <p:cNvSpPr/>
          <p:nvPr/>
        </p:nvSpPr>
        <p:spPr>
          <a:xfrm>
            <a:off x="7142378" y="400050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1"/>
          <p:cNvSpPr/>
          <p:nvPr/>
        </p:nvSpPr>
        <p:spPr>
          <a:xfrm>
            <a:off x="7142378" y="471601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磨く。</a:t>
            </a:r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光が断面に反射する角度</a:t>
            </a:r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を探す</a:t>
            </a:r>
            <a:endParaRPr lang="en-US" sz="720" dirty="0"/>
          </a:p>
        </p:txBody>
      </p:sp>
      <p:pic>
        <p:nvPicPr>
          <p:cNvPr id="40" name="Image 6" descr="/home/user/dougaseisaku/assets/ref4/3_S3_03_完成品.jpg">    </p:cNvPr>
          <p:cNvPicPr>
            <a:picLocks noChangeAspect="1"/>
          </p:cNvPicPr>
          <p:nvPr/>
        </p:nvPicPr>
        <p:blipFill>
          <a:blip r:embed="rId8"/>
          <a:srcRect l="0" r="0" t="0" b="0"/>
          <a:stretch/>
        </p:blipFill>
        <p:spPr>
          <a:xfrm>
            <a:off x="9520733" y="4000500"/>
            <a:ext cx="2259482" cy="678942"/>
          </a:xfrm>
          <a:prstGeom prst="rect">
            <a:avLst/>
          </a:prstGeom>
        </p:spPr>
      </p:pic>
      <p:sp>
        <p:nvSpPr>
          <p:cNvPr id="41" name="Shape 32"/>
          <p:cNvSpPr/>
          <p:nvPr/>
        </p:nvSpPr>
        <p:spPr>
          <a:xfrm>
            <a:off x="9520733" y="400050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2" name="Text 33"/>
          <p:cNvSpPr/>
          <p:nvPr/>
        </p:nvSpPr>
        <p:spPr>
          <a:xfrm>
            <a:off x="9520733" y="471601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完成品が黒の中に浮かぶ。上から一灯だけ</a:t>
            </a:r>
            <a:endParaRPr lang="en-US" sz="720" dirty="0"/>
          </a:p>
        </p:txBody>
      </p:sp>
      <p:sp>
        <p:nvSpPr>
          <p:cNvPr id="43" name="Text 34"/>
          <p:cNvSpPr/>
          <p:nvPr/>
        </p:nvSpPr>
        <p:spPr>
          <a:xfrm>
            <a:off x="3749040" y="522351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S4 締め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24-28秒</a:t>
            </a:r>
            <a:endParaRPr lang="en-US" sz="1050" dirty="0"/>
          </a:p>
        </p:txBody>
      </p:sp>
      <p:sp>
        <p:nvSpPr>
          <p:cNvPr id="44" name="Shape 35"/>
          <p:cNvSpPr/>
          <p:nvPr/>
        </p:nvSpPr>
        <p:spPr>
          <a:xfrm>
            <a:off x="4764024" y="522351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45" name="Text 36"/>
          <p:cNvSpPr/>
          <p:nvPr/>
        </p:nvSpPr>
        <p:spPr>
          <a:xfrm>
            <a:off x="4764024" y="522351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46" name="Text 37"/>
          <p:cNvSpPr/>
          <p:nvPr/>
        </p:nvSpPr>
        <p:spPr>
          <a:xfrm>
            <a:off x="4764024" y="593902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ロゴのみ。</a:t>
            </a:r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テロップは出さない</a:t>
            </a:r>
            <a:endParaRPr lang="en-US" sz="720" dirty="0"/>
          </a:p>
        </p:txBody>
      </p:sp>
      <p:sp>
        <p:nvSpPr>
          <p:cNvPr id="47" name="Text 38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8" name="Text 39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 / 10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4747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04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11480" y="530352"/>
            <a:ext cx="5989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絵になる日常を。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11480" y="969264"/>
            <a:ext cx="5989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Everyday, Worth a Frame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583680" y="347472"/>
            <a:ext cx="51965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30秒 ／ 11ショット</a:t>
            </a:r>
            <a:endParaRPr lang="en-US" sz="1100" dirty="0"/>
          </a:p>
          <a:p>
            <a:pPr algn="r" indent="0" marL="0">
              <a:lnSpc>
                <a:spcPct val="135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対象＝仕事道具として買う人・贈る人　／　全媒体</a:t>
            </a:r>
            <a:endParaRPr lang="en-US" sz="1100" dirty="0"/>
          </a:p>
          <a:p>
            <a:pPr algn="r"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5000"/>
              </a:lnSpc>
              <a:buNone/>
            </a:pPr>
            <a:r>
              <a:rPr lang="en-US" sz="80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instagram.com/reels/DcOkNyyoFFJ</a:t>
            </a:r>
            <a:pPr algn="r"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＋　</a:t>
            </a:r>
            <a:pPr algn="r" indent="0" marL="0">
              <a:lnSpc>
                <a:spcPct val="135000"/>
              </a:lnSpc>
              <a:buNone/>
            </a:pPr>
            <a:r>
              <a:rPr lang="en-US" sz="80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instagram.com/reel/DaxjHnkB62p</a:t>
            </a:r>
            <a:pPr algn="r"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（yifan.liii × COACH・11.8万いいね）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11480" y="1426464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1554480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411480" y="1755648"/>
            <a:ext cx="3063240" cy="17802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映画×vlogの参考から三つを取る。①</a:t>
            </a:r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電車・看板・柱をトランジションに使う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（1本目と同じ手法）②街の引きの間に</a:t>
            </a:r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金具や財布の超マクロを差し込む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③テロップは</a:t>
            </a:r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英語一文を街の壁に重ねるだけ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、画面の下に出さない。</a:t>
            </a:r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自然光のみ。夕方の斜光。手持ちの揺れを少しだけ残すが、引きの構図はきっちり止める。</a:t>
            </a:r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一人で完結させる。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誰とも話さない。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411480" y="3737107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411480" y="3938275"/>
            <a:ext cx="3063240" cy="5285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この鞄を持った日常は、そのまま絵になる。A4もノートPCも入る。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11480" y="4667966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壁 に 重 ね る 一 文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411480" y="4869134"/>
            <a:ext cx="3063240" cy="64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87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Everyday, worth a frame.</a:t>
            </a:r>
            <a:pPr indent="0" marL="0">
              <a:lnSpc>
                <a:spcPct val="134000"/>
              </a:lnSpc>
              <a:buNone/>
            </a:pPr>
            <a:endParaRPr lang="en-US" sz="87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87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街の白い壁に重ねる。画面の下にテロップは出さない。最後はロゴだけ。</a:t>
            </a:r>
            <a:endParaRPr lang="en-US" sz="870" dirty="0"/>
          </a:p>
        </p:txBody>
      </p:sp>
      <p:sp>
        <p:nvSpPr>
          <p:cNvPr id="13" name="Text 11"/>
          <p:cNvSpPr/>
          <p:nvPr/>
        </p:nvSpPr>
        <p:spPr>
          <a:xfrm>
            <a:off x="3749040" y="155448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 街に出る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0-8秒</a:t>
            </a:r>
            <a:endParaRPr lang="en-US" sz="1050" dirty="0"/>
          </a:p>
        </p:txBody>
      </p:sp>
      <p:pic>
        <p:nvPicPr>
          <p:cNvPr id="14" name="Image 0" descr="/home/user/dougaseisaku/assets/ref4/4_S1_01_ガラスの反射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764024" y="1554480"/>
            <a:ext cx="2259482" cy="678942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4764024" y="155448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764024" y="226999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店のガラスの反射に映る（引き）</a:t>
            </a:r>
            <a:endParaRPr lang="en-US" sz="720" dirty="0"/>
          </a:p>
        </p:txBody>
      </p:sp>
      <p:pic>
        <p:nvPicPr>
          <p:cNvPr id="17" name="Image 1" descr="/home/user/dougaseisaku/assets/ref4/4_S1_02_街を歩く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7142378" y="1554480"/>
            <a:ext cx="2259482" cy="678942"/>
          </a:xfrm>
          <a:prstGeom prst="rect">
            <a:avLst/>
          </a:prstGeom>
        </p:spPr>
      </p:pic>
      <p:sp>
        <p:nvSpPr>
          <p:cNvPr id="18" name="Shape 14"/>
          <p:cNvSpPr/>
          <p:nvPr/>
        </p:nvSpPr>
        <p:spPr>
          <a:xfrm>
            <a:off x="7142378" y="155448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7142378" y="226999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街を歩く。横移動で追う</a:t>
            </a:r>
            <a:endParaRPr lang="en-US" sz="720" dirty="0"/>
          </a:p>
        </p:txBody>
      </p:sp>
      <p:pic>
        <p:nvPicPr>
          <p:cNvPr id="20" name="Image 2" descr="/home/user/dougaseisaku/assets/ref4/4_S1_03_電車が通り過ぎる.jp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9520733" y="1554480"/>
            <a:ext cx="2259482" cy="678942"/>
          </a:xfrm>
          <a:prstGeom prst="rect">
            <a:avLst/>
          </a:prstGeom>
        </p:spPr>
      </p:pic>
      <p:sp>
        <p:nvSpPr>
          <p:cNvPr id="21" name="Shape 16"/>
          <p:cNvSpPr/>
          <p:nvPr/>
        </p:nvSpPr>
        <p:spPr>
          <a:xfrm>
            <a:off x="9520733" y="155448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9520733" y="226999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電車が通り過ぎる（ブレ＝トランジション）</a:t>
            </a:r>
            <a:endParaRPr lang="en-US" sz="720" dirty="0"/>
          </a:p>
        </p:txBody>
      </p:sp>
      <p:sp>
        <p:nvSpPr>
          <p:cNvPr id="23" name="Text 18"/>
          <p:cNvSpPr/>
          <p:nvPr/>
        </p:nvSpPr>
        <p:spPr>
          <a:xfrm>
            <a:off x="3749040" y="277749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 中身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8-17秒</a:t>
            </a:r>
            <a:endParaRPr lang="en-US" sz="1050" dirty="0"/>
          </a:p>
        </p:txBody>
      </p:sp>
      <p:pic>
        <p:nvPicPr>
          <p:cNvPr id="24" name="Image 3" descr="/home/user/dougaseisaku/assets/ref4/4_S2_01_真俯瞰で入れる.jp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4764024" y="2777490"/>
            <a:ext cx="2259482" cy="678942"/>
          </a:xfrm>
          <a:prstGeom prst="rect">
            <a:avLst/>
          </a:prstGeom>
        </p:spPr>
      </p:pic>
      <p:sp>
        <p:nvSpPr>
          <p:cNvPr id="25" name="Shape 19"/>
          <p:cNvSpPr/>
          <p:nvPr/>
        </p:nvSpPr>
        <p:spPr>
          <a:xfrm>
            <a:off x="4764024" y="277749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0"/>
          <p:cNvSpPr/>
          <p:nvPr/>
        </p:nvSpPr>
        <p:spPr>
          <a:xfrm>
            <a:off x="4764024" y="349300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手すりに置き、真俯瞰でA4とノートPCを入れる</a:t>
            </a:r>
            <a:endParaRPr lang="en-US" sz="720" dirty="0"/>
          </a:p>
        </p:txBody>
      </p:sp>
      <p:pic>
        <p:nvPicPr>
          <p:cNvPr id="27" name="Image 4" descr="/home/user/dougaseisaku/assets/ref4/4_S2_02_中身を並べる.jpg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7142378" y="2777490"/>
            <a:ext cx="2259482" cy="678942"/>
          </a:xfrm>
          <a:prstGeom prst="rect">
            <a:avLst/>
          </a:prstGeom>
        </p:spPr>
      </p:pic>
      <p:sp>
        <p:nvSpPr>
          <p:cNvPr id="28" name="Shape 21"/>
          <p:cNvSpPr/>
          <p:nvPr/>
        </p:nvSpPr>
        <p:spPr>
          <a:xfrm>
            <a:off x="7142378" y="277749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9" name="Text 22"/>
          <p:cNvSpPr/>
          <p:nvPr/>
        </p:nvSpPr>
        <p:spPr>
          <a:xfrm>
            <a:off x="7142378" y="349300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寄り。内ポケットに名刺入れ・鍵・携帯</a:t>
            </a:r>
            <a:endParaRPr lang="en-US" sz="720" dirty="0"/>
          </a:p>
        </p:txBody>
      </p:sp>
      <p:pic>
        <p:nvPicPr>
          <p:cNvPr id="30" name="Image 5" descr="/home/user/dougaseisaku/assets/ref4/4_S2_03_財布に差し込む超マクロ.jpg">    </p:cNvPr>
          <p:cNvPicPr>
            <a:picLocks noChangeAspect="1"/>
          </p:cNvPicPr>
          <p:nvPr/>
        </p:nvPicPr>
        <p:blipFill>
          <a:blip r:embed="rId8"/>
          <a:srcRect l="0" r="0" t="0" b="0"/>
          <a:stretch/>
        </p:blipFill>
        <p:spPr>
          <a:xfrm>
            <a:off x="9520733" y="2777490"/>
            <a:ext cx="2259482" cy="678942"/>
          </a:xfrm>
          <a:prstGeom prst="rect">
            <a:avLst/>
          </a:prstGeom>
        </p:spPr>
      </p:pic>
      <p:sp>
        <p:nvSpPr>
          <p:cNvPr id="31" name="Shape 23"/>
          <p:cNvSpPr/>
          <p:nvPr/>
        </p:nvSpPr>
        <p:spPr>
          <a:xfrm>
            <a:off x="9520733" y="277749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2" name="Text 24"/>
          <p:cNvSpPr/>
          <p:nvPr/>
        </p:nvSpPr>
        <p:spPr>
          <a:xfrm>
            <a:off x="9520733" y="349300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財布に何かを差し込む超マクロ</a:t>
            </a:r>
            <a:endParaRPr lang="en-US" sz="720" dirty="0"/>
          </a:p>
        </p:txBody>
      </p:sp>
      <p:sp>
        <p:nvSpPr>
          <p:cNvPr id="33" name="Text 25"/>
          <p:cNvSpPr/>
          <p:nvPr/>
        </p:nvSpPr>
        <p:spPr>
          <a:xfrm>
            <a:off x="3749040" y="400050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 一人の時間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17-25秒</a:t>
            </a:r>
            <a:endParaRPr lang="en-US" sz="1050" dirty="0"/>
          </a:p>
        </p:txBody>
      </p:sp>
      <p:pic>
        <p:nvPicPr>
          <p:cNvPr id="34" name="Image 6" descr="/home/user/dougaseisaku/assets/ref4/4_S3_01_カフェの窓際.jpg">    </p:cNvPr>
          <p:cNvPicPr>
            <a:picLocks noChangeAspect="1"/>
          </p:cNvPicPr>
          <p:nvPr/>
        </p:nvPicPr>
        <p:blipFill>
          <a:blip r:embed="rId9"/>
          <a:srcRect l="0" r="0" t="0" b="0"/>
          <a:stretch/>
        </p:blipFill>
        <p:spPr>
          <a:xfrm>
            <a:off x="4764024" y="4000500"/>
            <a:ext cx="2259482" cy="678942"/>
          </a:xfrm>
          <a:prstGeom prst="rect">
            <a:avLst/>
          </a:prstGeom>
        </p:spPr>
      </p:pic>
      <p:sp>
        <p:nvSpPr>
          <p:cNvPr id="35" name="Shape 26"/>
          <p:cNvSpPr/>
          <p:nvPr/>
        </p:nvSpPr>
        <p:spPr>
          <a:xfrm>
            <a:off x="4764024" y="400050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6" name="Text 27"/>
          <p:cNvSpPr/>
          <p:nvPr/>
        </p:nvSpPr>
        <p:spPr>
          <a:xfrm>
            <a:off x="4764024" y="471601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カフェの窓際。自然光・浅い被写界深度</a:t>
            </a:r>
            <a:endParaRPr lang="en-US" sz="720" dirty="0"/>
          </a:p>
        </p:txBody>
      </p:sp>
      <p:pic>
        <p:nvPicPr>
          <p:cNvPr id="37" name="Image 7" descr="/home/user/dougaseisaku/assets/ref4/4_S3_02_金具のロゴに超マクロ.jpg">    </p:cNvPr>
          <p:cNvPicPr>
            <a:picLocks noChangeAspect="1"/>
          </p:cNvPicPr>
          <p:nvPr/>
        </p:nvPicPr>
        <p:blipFill>
          <a:blip r:embed="rId10"/>
          <a:srcRect l="0" r="0" t="0" b="0"/>
          <a:stretch/>
        </p:blipFill>
        <p:spPr>
          <a:xfrm>
            <a:off x="7142378" y="4000500"/>
            <a:ext cx="2259482" cy="678942"/>
          </a:xfrm>
          <a:prstGeom prst="rect">
            <a:avLst/>
          </a:prstGeom>
        </p:spPr>
      </p:pic>
      <p:sp>
        <p:nvSpPr>
          <p:cNvPr id="38" name="Shape 28"/>
          <p:cNvSpPr/>
          <p:nvPr/>
        </p:nvSpPr>
        <p:spPr>
          <a:xfrm>
            <a:off x="7142378" y="400050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29"/>
          <p:cNvSpPr/>
          <p:nvPr/>
        </p:nvSpPr>
        <p:spPr>
          <a:xfrm>
            <a:off x="7142378" y="471601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金具のロゴに超マクロ</a:t>
            </a:r>
            <a:endParaRPr lang="en-US" sz="720" dirty="0"/>
          </a:p>
        </p:txBody>
      </p:sp>
      <p:pic>
        <p:nvPicPr>
          <p:cNvPr id="40" name="Image 8" descr="/home/user/dougaseisaku/assets/ref4/4_S3_03_高い場所に立つ.jpg">    </p:cNvPr>
          <p:cNvPicPr>
            <a:picLocks noChangeAspect="1"/>
          </p:cNvPicPr>
          <p:nvPr/>
        </p:nvPicPr>
        <p:blipFill>
          <a:blip r:embed="rId11"/>
          <a:srcRect l="0" r="0" t="0" b="0"/>
          <a:stretch/>
        </p:blipFill>
        <p:spPr>
          <a:xfrm>
            <a:off x="9520733" y="4000500"/>
            <a:ext cx="2259482" cy="678942"/>
          </a:xfrm>
          <a:prstGeom prst="rect">
            <a:avLst/>
          </a:prstGeom>
        </p:spPr>
      </p:pic>
      <p:sp>
        <p:nvSpPr>
          <p:cNvPr id="41" name="Shape 30"/>
          <p:cNvSpPr/>
          <p:nvPr/>
        </p:nvSpPr>
        <p:spPr>
          <a:xfrm>
            <a:off x="9520733" y="400050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2" name="Text 31"/>
          <p:cNvSpPr/>
          <p:nvPr/>
        </p:nvSpPr>
        <p:spPr>
          <a:xfrm>
            <a:off x="9520733" y="471601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高い場所に立つ（引き・映画的）</a:t>
            </a:r>
            <a:endParaRPr lang="en-US" sz="720" dirty="0"/>
          </a:p>
        </p:txBody>
      </p:sp>
      <p:sp>
        <p:nvSpPr>
          <p:cNvPr id="43" name="Text 32"/>
          <p:cNvSpPr/>
          <p:nvPr/>
        </p:nvSpPr>
        <p:spPr>
          <a:xfrm>
            <a:off x="3749040" y="522351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S4 締め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25-30秒</a:t>
            </a:r>
            <a:endParaRPr lang="en-US" sz="1050" dirty="0"/>
          </a:p>
        </p:txBody>
      </p:sp>
      <p:pic>
        <p:nvPicPr>
          <p:cNvPr id="44" name="Image 9" descr="/home/user/dougaseisaku/assets/ref4/4_S4_02_街に置く.jpg">    </p:cNvPr>
          <p:cNvPicPr>
            <a:picLocks noChangeAspect="1"/>
          </p:cNvPicPr>
          <p:nvPr/>
        </p:nvPicPr>
        <p:blipFill>
          <a:blip r:embed="rId12"/>
          <a:srcRect l="0" r="0" t="0" b="0"/>
          <a:stretch/>
        </p:blipFill>
        <p:spPr>
          <a:xfrm>
            <a:off x="4764024" y="5223510"/>
            <a:ext cx="2259482" cy="678942"/>
          </a:xfrm>
          <a:prstGeom prst="rect">
            <a:avLst/>
          </a:prstGeom>
        </p:spPr>
      </p:pic>
      <p:sp>
        <p:nvSpPr>
          <p:cNvPr id="45" name="Shape 33"/>
          <p:cNvSpPr/>
          <p:nvPr/>
        </p:nvSpPr>
        <p:spPr>
          <a:xfrm>
            <a:off x="4764024" y="522351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6" name="Text 34"/>
          <p:cNvSpPr/>
          <p:nvPr/>
        </p:nvSpPr>
        <p:spPr>
          <a:xfrm>
            <a:off x="4764024" y="593902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街に置く。背景をボカして流す</a:t>
            </a:r>
            <a:endParaRPr lang="en-US" sz="720" dirty="0"/>
          </a:p>
        </p:txBody>
      </p:sp>
      <p:pic>
        <p:nvPicPr>
          <p:cNvPr id="47" name="Image 10" descr="/home/user/dougaseisaku/assets/ref4/4_S4_01_白い壁の前.jpg">    </p:cNvPr>
          <p:cNvPicPr>
            <a:picLocks noChangeAspect="1"/>
          </p:cNvPicPr>
          <p:nvPr/>
        </p:nvPicPr>
        <p:blipFill>
          <a:blip r:embed="rId13"/>
          <a:srcRect l="0" r="0" t="0" b="0"/>
          <a:stretch/>
        </p:blipFill>
        <p:spPr>
          <a:xfrm>
            <a:off x="7142378" y="5223510"/>
            <a:ext cx="2259482" cy="678942"/>
          </a:xfrm>
          <a:prstGeom prst="rect">
            <a:avLst/>
          </a:prstGeom>
        </p:spPr>
      </p:pic>
      <p:sp>
        <p:nvSpPr>
          <p:cNvPr id="48" name="Shape 35"/>
          <p:cNvSpPr/>
          <p:nvPr/>
        </p:nvSpPr>
        <p:spPr>
          <a:xfrm>
            <a:off x="7142378" y="522351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9" name="Text 36"/>
          <p:cNvSpPr/>
          <p:nvPr/>
        </p:nvSpPr>
        <p:spPr>
          <a:xfrm>
            <a:off x="7142378" y="593902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白い壁の前。正面。壁に英語一文を重ねる</a:t>
            </a:r>
            <a:endParaRPr lang="en-US" sz="720" dirty="0"/>
          </a:p>
        </p:txBody>
      </p:sp>
      <p:sp>
        <p:nvSpPr>
          <p:cNvPr id="50" name="Shape 37"/>
          <p:cNvSpPr/>
          <p:nvPr/>
        </p:nvSpPr>
        <p:spPr>
          <a:xfrm>
            <a:off x="9520733" y="522351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51" name="Text 38"/>
          <p:cNvSpPr/>
          <p:nvPr/>
        </p:nvSpPr>
        <p:spPr>
          <a:xfrm>
            <a:off x="9520733" y="522351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52" name="Text 39"/>
          <p:cNvSpPr/>
          <p:nvPr/>
        </p:nvSpPr>
        <p:spPr>
          <a:xfrm>
            <a:off x="9520733" y="593902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ロゴのみ。</a:t>
            </a:r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テロップは出さない</a:t>
            </a:r>
            <a:endParaRPr lang="en-US" sz="720" dirty="0"/>
          </a:p>
        </p:txBody>
      </p:sp>
      <p:sp>
        <p:nvSpPr>
          <p:cNvPr id="53" name="Text 40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54" name="Text 41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 / 10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4747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05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11480" y="530352"/>
            <a:ext cx="5989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1979年から、東京で。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11480" y="969264"/>
            <a:ext cx="5989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Since 1979, Tokyo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583680" y="347472"/>
            <a:ext cx="51965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2分 ／ 12ショット（60秒短縮版 ×1）</a:t>
            </a:r>
            <a:endParaRPr lang="en-US" sz="1100" dirty="0"/>
          </a:p>
          <a:p>
            <a:pPr algn="r" indent="0" marL="0">
              <a:lnSpc>
                <a:spcPct val="135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対象＝メディア関係者・OEMの調達担当・新規　／　コーポレートサイト・YouTube・商談</a:t>
            </a:r>
            <a:endParaRPr lang="en-US" sz="1100" dirty="0"/>
          </a:p>
          <a:p>
            <a:pPr algn="r"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参考動画＝未定。</a:t>
            </a:r>
            <a:pPr algn="r" indent="0" marL="0">
              <a:lnSpc>
                <a:spcPct val="135000"/>
              </a:lnSpc>
              <a:buNone/>
            </a:pPr>
            <a:r>
              <a:rPr lang="en-US" sz="800" b="1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年号で語る型</a:t>
            </a:r>
            <a:pPr algn="r"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を推奨（年表テロップ＋工房の現在＋二人の顔と声）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11480" y="1426464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1554480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411480" y="1755648"/>
            <a:ext cx="3063240" cy="14861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77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会社を一本で説明できる映像がない。公式サイトのHISTORYページは中身が作られないまま公開されている。</a:t>
            </a:r>
            <a:pPr indent="0" marL="0">
              <a:lnSpc>
                <a:spcPct val="134000"/>
              </a:lnSpc>
              <a:buNone/>
            </a:pPr>
            <a:r>
              <a:rPr lang="en-US" sz="779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年表で信用を作り、最後に二人の顔と声で締める。</a:t>
            </a:r>
            <a:pPr indent="0" marL="0">
              <a:lnSpc>
                <a:spcPct val="134000"/>
              </a:lnSpc>
              <a:buNone/>
            </a:pPr>
            <a:r>
              <a:rPr lang="en-US" sz="77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これがいちばん低予算で、いちばんメディアに刺さる。</a:t>
            </a:r>
            <a:pPr indent="0" marL="0">
              <a:lnSpc>
                <a:spcPct val="134000"/>
              </a:lnSpc>
              <a:buNone/>
            </a:pPr>
            <a:endParaRPr lang="en-US" sz="779" dirty="0"/>
          </a:p>
          <a:p>
            <a:pPr indent="0" marL="0">
              <a:lnSpc>
                <a:spcPct val="134000"/>
              </a:lnSpc>
              <a:buNone/>
            </a:pPr>
            <a:endParaRPr lang="en-US" sz="779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779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入れないもの</a:t>
            </a:r>
            <a:pPr indent="0" marL="0">
              <a:lnSpc>
                <a:spcPct val="134000"/>
              </a:lnSpc>
              <a:buNone/>
            </a:pPr>
            <a:r>
              <a:rPr lang="en-US" sz="77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：工程の詳しい説明、技術の解説、商品スペック。それは他の動画の役割。</a:t>
            </a:r>
            <a:pPr indent="0" marL="0">
              <a:lnSpc>
                <a:spcPct val="134000"/>
              </a:lnSpc>
              <a:buNone/>
            </a:pPr>
            <a:endParaRPr lang="en-US" sz="779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779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先に要ること</a:t>
            </a:r>
            <a:pPr indent="0" marL="0">
              <a:lnSpc>
                <a:spcPct val="134000"/>
              </a:lnSpc>
              <a:buNone/>
            </a:pPr>
            <a:r>
              <a:rPr lang="en-US" sz="77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：お二人の収録を三十分ずつ。使うのは各十秒ほどだが、</a:t>
            </a:r>
            <a:pPr indent="0" marL="0">
              <a:lnSpc>
                <a:spcPct val="134000"/>
              </a:lnSpc>
              <a:buNone/>
            </a:pPr>
            <a:r>
              <a:rPr lang="en-US" sz="779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単独インタビュー動画にそのまま展開できる素材</a:t>
            </a:r>
            <a:pPr indent="0" marL="0">
              <a:lnSpc>
                <a:spcPct val="134000"/>
              </a:lnSpc>
              <a:buNone/>
            </a:pPr>
            <a:r>
              <a:rPr lang="en-US" sz="77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になる。</a:t>
            </a:r>
            <a:endParaRPr lang="en-US" sz="779" dirty="0"/>
          </a:p>
        </p:txBody>
      </p:sp>
      <p:sp>
        <p:nvSpPr>
          <p:cNvPr id="9" name="Text 7"/>
          <p:cNvSpPr/>
          <p:nvPr/>
        </p:nvSpPr>
        <p:spPr>
          <a:xfrm>
            <a:off x="411480" y="3406779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411480" y="3607947"/>
            <a:ext cx="3063240" cy="3030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82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1979年から続く会社が、いま向島の工房と一つになった。</a:t>
            </a:r>
            <a:endParaRPr lang="en-US" sz="820" dirty="0"/>
          </a:p>
        </p:txBody>
      </p:sp>
      <p:sp>
        <p:nvSpPr>
          <p:cNvPr id="11" name="Shape 9"/>
          <p:cNvSpPr/>
          <p:nvPr/>
        </p:nvSpPr>
        <p:spPr>
          <a:xfrm>
            <a:off x="411480" y="4075919"/>
            <a:ext cx="3063240" cy="1060595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2" name="Text 10"/>
          <p:cNvSpPr/>
          <p:nvPr/>
        </p:nvSpPr>
        <p:spPr>
          <a:xfrm>
            <a:off x="594360" y="4203935"/>
            <a:ext cx="2697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594360" y="4405103"/>
            <a:ext cx="2697480" cy="3082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3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作る場所は、変わっていません。</a:t>
            </a:r>
            <a:endParaRPr lang="en-US" sz="1230" dirty="0"/>
          </a:p>
        </p:txBody>
      </p:sp>
      <p:sp>
        <p:nvSpPr>
          <p:cNvPr id="14" name="Text 12"/>
          <p:cNvSpPr/>
          <p:nvPr/>
        </p:nvSpPr>
        <p:spPr>
          <a:xfrm>
            <a:off x="594360" y="4768184"/>
            <a:ext cx="2697480" cy="2220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79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The place has not changed.</a:t>
            </a:r>
            <a:endParaRPr lang="en-US" sz="779" dirty="0"/>
          </a:p>
        </p:txBody>
      </p:sp>
      <p:sp>
        <p:nvSpPr>
          <p:cNvPr id="15" name="Text 13"/>
          <p:cNvSpPr/>
          <p:nvPr/>
        </p:nvSpPr>
        <p:spPr>
          <a:xfrm>
            <a:off x="411480" y="5301472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 表 テ ロ ッ プ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411480" y="5502640"/>
            <a:ext cx="3063240" cy="5553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713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1979 創業　／　1980 SHIPS　／　1982 BEAMS　／　1990 UNITED ARROWS　／　1991 Paul Smith　／　2011 RALPH LAUREN 全直営店のカルトン</a:t>
            </a:r>
            <a:endParaRPr lang="en-US" sz="713" dirty="0"/>
          </a:p>
        </p:txBody>
      </p:sp>
      <p:sp>
        <p:nvSpPr>
          <p:cNvPr id="17" name="Text 15"/>
          <p:cNvSpPr/>
          <p:nvPr/>
        </p:nvSpPr>
        <p:spPr>
          <a:xfrm>
            <a:off x="3749040" y="155448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 刻印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0-25秒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764024" y="155448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19" name="Text 17"/>
          <p:cNvSpPr/>
          <p:nvPr/>
        </p:nvSpPr>
        <p:spPr>
          <a:xfrm>
            <a:off x="4764024" y="155448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4764024" y="226999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黒。刻印が押され、ロゴが革に沈む（超マクロ）</a:t>
            </a:r>
            <a:endParaRPr lang="en-US" sz="720" dirty="0"/>
          </a:p>
        </p:txBody>
      </p:sp>
      <p:sp>
        <p:nvSpPr>
          <p:cNvPr id="21" name="Shape 19"/>
          <p:cNvSpPr/>
          <p:nvPr/>
        </p:nvSpPr>
        <p:spPr>
          <a:xfrm>
            <a:off x="7142378" y="155448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22" name="Text 20"/>
          <p:cNvSpPr/>
          <p:nvPr/>
        </p:nvSpPr>
        <p:spPr>
          <a:xfrm>
            <a:off x="7142378" y="155448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7142378" y="226999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窪みに光が差す。そこに</a:t>
            </a:r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年号テロップ</a:t>
            </a:r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が重なる</a:t>
            </a:r>
            <a:endParaRPr lang="en-US" sz="720" dirty="0"/>
          </a:p>
        </p:txBody>
      </p:sp>
      <p:sp>
        <p:nvSpPr>
          <p:cNvPr id="24" name="Shape 22"/>
          <p:cNvSpPr/>
          <p:nvPr/>
        </p:nvSpPr>
        <p:spPr>
          <a:xfrm>
            <a:off x="9520733" y="155448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9520733" y="155448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9520733" y="226999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引くと向島工房の全景になる（ハイアングル）</a:t>
            </a:r>
            <a:endParaRPr lang="en-US" sz="720" dirty="0"/>
          </a:p>
        </p:txBody>
      </p:sp>
      <p:sp>
        <p:nvSpPr>
          <p:cNvPr id="27" name="Text 25"/>
          <p:cNvSpPr/>
          <p:nvPr/>
        </p:nvSpPr>
        <p:spPr>
          <a:xfrm>
            <a:off x="3749040" y="277749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 二人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25-57秒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4764024" y="277749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4764024" y="277749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4764024" y="349300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永尾社長。窓を背に座る（中景）。</a:t>
            </a:r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顔が出るのはここだけ</a:t>
            </a:r>
            <a:endParaRPr lang="en-US" sz="720" dirty="0"/>
          </a:p>
        </p:txBody>
      </p:sp>
      <p:sp>
        <p:nvSpPr>
          <p:cNvPr id="31" name="Shape 29"/>
          <p:cNvSpPr/>
          <p:nvPr/>
        </p:nvSpPr>
        <p:spPr>
          <a:xfrm>
            <a:off x="7142378" y="277749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7142378" y="277749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7142378" y="349300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佐藤さん。</a:t>
            </a:r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同じ光・同じ画角</a:t>
            </a:r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で撮る</a:t>
            </a:r>
            <a:endParaRPr lang="en-US" sz="720" dirty="0"/>
          </a:p>
        </p:txBody>
      </p:sp>
      <p:sp>
        <p:nvSpPr>
          <p:cNvPr id="34" name="Shape 32"/>
          <p:cNvSpPr/>
          <p:nvPr/>
        </p:nvSpPr>
        <p:spPr>
          <a:xfrm>
            <a:off x="9520733" y="277749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9520733" y="277749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9520733" y="349300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打ち合わせ台を真俯瞰。図面・革見本・道具</a:t>
            </a:r>
            <a:endParaRPr lang="en-US" sz="720" dirty="0"/>
          </a:p>
        </p:txBody>
      </p:sp>
      <p:sp>
        <p:nvSpPr>
          <p:cNvPr id="37" name="Text 35"/>
          <p:cNvSpPr/>
          <p:nvPr/>
        </p:nvSpPr>
        <p:spPr>
          <a:xfrm>
            <a:off x="3749040" y="400050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 製造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57-96秒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4764024" y="400050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4764024" y="400050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4764024" y="471601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原反が広げられる（真俯瞰）</a:t>
            </a:r>
            <a:endParaRPr lang="en-US" sz="720" dirty="0"/>
          </a:p>
        </p:txBody>
      </p:sp>
      <p:sp>
        <p:nvSpPr>
          <p:cNvPr id="41" name="Shape 39"/>
          <p:cNvSpPr/>
          <p:nvPr/>
        </p:nvSpPr>
        <p:spPr>
          <a:xfrm>
            <a:off x="7142378" y="400050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7142378" y="400050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7142378" y="471601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裁断 → 縫製 → コバ磨き。声が終わり工程の音だけになる</a:t>
            </a:r>
            <a:endParaRPr lang="en-US" sz="720" dirty="0"/>
          </a:p>
        </p:txBody>
      </p:sp>
      <p:sp>
        <p:nvSpPr>
          <p:cNvPr id="44" name="Shape 42"/>
          <p:cNvSpPr/>
          <p:nvPr/>
        </p:nvSpPr>
        <p:spPr>
          <a:xfrm>
            <a:off x="9520733" y="400050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9520733" y="400050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46" name="Text 44"/>
          <p:cNvSpPr/>
          <p:nvPr/>
        </p:nvSpPr>
        <p:spPr>
          <a:xfrm>
            <a:off x="9520733" y="471601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検品。</a:t>
            </a:r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ここで一度、音を消す</a:t>
            </a:r>
            <a:endParaRPr lang="en-US" sz="720" dirty="0"/>
          </a:p>
        </p:txBody>
      </p:sp>
      <p:sp>
        <p:nvSpPr>
          <p:cNvPr id="47" name="Text 45"/>
          <p:cNvSpPr/>
          <p:nvPr/>
        </p:nvSpPr>
        <p:spPr>
          <a:xfrm>
            <a:off x="3749040" y="522351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S4 渡る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96-120秒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4764024" y="522351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49" name="Text 47"/>
          <p:cNvSpPr/>
          <p:nvPr/>
        </p:nvSpPr>
        <p:spPr>
          <a:xfrm>
            <a:off x="4764024" y="522351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50" name="Text 48"/>
          <p:cNvSpPr/>
          <p:nvPr/>
        </p:nvSpPr>
        <p:spPr>
          <a:xfrm>
            <a:off x="4764024" y="593902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梱包され、箱が閉じる（真俯瞰）</a:t>
            </a:r>
            <a:endParaRPr lang="en-US" sz="720" dirty="0"/>
          </a:p>
        </p:txBody>
      </p:sp>
      <p:sp>
        <p:nvSpPr>
          <p:cNvPr id="51" name="Shape 49"/>
          <p:cNvSpPr/>
          <p:nvPr/>
        </p:nvSpPr>
        <p:spPr>
          <a:xfrm>
            <a:off x="7142378" y="522351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52" name="Text 50"/>
          <p:cNvSpPr/>
          <p:nvPr/>
        </p:nvSpPr>
        <p:spPr>
          <a:xfrm>
            <a:off x="7142378" y="522351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53" name="Text 51"/>
          <p:cNvSpPr/>
          <p:nvPr/>
        </p:nvSpPr>
        <p:spPr>
          <a:xfrm>
            <a:off x="7142378" y="593902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受け取る手。開けた瞬間</a:t>
            </a:r>
            <a:endParaRPr lang="en-US" sz="720" dirty="0"/>
          </a:p>
        </p:txBody>
      </p:sp>
      <p:sp>
        <p:nvSpPr>
          <p:cNvPr id="54" name="Shape 52"/>
          <p:cNvSpPr/>
          <p:nvPr/>
        </p:nvSpPr>
        <p:spPr>
          <a:xfrm>
            <a:off x="9520733" y="522351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55" name="Text 53"/>
          <p:cNvSpPr/>
          <p:nvPr/>
        </p:nvSpPr>
        <p:spPr>
          <a:xfrm>
            <a:off x="9520733" y="522351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56" name="Text 54"/>
          <p:cNvSpPr/>
          <p:nvPr/>
        </p:nvSpPr>
        <p:spPr>
          <a:xfrm>
            <a:off x="9520733" y="593902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仕事で使われている → テロップ → ロゴ</a:t>
            </a:r>
            <a:endParaRPr lang="en-US" sz="720" dirty="0"/>
          </a:p>
        </p:txBody>
      </p:sp>
      <p:sp>
        <p:nvSpPr>
          <p:cNvPr id="57" name="Text 55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58" name="Text 56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 / 10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4747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06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11480" y="530352"/>
            <a:ext cx="5989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つくる、確かめる、包む。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11480" y="969264"/>
            <a:ext cx="5989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Make. Check. Pack.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583680" y="347472"/>
            <a:ext cx="51965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2分20秒 ／ 12ショット（展示会用の無音版 ×1）</a:t>
            </a:r>
            <a:endParaRPr lang="en-US" sz="1100" dirty="0"/>
          </a:p>
          <a:p>
            <a:pPr algn="r" indent="0" marL="0">
              <a:lnSpc>
                <a:spcPct val="135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対象＝OEMの調達・生産担当　／　商談・展示会・提案資料</a:t>
            </a:r>
            <a:endParaRPr lang="en-US" sz="1100" dirty="0"/>
          </a:p>
          <a:p>
            <a:pPr algn="r"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参考動画＝未定。</a:t>
            </a:r>
            <a:pPr algn="r" indent="0" marL="0">
              <a:lnSpc>
                <a:spcPct val="135000"/>
              </a:lnSpc>
              <a:buNone/>
            </a:pPr>
            <a:r>
              <a:rPr lang="en-US" sz="800" b="1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工場見学ワンテイク型</a:t>
            </a:r>
            <a:pPr algn="r"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を推奨（入口から入り、工程順に歩き、梱包場で終わる）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11480" y="1426464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1554480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411480" y="1755648"/>
            <a:ext cx="3063240" cy="14534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76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OEMの粗利は36%。自社ブランドの財布・小物は76〜93%ある。訪問前に体制を伝えて、</a:t>
            </a:r>
            <a:pPr indent="0" marL="0">
              <a:lnSpc>
                <a:spcPct val="134000"/>
              </a:lnSpc>
              <a:buNone/>
            </a:pPr>
            <a:r>
              <a:rPr lang="en-US" sz="76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価格ではなく品質で選ばれる状態</a:t>
            </a:r>
            <a:pPr indent="0" marL="0">
              <a:lnSpc>
                <a:spcPct val="134000"/>
              </a:lnSpc>
              <a:buNone/>
            </a:pPr>
            <a:r>
              <a:rPr lang="en-US" sz="76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を作る。</a:t>
            </a:r>
            <a:pPr indent="0" marL="0">
              <a:lnSpc>
                <a:spcPct val="134000"/>
              </a:lnSpc>
              <a:buNone/>
            </a:pPr>
            <a:endParaRPr lang="en-US" sz="760" dirty="0"/>
          </a:p>
          <a:p>
            <a:pPr indent="0" marL="0">
              <a:lnSpc>
                <a:spcPct val="134000"/>
              </a:lnSpc>
              <a:buNone/>
            </a:pPr>
            <a:endParaRPr lang="en-US" sz="76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76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3本目との違い</a:t>
            </a:r>
            <a:pPr indent="0" marL="0">
              <a:lnSpc>
                <a:spcPct val="134000"/>
              </a:lnSpc>
              <a:buNone/>
            </a:pPr>
            <a:r>
              <a:rPr lang="en-US" sz="76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：3本目は黒背景・一灯・手だけ・固定・BGM・ロゴで終わる。</a:t>
            </a:r>
            <a:pPr indent="0" marL="0">
              <a:lnSpc>
                <a:spcPct val="134000"/>
              </a:lnSpc>
              <a:buNone/>
            </a:pPr>
            <a:r>
              <a:rPr lang="en-US" sz="76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この6本目は工房の実景・自然光・人と機械・歩くカメラ・作業音・梱包と問い合わせ先で終わる。</a:t>
            </a:r>
            <a:pPr indent="0" marL="0">
              <a:lnSpc>
                <a:spcPct val="134000"/>
              </a:lnSpc>
              <a:buNone/>
            </a:pPr>
            <a:r>
              <a:rPr lang="en-US" sz="76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同じ工程を撮っても別物になる。撮影日も分ける。</a:t>
            </a:r>
            <a:pPr indent="0" marL="0">
              <a:lnSpc>
                <a:spcPct val="134000"/>
              </a:lnSpc>
              <a:buNone/>
            </a:pPr>
            <a:endParaRPr lang="en-US" sz="760" dirty="0"/>
          </a:p>
          <a:p>
            <a:pPr indent="0" marL="0">
              <a:lnSpc>
                <a:spcPct val="134000"/>
              </a:lnSpc>
              <a:buNone/>
            </a:pPr>
            <a:endParaRPr lang="en-US" sz="76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76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同じ素材から</a:t>
            </a:r>
            <a:pPr indent="0" marL="0">
              <a:lnSpc>
                <a:spcPct val="134000"/>
              </a:lnSpc>
              <a:buNone/>
            </a:pPr>
            <a:r>
              <a:rPr lang="en-US" sz="76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展示会用の60秒無音版</a:t>
            </a:r>
            <a:pPr indent="0" marL="0">
              <a:lnSpc>
                <a:spcPct val="134000"/>
              </a:lnSpc>
              <a:buNone/>
            </a:pPr>
            <a:r>
              <a:rPr lang="en-US" sz="76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を作る。</a:t>
            </a:r>
            <a:endParaRPr lang="en-US" sz="760" dirty="0"/>
          </a:p>
        </p:txBody>
      </p:sp>
      <p:sp>
        <p:nvSpPr>
          <p:cNvPr id="9" name="Text 7"/>
          <p:cNvSpPr/>
          <p:nvPr/>
        </p:nvSpPr>
        <p:spPr>
          <a:xfrm>
            <a:off x="411480" y="3370076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411480" y="3571244"/>
            <a:ext cx="3063240" cy="452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量産も少量生産もできる。検品まで自社で完結し、この形で届く。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411480" y="4184258"/>
            <a:ext cx="3063240" cy="1051231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2" name="Text 10"/>
          <p:cNvSpPr/>
          <p:nvPr/>
        </p:nvSpPr>
        <p:spPr>
          <a:xfrm>
            <a:off x="594360" y="4312274"/>
            <a:ext cx="2697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594360" y="4513442"/>
            <a:ext cx="2697480" cy="3024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つくる、確かめる、包む。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94360" y="4870789"/>
            <a:ext cx="2697480" cy="2183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6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Make. Check. Pack.</a:t>
            </a:r>
            <a:endParaRPr lang="en-US" sz="760" dirty="0"/>
          </a:p>
        </p:txBody>
      </p:sp>
      <p:sp>
        <p:nvSpPr>
          <p:cNvPr id="15" name="Text 13"/>
          <p:cNvSpPr/>
          <p:nvPr/>
        </p:nvSpPr>
        <p:spPr>
          <a:xfrm>
            <a:off x="411480" y="5396423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 は 工 程 名 だ け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411480" y="5597591"/>
            <a:ext cx="3063240" cy="545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69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金型裁断 Die Cutting／手裁断 Hand Cutting／機械縫製 Machine Stitching／手縫い Hand Stitching／目止め Edge Sealing／コバ磨き Edge Burnishing／検品 Inspection／梱包 Packing</a:t>
            </a:r>
            <a:endParaRPr lang="en-US" sz="696" dirty="0"/>
          </a:p>
        </p:txBody>
      </p:sp>
      <p:sp>
        <p:nvSpPr>
          <p:cNvPr id="17" name="Text 15"/>
          <p:cNvSpPr/>
          <p:nvPr/>
        </p:nvSpPr>
        <p:spPr>
          <a:xfrm>
            <a:off x="3749040" y="155448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 入る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0-25秒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764024" y="155448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19" name="Text 17"/>
          <p:cNvSpPr/>
          <p:nvPr/>
        </p:nvSpPr>
        <p:spPr>
          <a:xfrm>
            <a:off x="4764024" y="155448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4764024" y="226999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工房の外観と看板（ローアングル）。街の音</a:t>
            </a:r>
            <a:endParaRPr lang="en-US" sz="720" dirty="0"/>
          </a:p>
        </p:txBody>
      </p:sp>
      <p:sp>
        <p:nvSpPr>
          <p:cNvPr id="21" name="Shape 19"/>
          <p:cNvSpPr/>
          <p:nvPr/>
        </p:nvSpPr>
        <p:spPr>
          <a:xfrm>
            <a:off x="7142378" y="155448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22" name="Text 20"/>
          <p:cNvSpPr/>
          <p:nvPr/>
        </p:nvSpPr>
        <p:spPr>
          <a:xfrm>
            <a:off x="7142378" y="155448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7142378" y="226999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中に入る。工房の全景（ハイアングル）。</a:t>
            </a:r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規模が分かる画角</a:t>
            </a:r>
            <a:endParaRPr lang="en-US" sz="720" dirty="0"/>
          </a:p>
        </p:txBody>
      </p:sp>
      <p:sp>
        <p:nvSpPr>
          <p:cNvPr id="24" name="Shape 22"/>
          <p:cNvSpPr/>
          <p:nvPr/>
        </p:nvSpPr>
        <p:spPr>
          <a:xfrm>
            <a:off x="9520733" y="155448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9520733" y="155448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9520733" y="226999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作業台に原反が広がる（真俯瞰）。扱える革の大きさを示す</a:t>
            </a:r>
            <a:endParaRPr lang="en-US" sz="720" dirty="0"/>
          </a:p>
        </p:txBody>
      </p:sp>
      <p:sp>
        <p:nvSpPr>
          <p:cNvPr id="27" name="Text 25"/>
          <p:cNvSpPr/>
          <p:nvPr/>
        </p:nvSpPr>
        <p:spPr>
          <a:xfrm>
            <a:off x="3749040" y="277749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 歩く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25-95秒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4764024" y="277749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4764024" y="277749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4764024" y="349300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金型が置かれ、裁断機が下りる／革包丁で細部を切る</a:t>
            </a:r>
            <a:endParaRPr lang="en-US" sz="720" dirty="0"/>
          </a:p>
        </p:txBody>
      </p:sp>
      <p:sp>
        <p:nvSpPr>
          <p:cNvPr id="31" name="Shape 29"/>
          <p:cNvSpPr/>
          <p:nvPr/>
        </p:nvSpPr>
        <p:spPr>
          <a:xfrm>
            <a:off x="7142378" y="277749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7142378" y="277749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7142378" y="349300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ミシンで縫う（横）／手縫い。二本の針が交差する（マクロ）</a:t>
            </a:r>
            <a:endParaRPr lang="en-US" sz="720" dirty="0"/>
          </a:p>
        </p:txBody>
      </p:sp>
      <p:sp>
        <p:nvSpPr>
          <p:cNvPr id="34" name="Shape 32"/>
          <p:cNvSpPr/>
          <p:nvPr/>
        </p:nvSpPr>
        <p:spPr>
          <a:xfrm>
            <a:off x="9520733" y="277749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9520733" y="277749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9520733" y="349300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目止め → コバ磨き。</a:t>
            </a:r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全工程の四割</a:t>
            </a:r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とテロップ</a:t>
            </a:r>
            <a:endParaRPr lang="en-US" sz="720" dirty="0"/>
          </a:p>
        </p:txBody>
      </p:sp>
      <p:sp>
        <p:nvSpPr>
          <p:cNvPr id="37" name="Text 35"/>
          <p:cNvSpPr/>
          <p:nvPr/>
        </p:nvSpPr>
        <p:spPr>
          <a:xfrm>
            <a:off x="3749040" y="400050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 検品 ★最重要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95-120秒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4764024" y="400050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4764024" y="400050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4764024" y="471601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職人が縫い目と断面を目で確かめる（寄り）。</a:t>
            </a:r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作業音が消える</a:t>
            </a:r>
            <a:endParaRPr lang="en-US" sz="720" dirty="0"/>
          </a:p>
        </p:txBody>
      </p:sp>
      <p:sp>
        <p:nvSpPr>
          <p:cNvPr id="41" name="Shape 39"/>
          <p:cNvSpPr/>
          <p:nvPr/>
        </p:nvSpPr>
        <p:spPr>
          <a:xfrm>
            <a:off x="7142378" y="400050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7142378" y="400050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7142378" y="471601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検品済みの製品と道具が並ぶ（真俯瞰）</a:t>
            </a:r>
            <a:endParaRPr lang="en-US" sz="720" dirty="0"/>
          </a:p>
        </p:txBody>
      </p:sp>
      <p:sp>
        <p:nvSpPr>
          <p:cNvPr id="44" name="Shape 42"/>
          <p:cNvSpPr/>
          <p:nvPr/>
        </p:nvSpPr>
        <p:spPr>
          <a:xfrm>
            <a:off x="9520733" y="400050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9520733" y="400050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46" name="Text 44"/>
          <p:cNvSpPr/>
          <p:nvPr/>
        </p:nvSpPr>
        <p:spPr>
          <a:xfrm>
            <a:off x="9520733" y="471601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一点を手に取り、光にかざす</a:t>
            </a:r>
            <a:endParaRPr lang="en-US" sz="720" dirty="0"/>
          </a:p>
        </p:txBody>
      </p:sp>
      <p:sp>
        <p:nvSpPr>
          <p:cNvPr id="47" name="Text 45"/>
          <p:cNvSpPr/>
          <p:nvPr/>
        </p:nvSpPr>
        <p:spPr>
          <a:xfrm>
            <a:off x="3749040" y="522351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S4 包む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120-140秒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4764024" y="522351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49" name="Text 47"/>
          <p:cNvSpPr/>
          <p:nvPr/>
        </p:nvSpPr>
        <p:spPr>
          <a:xfrm>
            <a:off x="4764024" y="522351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50" name="Text 48"/>
          <p:cNvSpPr/>
          <p:nvPr/>
        </p:nvSpPr>
        <p:spPr>
          <a:xfrm>
            <a:off x="4764024" y="593902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不織布で包み、角を折る（真俯瞰）。紙の音</a:t>
            </a:r>
            <a:endParaRPr lang="en-US" sz="720" dirty="0"/>
          </a:p>
        </p:txBody>
      </p:sp>
      <p:sp>
        <p:nvSpPr>
          <p:cNvPr id="51" name="Shape 49"/>
          <p:cNvSpPr/>
          <p:nvPr/>
        </p:nvSpPr>
        <p:spPr>
          <a:xfrm>
            <a:off x="7142378" y="522351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52" name="Text 50"/>
          <p:cNvSpPr/>
          <p:nvPr/>
        </p:nvSpPr>
        <p:spPr>
          <a:xfrm>
            <a:off x="7142378" y="522351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53" name="Text 51"/>
          <p:cNvSpPr/>
          <p:nvPr/>
        </p:nvSpPr>
        <p:spPr>
          <a:xfrm>
            <a:off x="7142378" y="593902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箱に納め、テープで閉じる。</a:t>
            </a:r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ここまで見せる</a:t>
            </a:r>
            <a:endParaRPr lang="en-US" sz="720" dirty="0"/>
          </a:p>
        </p:txBody>
      </p:sp>
      <p:sp>
        <p:nvSpPr>
          <p:cNvPr id="54" name="Shape 52"/>
          <p:cNvSpPr/>
          <p:nvPr/>
        </p:nvSpPr>
        <p:spPr>
          <a:xfrm>
            <a:off x="9520733" y="522351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55" name="Text 53"/>
          <p:cNvSpPr/>
          <p:nvPr/>
        </p:nvSpPr>
        <p:spPr>
          <a:xfrm>
            <a:off x="9520733" y="522351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56" name="Text 54"/>
          <p:cNvSpPr/>
          <p:nvPr/>
        </p:nvSpPr>
        <p:spPr>
          <a:xfrm>
            <a:off x="9520733" y="593902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対応技法の一覧 → 問い合わせ先とURL</a:t>
            </a:r>
            <a:endParaRPr lang="en-US" sz="720" dirty="0"/>
          </a:p>
        </p:txBody>
      </p:sp>
      <p:sp>
        <p:nvSpPr>
          <p:cNvPr id="57" name="Text 55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58" name="Text 56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 / 10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4747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07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11480" y="530352"/>
            <a:ext cx="5989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HURRY UP.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11480" y="969264"/>
            <a:ext cx="5989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急ぐ朝ほど、迷わない。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583680" y="347472"/>
            <a:ext cx="51965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25秒 ×3品番 ／ 10ショット</a:t>
            </a:r>
            <a:endParaRPr lang="en-US" sz="1100" dirty="0"/>
          </a:p>
          <a:p>
            <a:pPr algn="r" indent="0" marL="0">
              <a:lnSpc>
                <a:spcPct val="135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対象＝新規（買う直前の人）　／　EC商品ページ カートボタン直下</a:t>
            </a:r>
            <a:endParaRPr lang="en-US" sz="1100" dirty="0"/>
          </a:p>
          <a:p>
            <a:pPr algn="r"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5000"/>
              </a:lnSpc>
              <a:buNone/>
            </a:pPr>
            <a:r>
              <a:rPr lang="en-US" sz="80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instagram.com/reel/DZE-_hZuwXb</a:t>
            </a:r>
            <a:pPr algn="r"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（朝の出発前）　＋　</a:t>
            </a:r>
            <a:pPr algn="r" indent="0" marL="0">
              <a:lnSpc>
                <a:spcPct val="135000"/>
              </a:lnSpc>
              <a:buNone/>
            </a:pPr>
            <a:r>
              <a:rPr lang="en-US" sz="80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instagram.com/reel/DaorwuKvWAj</a:t>
            </a:r>
            <a:pPr algn="r"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（ASMR実測）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11480" y="1426464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1554480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411480" y="1755648"/>
            <a:ext cx="3063240" cy="14861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77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購入転換率が0.263%。前年0.583%から半減している。写真では入る量が伝わらない。</a:t>
            </a:r>
            <a:pPr indent="0" marL="0">
              <a:lnSpc>
                <a:spcPct val="134000"/>
              </a:lnSpc>
              <a:buNone/>
            </a:pPr>
            <a:endParaRPr lang="en-US" sz="779" dirty="0"/>
          </a:p>
          <a:p>
            <a:pPr indent="0" marL="0">
              <a:lnSpc>
                <a:spcPct val="134000"/>
              </a:lnSpc>
              <a:buNone/>
            </a:pPr>
            <a:endParaRPr lang="en-US" sz="779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779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白い台の上、正面固定。カメラは一度も動かさない。</a:t>
            </a:r>
            <a:pPr indent="0" marL="0">
              <a:lnSpc>
                <a:spcPct val="134000"/>
              </a:lnSpc>
              <a:buNone/>
            </a:pPr>
            <a:r>
              <a:rPr lang="en-US" sz="77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三品番を</a:t>
            </a:r>
            <a:pPr indent="0" marL="0">
              <a:lnSpc>
                <a:spcPct val="134000"/>
              </a:lnSpc>
              <a:buNone/>
            </a:pPr>
            <a:r>
              <a:rPr lang="en-US" sz="779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同じ画角・同じ小物</a:t>
            </a:r>
            <a:pPr indent="0" marL="0">
              <a:lnSpc>
                <a:spcPct val="134000"/>
              </a:lnSpc>
              <a:buNone/>
            </a:pPr>
            <a:r>
              <a:rPr lang="en-US" sz="77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で撮るので、並べたときに大きさの差がそのまま分かる。冒頭三秒は</a:t>
            </a:r>
            <a:pPr indent="0" marL="0">
              <a:lnSpc>
                <a:spcPct val="134000"/>
              </a:lnSpc>
              <a:buNone/>
            </a:pPr>
            <a:r>
              <a:rPr lang="en-US" sz="779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モノクロ</a:t>
            </a:r>
            <a:pPr indent="0" marL="0">
              <a:lnSpc>
                <a:spcPct val="134000"/>
              </a:lnSpc>
              <a:buNone/>
            </a:pPr>
            <a:r>
              <a:rPr lang="en-US" sz="77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で入り、引いた瞬間にカラーへ。</a:t>
            </a:r>
            <a:pPr indent="0" marL="0">
              <a:lnSpc>
                <a:spcPct val="134000"/>
              </a:lnSpc>
              <a:buNone/>
            </a:pPr>
            <a:endParaRPr lang="en-US" sz="779" dirty="0"/>
          </a:p>
          <a:p>
            <a:pPr indent="0" marL="0">
              <a:lnSpc>
                <a:spcPct val="134000"/>
              </a:lnSpc>
              <a:buNone/>
            </a:pPr>
            <a:endParaRPr lang="en-US" sz="779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779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秤のカットは使わない。</a:t>
            </a:r>
            <a:pPr indent="0" marL="0">
              <a:lnSpc>
                <a:spcPct val="134000"/>
              </a:lnSpc>
              <a:buNone/>
            </a:pPr>
            <a:r>
              <a:rPr lang="en-US" sz="77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数字を読ませるかわりに、</a:t>
            </a:r>
            <a:pPr indent="0" marL="0">
              <a:lnSpc>
                <a:spcPct val="134000"/>
              </a:lnSpc>
              <a:buNone/>
            </a:pPr>
            <a:r>
              <a:rPr lang="en-US" sz="779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片手で持ち上げる動作</a:t>
            </a:r>
            <a:pPr indent="0" marL="0">
              <a:lnSpc>
                <a:spcPct val="134000"/>
              </a:lnSpc>
              <a:buNone/>
            </a:pPr>
            <a:r>
              <a:rPr lang="en-US" sz="77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で軽さを見せる。数字は小さくテロップで添えるだけ。</a:t>
            </a:r>
            <a:endParaRPr lang="en-US" sz="779" dirty="0"/>
          </a:p>
        </p:txBody>
      </p:sp>
      <p:sp>
        <p:nvSpPr>
          <p:cNvPr id="9" name="Text 7"/>
          <p:cNvSpPr/>
          <p:nvPr/>
        </p:nvSpPr>
        <p:spPr>
          <a:xfrm>
            <a:off x="411480" y="3406779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411480" y="3607947"/>
            <a:ext cx="3063240" cy="4597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82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A4もノートPCも入って、片手で持ち上がる。三品番の大きさの差が、並べれば分かる。</a:t>
            </a:r>
            <a:endParaRPr lang="en-US" sz="820" dirty="0"/>
          </a:p>
        </p:txBody>
      </p:sp>
      <p:sp>
        <p:nvSpPr>
          <p:cNvPr id="11" name="Shape 9"/>
          <p:cNvSpPr/>
          <p:nvPr/>
        </p:nvSpPr>
        <p:spPr>
          <a:xfrm>
            <a:off x="411480" y="4232629"/>
            <a:ext cx="3063240" cy="1060595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2" name="Text 10"/>
          <p:cNvSpPr/>
          <p:nvPr/>
        </p:nvSpPr>
        <p:spPr>
          <a:xfrm>
            <a:off x="594360" y="4360645"/>
            <a:ext cx="2697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594360" y="4561813"/>
            <a:ext cx="2697480" cy="3082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3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かばんも、身支度のうち。</a:t>
            </a:r>
            <a:endParaRPr lang="en-US" sz="1230" dirty="0"/>
          </a:p>
        </p:txBody>
      </p:sp>
      <p:sp>
        <p:nvSpPr>
          <p:cNvPr id="14" name="Text 12"/>
          <p:cNvSpPr/>
          <p:nvPr/>
        </p:nvSpPr>
        <p:spPr>
          <a:xfrm>
            <a:off x="594360" y="4924893"/>
            <a:ext cx="2697480" cy="2220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79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THE BAG IS PART OF GETTING READY.</a:t>
            </a:r>
            <a:endParaRPr lang="en-US" sz="779" dirty="0"/>
          </a:p>
        </p:txBody>
      </p:sp>
      <p:sp>
        <p:nvSpPr>
          <p:cNvPr id="15" name="Text 13"/>
          <p:cNvSpPr/>
          <p:nvPr/>
        </p:nvSpPr>
        <p:spPr>
          <a:xfrm>
            <a:off x="411480" y="5458182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 さ く 添 え る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411480" y="5659350"/>
            <a:ext cx="3063240" cy="4189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713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A4・13インチPC対応　／　千百六十グラム　／　返品送料無料</a:t>
            </a:r>
            <a:pPr indent="0" marL="0">
              <a:lnSpc>
                <a:spcPct val="134000"/>
              </a:lnSpc>
              <a:buNone/>
            </a:pPr>
            <a:endParaRPr lang="en-US" sz="713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713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三品番＝ロワイヤルMトート・ベルシートート・Lジップ</a:t>
            </a:r>
            <a:endParaRPr lang="en-US" sz="713" dirty="0"/>
          </a:p>
        </p:txBody>
      </p:sp>
      <p:sp>
        <p:nvSpPr>
          <p:cNvPr id="17" name="Text 15"/>
          <p:cNvSpPr/>
          <p:nvPr/>
        </p:nvSpPr>
        <p:spPr>
          <a:xfrm>
            <a:off x="3749040" y="155448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 質感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0-6秒</a:t>
            </a:r>
            <a:endParaRPr lang="en-US" sz="1050" dirty="0"/>
          </a:p>
        </p:txBody>
      </p:sp>
      <p:pic>
        <p:nvPicPr>
          <p:cNvPr id="18" name="Image 0" descr="/home/user/dougaseisaku/assets/ref4/7_S1_01_モノクロのファスナー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764024" y="1554480"/>
            <a:ext cx="2259482" cy="678942"/>
          </a:xfrm>
          <a:prstGeom prst="rect">
            <a:avLst/>
          </a:prstGeom>
        </p:spPr>
      </p:pic>
      <p:sp>
        <p:nvSpPr>
          <p:cNvPr id="19" name="Shape 16"/>
          <p:cNvSpPr/>
          <p:nvPr/>
        </p:nvSpPr>
        <p:spPr>
          <a:xfrm>
            <a:off x="4764024" y="155448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764024" y="226999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超マクロ・</a:t>
            </a:r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モノクロ</a:t>
            </a:r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。ファスナーの歯</a:t>
            </a:r>
            <a:endParaRPr lang="en-US" sz="720" dirty="0"/>
          </a:p>
        </p:txBody>
      </p:sp>
      <p:pic>
        <p:nvPicPr>
          <p:cNvPr id="21" name="Image 1" descr="/home/user/dougaseisaku/assets/ref4/7_S1_02_型押しの質感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7142378" y="1554480"/>
            <a:ext cx="2259482" cy="678942"/>
          </a:xfrm>
          <a:prstGeom prst="rect">
            <a:avLst/>
          </a:prstGeom>
        </p:spPr>
      </p:pic>
      <p:sp>
        <p:nvSpPr>
          <p:cNvPr id="22" name="Shape 18"/>
          <p:cNvSpPr/>
          <p:nvPr/>
        </p:nvSpPr>
        <p:spPr>
          <a:xfrm>
            <a:off x="7142378" y="155448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7142378" y="226999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型押しのロゴ、ハンドルの付け根</a:t>
            </a:r>
            <a:endParaRPr lang="en-US" sz="720" dirty="0"/>
          </a:p>
        </p:txBody>
      </p:sp>
      <p:pic>
        <p:nvPicPr>
          <p:cNvPr id="24" name="Image 2" descr="/home/user/dougaseisaku/assets/ref4/7_S1_03_白い台に鞄.jp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9520733" y="1554480"/>
            <a:ext cx="2259482" cy="678942"/>
          </a:xfrm>
          <a:prstGeom prst="rect">
            <a:avLst/>
          </a:prstGeom>
        </p:spPr>
      </p:pic>
      <p:sp>
        <p:nvSpPr>
          <p:cNvPr id="25" name="Shape 20"/>
          <p:cNvSpPr/>
          <p:nvPr/>
        </p:nvSpPr>
        <p:spPr>
          <a:xfrm>
            <a:off x="9520733" y="155448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9520733" y="226999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引く。</a:t>
            </a:r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カラーに変わる。</a:t>
            </a:r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白い台に鞄が一つ</a:t>
            </a:r>
            <a:endParaRPr lang="en-US" sz="720" dirty="0"/>
          </a:p>
        </p:txBody>
      </p:sp>
      <p:sp>
        <p:nvSpPr>
          <p:cNvPr id="27" name="Text 22"/>
          <p:cNvSpPr/>
          <p:nvPr/>
        </p:nvSpPr>
        <p:spPr>
          <a:xfrm>
            <a:off x="3749040" y="277749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 入れる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6-16秒</a:t>
            </a:r>
            <a:endParaRPr lang="en-US" sz="1050" dirty="0"/>
          </a:p>
        </p:txBody>
      </p:sp>
      <p:pic>
        <p:nvPicPr>
          <p:cNvPr id="28" name="Image 3" descr="/home/user/dougaseisaku/assets/ref4/7_S2_03_PCを入れる.jp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4764024" y="2777490"/>
            <a:ext cx="2259482" cy="678942"/>
          </a:xfrm>
          <a:prstGeom prst="rect">
            <a:avLst/>
          </a:prstGeom>
        </p:spPr>
      </p:pic>
      <p:sp>
        <p:nvSpPr>
          <p:cNvPr id="29" name="Shape 23"/>
          <p:cNvSpPr/>
          <p:nvPr/>
        </p:nvSpPr>
        <p:spPr>
          <a:xfrm>
            <a:off x="4764024" y="277749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4"/>
          <p:cNvSpPr/>
          <p:nvPr/>
        </p:nvSpPr>
        <p:spPr>
          <a:xfrm>
            <a:off x="4764024" y="349300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正面固定。A4書類とノートPCを入れる</a:t>
            </a:r>
            <a:endParaRPr lang="en-US" sz="720" dirty="0"/>
          </a:p>
        </p:txBody>
      </p:sp>
      <p:pic>
        <p:nvPicPr>
          <p:cNvPr id="31" name="Image 4" descr="/home/user/dougaseisaku/assets/ref4/7_S2_01_入れていく.jpg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7142378" y="2777490"/>
            <a:ext cx="2259482" cy="678942"/>
          </a:xfrm>
          <a:prstGeom prst="rect">
            <a:avLst/>
          </a:prstGeom>
        </p:spPr>
      </p:pic>
      <p:sp>
        <p:nvSpPr>
          <p:cNvPr id="32" name="Shape 25"/>
          <p:cNvSpPr/>
          <p:nvPr/>
        </p:nvSpPr>
        <p:spPr>
          <a:xfrm>
            <a:off x="7142378" y="277749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3" name="Text 26"/>
          <p:cNvSpPr/>
          <p:nvPr/>
        </p:nvSpPr>
        <p:spPr>
          <a:xfrm>
            <a:off x="7142378" y="349300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同じ画角。手帳・鍵・サングラス。</a:t>
            </a:r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顔は入れない</a:t>
            </a:r>
            <a:endParaRPr lang="en-US" sz="720" dirty="0"/>
          </a:p>
        </p:txBody>
      </p:sp>
      <p:pic>
        <p:nvPicPr>
          <p:cNvPr id="34" name="Image 5" descr="/home/user/dougaseisaku/assets/ref4/7_S2_02_小物を入れる.jpg">    </p:cNvPr>
          <p:cNvPicPr>
            <a:picLocks noChangeAspect="1"/>
          </p:cNvPicPr>
          <p:nvPr/>
        </p:nvPicPr>
        <p:blipFill>
          <a:blip r:embed="rId8"/>
          <a:srcRect l="0" r="0" t="0" b="0"/>
          <a:stretch/>
        </p:blipFill>
        <p:spPr>
          <a:xfrm>
            <a:off x="9520733" y="2777490"/>
            <a:ext cx="2259482" cy="678942"/>
          </a:xfrm>
          <a:prstGeom prst="rect">
            <a:avLst/>
          </a:prstGeom>
        </p:spPr>
      </p:pic>
      <p:sp>
        <p:nvSpPr>
          <p:cNvPr id="35" name="Shape 27"/>
          <p:cNvSpPr/>
          <p:nvPr/>
        </p:nvSpPr>
        <p:spPr>
          <a:xfrm>
            <a:off x="9520733" y="277749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6" name="Text 28"/>
          <p:cNvSpPr/>
          <p:nvPr/>
        </p:nvSpPr>
        <p:spPr>
          <a:xfrm>
            <a:off x="9520733" y="349300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同じ画角。ペン・小物。入れる音を一つずつ拾う</a:t>
            </a:r>
            <a:endParaRPr lang="en-US" sz="720" dirty="0"/>
          </a:p>
        </p:txBody>
      </p:sp>
      <p:sp>
        <p:nvSpPr>
          <p:cNvPr id="37" name="Text 29"/>
          <p:cNvSpPr/>
          <p:nvPr/>
        </p:nvSpPr>
        <p:spPr>
          <a:xfrm>
            <a:off x="3749040" y="400050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 持ち上げる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16-20秒</a:t>
            </a:r>
            <a:endParaRPr lang="en-US" sz="1050" dirty="0"/>
          </a:p>
        </p:txBody>
      </p:sp>
      <p:pic>
        <p:nvPicPr>
          <p:cNvPr id="38" name="Image 6" descr="/home/user/dougaseisaku/assets/ref4/7_S3_01_持ち上げる.jpg">    </p:cNvPr>
          <p:cNvPicPr>
            <a:picLocks noChangeAspect="1"/>
          </p:cNvPicPr>
          <p:nvPr/>
        </p:nvPicPr>
        <p:blipFill>
          <a:blip r:embed="rId9"/>
          <a:srcRect l="0" r="0" t="0" b="0"/>
          <a:stretch/>
        </p:blipFill>
        <p:spPr>
          <a:xfrm>
            <a:off x="4764024" y="4000500"/>
            <a:ext cx="2259482" cy="678942"/>
          </a:xfrm>
          <a:prstGeom prst="rect">
            <a:avLst/>
          </a:prstGeom>
        </p:spPr>
      </p:pic>
      <p:sp>
        <p:nvSpPr>
          <p:cNvPr id="39" name="Shape 30"/>
          <p:cNvSpPr/>
          <p:nvPr/>
        </p:nvSpPr>
        <p:spPr>
          <a:xfrm>
            <a:off x="4764024" y="400050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0" name="Text 31"/>
          <p:cNvSpPr/>
          <p:nvPr/>
        </p:nvSpPr>
        <p:spPr>
          <a:xfrm>
            <a:off x="4764024" y="471601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片手で持ち上げる。</a:t>
            </a:r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軽さを動作で見せる</a:t>
            </a:r>
            <a:endParaRPr lang="en-US" sz="720" dirty="0"/>
          </a:p>
        </p:txBody>
      </p:sp>
      <p:sp>
        <p:nvSpPr>
          <p:cNvPr id="41" name="Shape 32"/>
          <p:cNvSpPr/>
          <p:nvPr/>
        </p:nvSpPr>
        <p:spPr>
          <a:xfrm>
            <a:off x="7142378" y="400050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42" name="Text 33"/>
          <p:cNvSpPr/>
          <p:nvPr/>
        </p:nvSpPr>
        <p:spPr>
          <a:xfrm>
            <a:off x="7142378" y="400050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43" name="Text 34"/>
          <p:cNvSpPr/>
          <p:nvPr/>
        </p:nvSpPr>
        <p:spPr>
          <a:xfrm>
            <a:off x="7142378" y="471601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肩にかける。台は動かさない</a:t>
            </a:r>
            <a:endParaRPr lang="en-US" sz="720" dirty="0"/>
          </a:p>
        </p:txBody>
      </p:sp>
      <p:sp>
        <p:nvSpPr>
          <p:cNvPr id="44" name="Text 35"/>
          <p:cNvSpPr/>
          <p:nvPr/>
        </p:nvSpPr>
        <p:spPr>
          <a:xfrm>
            <a:off x="3749040" y="522351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S4 残る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20-25秒</a:t>
            </a:r>
            <a:endParaRPr lang="en-US" sz="1050" dirty="0"/>
          </a:p>
        </p:txBody>
      </p:sp>
      <p:pic>
        <p:nvPicPr>
          <p:cNvPr id="45" name="Image 7" descr="/home/user/dougaseisaku/assets/ref4/7_S4_01_鞄だけが残る.jpg">    </p:cNvPr>
          <p:cNvPicPr>
            <a:picLocks noChangeAspect="1"/>
          </p:cNvPicPr>
          <p:nvPr/>
        </p:nvPicPr>
        <p:blipFill>
          <a:blip r:embed="rId10"/>
          <a:srcRect l="0" r="0" t="0" b="0"/>
          <a:stretch/>
        </p:blipFill>
        <p:spPr>
          <a:xfrm>
            <a:off x="4764024" y="5223510"/>
            <a:ext cx="2259482" cy="678942"/>
          </a:xfrm>
          <a:prstGeom prst="rect">
            <a:avLst/>
          </a:prstGeom>
        </p:spPr>
      </p:pic>
      <p:sp>
        <p:nvSpPr>
          <p:cNvPr id="46" name="Shape 36"/>
          <p:cNvSpPr/>
          <p:nvPr/>
        </p:nvSpPr>
        <p:spPr>
          <a:xfrm>
            <a:off x="4764024" y="522351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7" name="Text 37"/>
          <p:cNvSpPr/>
          <p:nvPr/>
        </p:nvSpPr>
        <p:spPr>
          <a:xfrm>
            <a:off x="4764024" y="593902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人がフレームから出る。</a:t>
            </a:r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鞄だけが残る</a:t>
            </a:r>
            <a:endParaRPr lang="en-US" sz="720" dirty="0"/>
          </a:p>
        </p:txBody>
      </p:sp>
      <p:pic>
        <p:nvPicPr>
          <p:cNvPr id="48" name="Image 8" descr="/home/user/dougaseisaku/assets/ref4/7_S4_02_テロップ.jpg">    </p:cNvPr>
          <p:cNvPicPr>
            <a:picLocks noChangeAspect="1"/>
          </p:cNvPicPr>
          <p:nvPr/>
        </p:nvPicPr>
        <p:blipFill>
          <a:blip r:embed="rId11"/>
          <a:srcRect l="0" r="0" t="0" b="0"/>
          <a:stretch/>
        </p:blipFill>
        <p:spPr>
          <a:xfrm>
            <a:off x="7142378" y="5223510"/>
            <a:ext cx="2259482" cy="678942"/>
          </a:xfrm>
          <a:prstGeom prst="rect">
            <a:avLst/>
          </a:prstGeom>
        </p:spPr>
      </p:pic>
      <p:sp>
        <p:nvSpPr>
          <p:cNvPr id="49" name="Shape 38"/>
          <p:cNvSpPr/>
          <p:nvPr/>
        </p:nvSpPr>
        <p:spPr>
          <a:xfrm>
            <a:off x="7142378" y="522351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50" name="Text 39"/>
          <p:cNvSpPr/>
          <p:nvPr/>
        </p:nvSpPr>
        <p:spPr>
          <a:xfrm>
            <a:off x="7142378" y="593902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 → ロゴ</a:t>
            </a:r>
            <a:endParaRPr lang="en-US" sz="720" dirty="0"/>
          </a:p>
        </p:txBody>
      </p:sp>
      <p:sp>
        <p:nvSpPr>
          <p:cNvPr id="51" name="Text 40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52" name="Text 41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 / 10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4747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08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11480" y="530352"/>
            <a:ext cx="5989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購入者インタビュー（仮タイトル）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11480" y="969264"/>
            <a:ext cx="5989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Customer Interview (Title TBD)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583680" y="347472"/>
            <a:ext cx="51965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尺・ショット数＝未定（インタビュー形式）</a:t>
            </a:r>
            <a:endParaRPr lang="en-US" sz="1100" dirty="0"/>
          </a:p>
          <a:p>
            <a:pPr algn="r" indent="0" marL="0">
              <a:lnSpc>
                <a:spcPct val="135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対象＝購入を迷っている新規　／　EC商品ページ・レビュー欄・Instagram（仮）</a:t>
            </a:r>
            <a:endParaRPr lang="en-US" sz="1100" dirty="0"/>
          </a:p>
          <a:p>
            <a:pPr algn="r"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参考動画＝未定。</a:t>
            </a:r>
            <a:pPr algn="r" indent="0" marL="0">
              <a:lnSpc>
                <a:spcPct val="135000"/>
              </a:lnSpc>
              <a:buNone/>
            </a:pPr>
            <a:r>
              <a:rPr lang="en-US" sz="800" b="1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購入者インタビュー型</a:t>
            </a:r>
            <a:pPr algn="r"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を推奨（顔出しの可否・質問内容は未定）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11480" y="1426464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1554480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411480" y="1755648"/>
            <a:ext cx="3063240" cy="15987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参考動画・具体的な演出はまだ未定。商品説明を人が語らない他の七本とは違い、</a:t>
            </a:r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買った人自身の言葉で語ってもらう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唯一の一本になる見込み。</a:t>
            </a:r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決めること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：誰に聞くか（既存の購入者にお願いするか、社内の方に使用者として話してもらうか）、顔出しの範囲、質問内容、撮影場所。これらが決まり次第、絵コンテを本設計に差し替える。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411480" y="3555553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411480" y="3756721"/>
            <a:ext cx="3063240" cy="7196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他の七本が「見せる」動画なのに対し、これだけが「聞く」動画。買った人自身の言葉で語ってもらう。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11480" y="4677522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決 め る こ と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411480" y="4878690"/>
            <a:ext cx="3063240" cy="4788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87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出演者・顔出しの範囲・質問内容・撮影場所。これらが決まり次第、絵コンテを本設計に差し替えます。</a:t>
            </a:r>
            <a:endParaRPr lang="en-US" sz="870" dirty="0"/>
          </a:p>
        </p:txBody>
      </p:sp>
      <p:sp>
        <p:nvSpPr>
          <p:cNvPr id="13" name="Text 11"/>
          <p:cNvSpPr/>
          <p:nvPr/>
        </p:nvSpPr>
        <p:spPr>
          <a:xfrm>
            <a:off x="3749040" y="155448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 導入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秒数未定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764024" y="155448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15" name="Text 13"/>
          <p:cNvSpPr/>
          <p:nvPr/>
        </p:nvSpPr>
        <p:spPr>
          <a:xfrm>
            <a:off x="4764024" y="155448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4764024" y="226999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日常の中で迎える（来店・使用シーンなど）</a:t>
            </a:r>
            <a:endParaRPr lang="en-US" sz="720" dirty="0"/>
          </a:p>
        </p:txBody>
      </p:sp>
      <p:sp>
        <p:nvSpPr>
          <p:cNvPr id="17" name="Shape 15"/>
          <p:cNvSpPr/>
          <p:nvPr/>
        </p:nvSpPr>
        <p:spPr>
          <a:xfrm>
            <a:off x="7142378" y="155448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18" name="Text 16"/>
          <p:cNvSpPr/>
          <p:nvPr/>
        </p:nvSpPr>
        <p:spPr>
          <a:xfrm>
            <a:off x="7142378" y="155448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19" name="Text 17"/>
          <p:cNvSpPr/>
          <p:nvPr/>
        </p:nvSpPr>
        <p:spPr>
          <a:xfrm>
            <a:off x="7142378" y="226999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名前は出さず「使っている人」として自己紹介</a:t>
            </a:r>
            <a:endParaRPr lang="en-US" sz="720" dirty="0"/>
          </a:p>
        </p:txBody>
      </p:sp>
      <p:sp>
        <p:nvSpPr>
          <p:cNvPr id="20" name="Shape 18"/>
          <p:cNvSpPr/>
          <p:nvPr/>
        </p:nvSpPr>
        <p:spPr>
          <a:xfrm>
            <a:off x="9520733" y="155448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9520733" y="155448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9520733" y="226999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手元のBROOKLYNの鞄が画面に入る</a:t>
            </a:r>
            <a:endParaRPr lang="en-US" sz="720" dirty="0"/>
          </a:p>
        </p:txBody>
      </p:sp>
      <p:sp>
        <p:nvSpPr>
          <p:cNvPr id="23" name="Text 21"/>
          <p:cNvSpPr/>
          <p:nvPr/>
        </p:nvSpPr>
        <p:spPr>
          <a:xfrm>
            <a:off x="3749040" y="277749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 質問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秒数未定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764024" y="277749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4764024" y="277749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4764024" y="349300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「なぜこれを選んだか」を聞く</a:t>
            </a:r>
            <a:endParaRPr lang="en-US" sz="720" dirty="0"/>
          </a:p>
        </p:txBody>
      </p:sp>
      <p:sp>
        <p:nvSpPr>
          <p:cNvPr id="27" name="Shape 25"/>
          <p:cNvSpPr/>
          <p:nvPr/>
        </p:nvSpPr>
        <p:spPr>
          <a:xfrm>
            <a:off x="7142378" y="277749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7142378" y="277749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7142378" y="349300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実際に使っているシーンを見せながら答えてもらう</a:t>
            </a:r>
            <a:endParaRPr lang="en-US" sz="720" dirty="0"/>
          </a:p>
        </p:txBody>
      </p:sp>
      <p:sp>
        <p:nvSpPr>
          <p:cNvPr id="30" name="Shape 28"/>
          <p:cNvSpPr/>
          <p:nvPr/>
        </p:nvSpPr>
        <p:spPr>
          <a:xfrm>
            <a:off x="9520733" y="277749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9520733" y="277749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9520733" y="349300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良かった点を具体的なエピソードで語ってもらう</a:t>
            </a:r>
            <a:endParaRPr lang="en-US" sz="720" dirty="0"/>
          </a:p>
        </p:txBody>
      </p:sp>
      <p:sp>
        <p:nvSpPr>
          <p:cNvPr id="33" name="Text 31"/>
          <p:cNvSpPr/>
          <p:nvPr/>
        </p:nvSpPr>
        <p:spPr>
          <a:xfrm>
            <a:off x="3749040" y="400050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 本音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秒数未定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4764024" y="400050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4764024" y="400050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4764024" y="471601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購入前に迷っていた話</a:t>
            </a:r>
            <a:endParaRPr lang="en-US" sz="720" dirty="0"/>
          </a:p>
        </p:txBody>
      </p:sp>
      <p:sp>
        <p:nvSpPr>
          <p:cNvPr id="37" name="Shape 35"/>
          <p:cNvSpPr/>
          <p:nvPr/>
        </p:nvSpPr>
        <p:spPr>
          <a:xfrm>
            <a:off x="7142378" y="400050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38" name="Text 36"/>
          <p:cNvSpPr/>
          <p:nvPr/>
        </p:nvSpPr>
        <p:spPr>
          <a:xfrm>
            <a:off x="7142378" y="400050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39" name="Text 37"/>
          <p:cNvSpPr/>
          <p:nvPr/>
        </p:nvSpPr>
        <p:spPr>
          <a:xfrm>
            <a:off x="7142378" y="471601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買ってから変わったことを一言で</a:t>
            </a:r>
            <a:endParaRPr lang="en-US" sz="720" dirty="0"/>
          </a:p>
        </p:txBody>
      </p:sp>
      <p:sp>
        <p:nvSpPr>
          <p:cNvPr id="40" name="Shape 38"/>
          <p:cNvSpPr/>
          <p:nvPr/>
        </p:nvSpPr>
        <p:spPr>
          <a:xfrm>
            <a:off x="9520733" y="400050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41" name="Text 39"/>
          <p:cNvSpPr/>
          <p:nvPr/>
        </p:nvSpPr>
        <p:spPr>
          <a:xfrm>
            <a:off x="9520733" y="400050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9520733" y="471601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表情のアップ。台本にない一言を拾う</a:t>
            </a:r>
            <a:endParaRPr lang="en-US" sz="720" dirty="0"/>
          </a:p>
        </p:txBody>
      </p:sp>
      <p:sp>
        <p:nvSpPr>
          <p:cNvPr id="43" name="Text 41"/>
          <p:cNvSpPr/>
          <p:nvPr/>
        </p:nvSpPr>
        <p:spPr>
          <a:xfrm>
            <a:off x="3749040" y="522351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S4 締め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秒数未定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4764024" y="522351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4764024" y="522351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46" name="Text 44"/>
          <p:cNvSpPr/>
          <p:nvPr/>
        </p:nvSpPr>
        <p:spPr>
          <a:xfrm>
            <a:off x="4764024" y="593902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鞄を持って歩き出す後ろ姿</a:t>
            </a:r>
            <a:endParaRPr lang="en-US" sz="720" dirty="0"/>
          </a:p>
        </p:txBody>
      </p:sp>
      <p:sp>
        <p:nvSpPr>
          <p:cNvPr id="47" name="Shape 45"/>
          <p:cNvSpPr/>
          <p:nvPr/>
        </p:nvSpPr>
        <p:spPr>
          <a:xfrm>
            <a:off x="7142378" y="522351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48" name="Text 46"/>
          <p:cNvSpPr/>
          <p:nvPr/>
        </p:nvSpPr>
        <p:spPr>
          <a:xfrm>
            <a:off x="7142378" y="522351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49" name="Text 47"/>
          <p:cNvSpPr/>
          <p:nvPr/>
        </p:nvSpPr>
        <p:spPr>
          <a:xfrm>
            <a:off x="7142378" y="593902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 → ロゴ</a:t>
            </a:r>
            <a:endParaRPr lang="en-US" sz="720" dirty="0"/>
          </a:p>
        </p:txBody>
      </p:sp>
      <p:sp>
        <p:nvSpPr>
          <p:cNvPr id="50" name="Text 48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 / 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eiryo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eiryo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2026-09-04T01:23:21Z</dcterms:created>
  <dcterms:modified xsi:type="dcterms:W3CDTF">2026-09-04T01:23:21Z</dcterms:modified>
</cp:coreProperties>
</file>