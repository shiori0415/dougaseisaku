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://youtube.com/shorts/c2mH8rStFCA" TargetMode="External"/><Relationship Id="rId3" Type="http://schemas.openxmlformats.org/officeDocument/2006/relationships/hyperlink" Target="https://www.instagram.com/reel/DbAniDDyF0U/" TargetMode="External"/><Relationship Id="rId4" Type="http://schemas.openxmlformats.org/officeDocument/2006/relationships/hyperlink" Target="https://www.instagram.com/reels/DWiwFp5DED-/" TargetMode="External"/><Relationship Id="rId5" Type="http://schemas.openxmlformats.org/officeDocument/2006/relationships/hyperlink" Target="https://www.instagram.com/reels/DcOkNyyoFFJ/" TargetMode="External"/><Relationship Id="rId6" Type="http://schemas.openxmlformats.org/officeDocument/2006/relationships/hyperlink" Target="https://www.instagram.com/reel/DaxjHnkB62p/" TargetMode="External"/><Relationship Id="rId7" Type="http://schemas.openxmlformats.org/officeDocument/2006/relationships/hyperlink" Target="https://www.youtube.com/watch?v=4DEy0CAg43s" TargetMode="External"/><Relationship Id="rId8" Type="http://schemas.openxmlformats.org/officeDocument/2006/relationships/hyperlink" Target="https://youtu.be/OU-qyAcn2YM" TargetMode="External"/><Relationship Id="rId9" Type="http://schemas.openxmlformats.org/officeDocument/2006/relationships/hyperlink" Target="https://youtu.be/OPDWrOeD-gU" TargetMode="External"/><Relationship Id="rId10" Type="http://schemas.openxmlformats.org/officeDocument/2006/relationships/hyperlink" Target="https://www.instagram.com/reel/DZE-_hZuwXb/" TargetMode="External"/><Relationship Id="rId11" Type="http://schemas.openxmlformats.org/officeDocument/2006/relationships/hyperlink" Target="https://www.instagram.com/reel/DaorwuKvWAj/" TargetMode="Externa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image" Target="../media/image-3-7.jpg"/><Relationship Id="rId9" Type="http://schemas.openxmlformats.org/officeDocument/2006/relationships/image" Target="../media/image-3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4-1.jpg"/><Relationship Id="rId4" Type="http://schemas.openxmlformats.org/officeDocument/2006/relationships/image" Target="../media/image-4-2.jpg"/><Relationship Id="rId5" Type="http://schemas.openxmlformats.org/officeDocument/2006/relationships/image" Target="../media/image-4-3.jpg"/><Relationship Id="rId6" Type="http://schemas.openxmlformats.org/officeDocument/2006/relationships/image" Target="../media/image-4-4.jpg"/><Relationship Id="rId7" Type="http://schemas.openxmlformats.org/officeDocument/2006/relationships/image" Target="../media/image-4-5.jpg"/><Relationship Id="rId8" Type="http://schemas.openxmlformats.org/officeDocument/2006/relationships/image" Target="../media/image-4-6.jpg"/><Relationship Id="rId9" Type="http://schemas.openxmlformats.org/officeDocument/2006/relationships/image" Target="../media/image-4-7.jpg"/><Relationship Id="rId10" Type="http://schemas.openxmlformats.org/officeDocument/2006/relationships/image" Target="../media/image-4-8.jpg"/><Relationship Id="rId11" Type="http://schemas.openxmlformats.org/officeDocument/2006/relationships/image" Target="../media/image-4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image" Target="../media/image-5-5.jpg"/><Relationship Id="rId7" Type="http://schemas.openxmlformats.org/officeDocument/2006/relationships/image" Target="../media/image-5-6.jpg"/><Relationship Id="rId8" Type="http://schemas.openxmlformats.org/officeDocument/2006/relationships/image" Target="../media/image-5-7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6-1.jpg"/><Relationship Id="rId4" Type="http://schemas.openxmlformats.org/officeDocument/2006/relationships/image" Target="../media/image-6-2.jpg"/><Relationship Id="rId5" Type="http://schemas.openxmlformats.org/officeDocument/2006/relationships/image" Target="../media/image-6-3.jpg"/><Relationship Id="rId6" Type="http://schemas.openxmlformats.org/officeDocument/2006/relationships/image" Target="../media/image-6-4.jpg"/><Relationship Id="rId7" Type="http://schemas.openxmlformats.org/officeDocument/2006/relationships/image" Target="../media/image-6-5.jpg"/><Relationship Id="rId8" Type="http://schemas.openxmlformats.org/officeDocument/2006/relationships/image" Target="../media/image-6-6.jpg"/><Relationship Id="rId9" Type="http://schemas.openxmlformats.org/officeDocument/2006/relationships/image" Target="../media/image-6-7.jpg"/><Relationship Id="rId10" Type="http://schemas.openxmlformats.org/officeDocument/2006/relationships/image" Target="../media/image-6-8.jp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7-1.jpg"/><Relationship Id="rId5" Type="http://schemas.openxmlformats.org/officeDocument/2006/relationships/image" Target="../media/image-7-2.jpg"/><Relationship Id="rId6" Type="http://schemas.openxmlformats.org/officeDocument/2006/relationships/image" Target="../media/image-7-3.jpg"/><Relationship Id="rId7" Type="http://schemas.openxmlformats.org/officeDocument/2006/relationships/image" Target="../media/image-7-4.jpg"/><Relationship Id="rId8" Type="http://schemas.openxmlformats.org/officeDocument/2006/relationships/image" Target="../media/image-7-5.jpg"/><Relationship Id="rId9" Type="http://schemas.openxmlformats.org/officeDocument/2006/relationships/image" Target="../media/image-7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9-1.jpg"/><Relationship Id="rId4" Type="http://schemas.openxmlformats.org/officeDocument/2006/relationships/image" Target="../media/image-9-2.jpg"/><Relationship Id="rId5" Type="http://schemas.openxmlformats.org/officeDocument/2006/relationships/image" Target="../media/image-9-3.jpg"/><Relationship Id="rId6" Type="http://schemas.openxmlformats.org/officeDocument/2006/relationships/image" Target="../media/image-9-4.jpg"/><Relationship Id="rId7" Type="http://schemas.openxmlformats.org/officeDocument/2006/relationships/image" Target="../media/image-9-5.jpg"/><Relationship Id="rId8" Type="http://schemas.openxmlformats.org/officeDocument/2006/relationships/image" Target="../media/image-9-6.jpg"/><Relationship Id="rId9" Type="http://schemas.openxmlformats.org/officeDocument/2006/relationships/image" Target="../media/image-9-7.jpg"/><Relationship Id="rId10" Type="http://schemas.openxmlformats.org/officeDocument/2006/relationships/image" Target="../media/image-9-8.jpg"/><Relationship Id="rId11" Type="http://schemas.openxmlformats.org/officeDocument/2006/relationships/image" Target="../media/image-9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2026年9月3日　第4版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1〜5本目と7本目は参考動画があり、絵コンテの写真もそこから抜いています。6・8本目は参考動画・詳細をいただき次第、同じ形式で内容を確定します。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今日の服に、合う色。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Royale M Tote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ロワイヤルMトートの作りかた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絵になる日常を。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Everyday, Worth a Frame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仕事道具として買う人・贈る人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（parisawangny・メイン）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（yifan.liii × COACH）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1979年から、東京で。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Since 1979, Tokyo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 ×1／60秒短縮版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9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つくる、確かめる、包む。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Make. Check. Pack.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参考動画：未定（工場見学ワンテイク型を推奨）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HURRY UP.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急ぐ朝ほど、迷わない。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×3品番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0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購入者インタビュー（仮タイトル）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 (Title TBD)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尺・ショット数＝未定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参考動画：未定（購入者インタビュー型を推奨）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054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010891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12059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3941750"/>
            <a:ext cx="3063240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6976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70934"/>
            <a:ext cx="2697480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4685614"/>
            <a:ext cx="2697480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528779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48896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0-4秒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玄関。財布をポケットに入れる（寄り）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ドアノブに手がかかる（超寄り）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0" descr="/home/user/dougaseisaku/assets/ref4/1_S1_03_玄関を出た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0465" y="1554480"/>
            <a:ext cx="1260018" cy="81473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ドアが開き、外へ出る（引き・逆光）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変わる①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4-9秒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0" name="Image 1" descr="/home/user/dougaseisaku/assets/ref4/1_S2_01_同じ画角で服が変わ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3756" y="2777490"/>
            <a:ext cx="1260018" cy="81473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同じ画角のまま服が変わっている。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小物の色も変わる</a:t>
            </a:r>
            <a:endParaRPr lang="en-US" sz="720" dirty="0"/>
          </a:p>
        </p:txBody>
      </p:sp>
      <p:sp>
        <p:nvSpPr>
          <p:cNvPr id="33" name="Shape 29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4" name="Image 2" descr="/home/user/dougaseisaku/assets/ref4/1_S2_02_通り過ぎてトランジション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110" y="2777490"/>
            <a:ext cx="1260018" cy="814730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車が横切る → 抜けたら別の服・別の色</a:t>
            </a:r>
            <a:endParaRPr lang="en-US" sz="720" dirty="0"/>
          </a:p>
        </p:txBody>
      </p:sp>
      <p:sp>
        <p:nvSpPr>
          <p:cNvPr id="37" name="Shape 32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8" name="Image 3" descr="/home/user/dougaseisaku/assets/ref4/1_S2_03_別の色の小物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0465" y="2777490"/>
            <a:ext cx="1260018" cy="814730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手元の小物だけに寄る（キャメル）</a:t>
            </a:r>
            <a:endParaRPr lang="en-US" sz="720" dirty="0"/>
          </a:p>
        </p:txBody>
      </p:sp>
      <p:sp>
        <p:nvSpPr>
          <p:cNvPr id="41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変わる②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9-15秒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3" name="Image 4" descr="/home/user/dougaseisaku/assets/ref4/1_S3_01_さらに別の色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3756" y="4000500"/>
            <a:ext cx="1260018" cy="814730"/>
          </a:xfrm>
          <a:prstGeom prst="rect">
            <a:avLst/>
          </a:prstGeom>
        </p:spPr>
      </p:pic>
      <p:sp>
        <p:nvSpPr>
          <p:cNvPr id="44" name="Shape 37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 → 抜けたら変わっている</a:t>
            </a:r>
            <a:endParaRPr lang="en-US" sz="720" dirty="0"/>
          </a:p>
        </p:txBody>
      </p:sp>
      <p:sp>
        <p:nvSpPr>
          <p:cNvPr id="46" name="Shape 39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7" name="Image 5" descr="/home/user/dougaseisaku/assets/ref4/1_S3_02_建物内で変わ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2110" y="4000500"/>
            <a:ext cx="1260018" cy="814730"/>
          </a:xfrm>
          <a:prstGeom prst="rect">
            <a:avLst/>
          </a:prstGeom>
        </p:spPr>
      </p:pic>
      <p:sp>
        <p:nvSpPr>
          <p:cNvPr id="48" name="Shape 40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9" name="Text 41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エスカレーターを上がりきると変わっている</a:t>
            </a:r>
            <a:endParaRPr lang="en-US" sz="720" dirty="0"/>
          </a:p>
        </p:txBody>
      </p:sp>
      <p:sp>
        <p:nvSpPr>
          <p:cNvPr id="50" name="Shape 42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1" name="Text 43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2" name="Text 44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歩く足元（ロー）。手元の色だけが見える</a:t>
            </a:r>
            <a:endParaRPr lang="en-US" sz="720" dirty="0"/>
          </a:p>
        </p:txBody>
      </p:sp>
      <p:sp>
        <p:nvSpPr>
          <p:cNvPr id="53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到着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15-20秒</a:t>
            </a:r>
            <a:endParaRPr lang="en-US" sz="1050" dirty="0"/>
          </a:p>
        </p:txBody>
      </p:sp>
      <p:sp>
        <p:nvSpPr>
          <p:cNvPr id="54" name="Shape 46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5" name="Image 6" descr="/home/user/dougaseisaku/assets/ref4/1_S4_01_到着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3756" y="5223510"/>
            <a:ext cx="1260018" cy="81473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7" name="Text 48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会社のエントランス。ここが到着点</a:t>
            </a:r>
            <a:endParaRPr lang="en-US" sz="720" dirty="0"/>
          </a:p>
        </p:txBody>
      </p:sp>
      <p:sp>
        <p:nvSpPr>
          <p:cNvPr id="58" name="Shape 49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9" name="Image 7" descr="/home/user/dougaseisaku/assets/ref4/1_S4_02_全色が並ぶ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2110" y="5223510"/>
            <a:ext cx="1260018" cy="814730"/>
          </a:xfrm>
          <a:prstGeom prst="rect">
            <a:avLst/>
          </a:prstGeom>
        </p:spPr>
      </p:pic>
      <p:sp>
        <p:nvSpPr>
          <p:cNvPr id="60" name="Shape 50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61" name="Text 51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真俯瞰。四色が並ぶ</a:t>
            </a:r>
            <a:endParaRPr lang="en-US" sz="720" dirty="0"/>
          </a:p>
        </p:txBody>
      </p:sp>
      <p:sp>
        <p:nvSpPr>
          <p:cNvPr id="62" name="Shape 52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63" name="Text 53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64" name="Text 54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1.5秒 → ロゴ 0.5秒</a:t>
            </a:r>
            <a:endParaRPr lang="en-US" sz="720" dirty="0"/>
          </a:p>
        </p:txBody>
      </p:sp>
      <p:sp>
        <p:nvSpPr>
          <p:cNvPr id="65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6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10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836" dirty="0"/>
          </a:p>
        </p:txBody>
      </p:sp>
      <p:sp>
        <p:nvSpPr>
          <p:cNvPr id="9" name="Text 7"/>
          <p:cNvSpPr/>
          <p:nvPr/>
        </p:nvSpPr>
        <p:spPr>
          <a:xfrm>
            <a:off x="411480" y="303758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38754"/>
            <a:ext cx="3063240" cy="482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11480" y="3898438"/>
            <a:ext cx="3063240" cy="10886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2645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27622"/>
            <a:ext cx="2697480" cy="325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594360" y="4607903"/>
            <a:ext cx="2697480" cy="23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6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836" dirty="0"/>
          </a:p>
        </p:txBody>
      </p:sp>
      <p:sp>
        <p:nvSpPr>
          <p:cNvPr id="15" name="Text 13"/>
          <p:cNvSpPr/>
          <p:nvPr/>
        </p:nvSpPr>
        <p:spPr>
          <a:xfrm>
            <a:off x="411480" y="516415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365322"/>
            <a:ext cx="3063240" cy="73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76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0-3秒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2_S1_01_刃が革に入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6432" y="1554480"/>
            <a:ext cx="534667" cy="81473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超マクロ。刃が革に入る瞬間。何を見ているか分からない距離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「スッ」の一音だけ。BGMは鳴らさない</a:t>
            </a:r>
            <a:endParaRPr lang="en-US" sz="720" dirty="0"/>
          </a:p>
        </p:txBody>
      </p:sp>
      <p:sp>
        <p:nvSpPr>
          <p:cNvPr id="25" name="Text 22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切る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3-14秒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1" descr="/home/user/dougaseisaku/assets/ref4/2_S2_01_金属定規で直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6432" y="2777490"/>
            <a:ext cx="534667" cy="814730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金属定規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を当てて直線を一気に引く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2" descr="/home/user/dougaseisaku/assets/ref4/2_S2_02_角を丸く回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4786" y="2777490"/>
            <a:ext cx="534667" cy="814730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四十五度。角を丸く回して切る</a:t>
            </a:r>
            <a:endParaRPr lang="en-US" sz="720" dirty="0"/>
          </a:p>
        </p:txBody>
      </p:sp>
      <p:sp>
        <p:nvSpPr>
          <p:cNvPr id="34" name="Shape 29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3" descr="/home/user/dougaseisaku/assets/ref4/2_S2_03_作業台と職人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6779" y="2777490"/>
            <a:ext cx="807390" cy="814730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真俯瞰。作業台と職人の手全体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38" name="Text 32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縫う・塗る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14-31秒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0" name="Image 4" descr="/home/user/dougaseisaku/assets/ref4/2_S3_01_針と糸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6432" y="4000500"/>
            <a:ext cx="534667" cy="814730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真俯瞰。針が革を抜ける</a:t>
            </a:r>
            <a:endParaRPr lang="en-US" sz="720" dirty="0"/>
          </a:p>
        </p:txBody>
      </p:sp>
      <p:sp>
        <p:nvSpPr>
          <p:cNvPr id="43" name="Shape 36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4" name="Image 5" descr="/home/user/dougaseisaku/assets/ref4/2_S3_02_横から目のアップ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48992" y="4000500"/>
            <a:ext cx="846256" cy="814730"/>
          </a:xfrm>
          <a:prstGeom prst="rect">
            <a:avLst/>
          </a:prstGeom>
        </p:spPr>
      </p:pic>
      <p:sp>
        <p:nvSpPr>
          <p:cNvPr id="45" name="Shape 37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6" name="Text 38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横から。目だけのアップ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。顔全体は入れない</a:t>
            </a:r>
            <a:endParaRPr lang="en-US" sz="720" dirty="0"/>
          </a:p>
        </p:txBody>
      </p:sp>
      <p:sp>
        <p:nvSpPr>
          <p:cNvPr id="47" name="Shape 39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8" name="Image 6" descr="/home/user/dougaseisaku/assets/ref4/2_S3_03b_コバ塗り_ワンカット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50608" y="4000500"/>
            <a:ext cx="599732" cy="814730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 ★核。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塗った側と塗っていない側が同じ画面に入る。長回し・カットを割らない</a:t>
            </a:r>
            <a:endParaRPr lang="en-US" sz="720" dirty="0"/>
          </a:p>
        </p:txBody>
      </p:sp>
      <p:sp>
        <p:nvSpPr>
          <p:cNvPr id="51" name="Text 42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磨く・終わり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31-40秒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3" name="Image 7" descr="/home/user/dougaseisaku/assets/ref4/2_S4_01_仕上げ剤を取る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6432" y="5223510"/>
            <a:ext cx="534667" cy="814730"/>
          </a:xfrm>
          <a:prstGeom prst="rect">
            <a:avLst/>
          </a:prstGeom>
        </p:spPr>
      </p:pic>
      <p:sp>
        <p:nvSpPr>
          <p:cNvPr id="54" name="Shape 44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5" name="Text 45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超マクロ。コバを磨く。摩擦音</a:t>
            </a:r>
            <a:endParaRPr lang="en-US" sz="720" dirty="0"/>
          </a:p>
        </p:txBody>
      </p:sp>
      <p:sp>
        <p:nvSpPr>
          <p:cNvPr id="56" name="Shape 46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7" name="Text 47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8" name="Text 48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手が止まる。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職人の声が一言だけ入る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（台本なし）</a:t>
            </a:r>
            <a:endParaRPr lang="en-US" sz="720" dirty="0"/>
          </a:p>
        </p:txBody>
      </p:sp>
      <p:sp>
        <p:nvSpPr>
          <p:cNvPr id="59" name="Shape 49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60" name="Image 8" descr="/home/user/dougaseisaku/assets/ref4/2_S4_03_使われる場所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83141" y="5223510"/>
            <a:ext cx="534667" cy="814730"/>
          </a:xfrm>
          <a:prstGeom prst="rect">
            <a:avLst/>
          </a:prstGeom>
        </p:spPr>
      </p:pic>
      <p:sp>
        <p:nvSpPr>
          <p:cNvPr id="61" name="Shape 50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62" name="Text 51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使われている場所に置かれる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テロップ → ロゴ</a:t>
            </a:r>
            <a:endParaRPr lang="en-US" sz="720" dirty="0"/>
          </a:p>
        </p:txBody>
      </p:sp>
      <p:sp>
        <p:nvSpPr>
          <p:cNvPr id="63" name="Text 5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4" name="Text 5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闇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0-5秒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5" name="Image 0" descr="/home/user/dougaseisaku/assets/ref4/3_S1_02_黒の中の光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3756" y="1554480"/>
            <a:ext cx="1260018" cy="81473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真っ黒。細い光の帯が、革の断面だけを照らす</a:t>
            </a:r>
            <a:endParaRPr lang="en-US" sz="720" dirty="0"/>
          </a:p>
        </p:txBody>
      </p:sp>
      <p:sp>
        <p:nvSpPr>
          <p:cNvPr id="18" name="Shape 15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1" descr="/home/user/dougaseisaku/assets/ref4/3_S1_01_道具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2110" y="1554480"/>
            <a:ext cx="1260018" cy="81473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黒の上に道具だけが並ぶ（真俯瞰）</a:t>
            </a:r>
            <a:endParaRPr lang="en-US" sz="720" dirty="0"/>
          </a:p>
        </p:txBody>
      </p:sp>
      <p:sp>
        <p:nvSpPr>
          <p:cNvPr id="22" name="Shape 18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19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4" name="Text 20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無音から、低いBGMが立ち上がる</a:t>
            </a:r>
            <a:endParaRPr lang="en-US" sz="720" dirty="0"/>
          </a:p>
        </p:txBody>
      </p:sp>
      <p:sp>
        <p:nvSpPr>
          <p:cNvPr id="25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5-15秒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2" descr="/home/user/dougaseisaku/assets/ref4/3_S2_01_手で革を折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756" y="2777490"/>
            <a:ext cx="1260018" cy="81473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手だけ。革を折り、角を作る。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3" descr="/home/user/dougaseisaku/assets/ref4/3_S2_02_角を作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2110" y="2777490"/>
            <a:ext cx="1260018" cy="81473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角が立ち上がる（超マクロ）</a:t>
            </a:r>
            <a:endParaRPr lang="en-US" sz="720" dirty="0"/>
          </a:p>
        </p:txBody>
      </p:sp>
      <p:sp>
        <p:nvSpPr>
          <p:cNvPr id="34" name="Shape 28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4" descr="/home/user/dougaseisaku/assets/ref4/3_S2_03_白手袋と金具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20465" y="2777490"/>
            <a:ext cx="1260018" cy="814730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で金具を持ち、取り付ける。金属が触れる音</a:t>
            </a:r>
            <a:endParaRPr lang="en-US" sz="720" dirty="0"/>
          </a:p>
        </p:txBody>
      </p:sp>
      <p:sp>
        <p:nvSpPr>
          <p:cNvPr id="38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コバ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15-24秒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0" name="Text 33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1" name="Text 34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コバに染料を入れる（超マクロ）</a:t>
            </a:r>
            <a:endParaRPr lang="en-US" sz="720" dirty="0"/>
          </a:p>
        </p:txBody>
      </p:sp>
      <p:sp>
        <p:nvSpPr>
          <p:cNvPr id="42" name="Shape 35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3" name="Image 5" descr="/home/user/dougaseisaku/assets/ref4/3_S3_02_磨く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2110" y="4000500"/>
            <a:ext cx="1260018" cy="814730"/>
          </a:xfrm>
          <a:prstGeom prst="rect">
            <a:avLst/>
          </a:prstGeom>
        </p:spPr>
      </p:pic>
      <p:sp>
        <p:nvSpPr>
          <p:cNvPr id="44" name="Shape 36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5" name="Text 37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磨く。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光が断面に反射する角度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を探す</a:t>
            </a:r>
            <a:endParaRPr lang="en-US" sz="720" dirty="0"/>
          </a:p>
        </p:txBody>
      </p:sp>
      <p:sp>
        <p:nvSpPr>
          <p:cNvPr id="46" name="Shape 38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7" name="Image 6" descr="/home/user/dougaseisaku/assets/ref4/3_S3_03_完成品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20465" y="4000500"/>
            <a:ext cx="1260018" cy="814730"/>
          </a:xfrm>
          <a:prstGeom prst="rect">
            <a:avLst/>
          </a:prstGeom>
        </p:spPr>
      </p:pic>
      <p:sp>
        <p:nvSpPr>
          <p:cNvPr id="48" name="Shape 39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完成品が黒の中に浮かぶ。上から一灯だけ</a:t>
            </a:r>
            <a:endParaRPr lang="en-US" sz="720" dirty="0"/>
          </a:p>
        </p:txBody>
      </p:sp>
      <p:sp>
        <p:nvSpPr>
          <p:cNvPr id="50" name="Text 41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24-28秒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44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54" name="Text 4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5" name="Text 4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（parisawangny・メイン）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64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街に出る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0-8秒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店のガラスの反射に映る（引き）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8" name="Image 0" descr="/home/user/dougaseisaku/assets/ref4/4_S1_02_街を歩く_縦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178" y="1554480"/>
            <a:ext cx="561883" cy="81473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街を歩く。横移動で追う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2" name="Image 1" descr="/home/user/dougaseisaku/assets/ref4/4_S1_03_電車通過ブレ_縦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9532" y="1554480"/>
            <a:ext cx="561883" cy="81473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電車が通り過ぎる（ブレ＝トランジション）</a:t>
            </a:r>
            <a:endParaRPr lang="en-US" sz="720" dirty="0"/>
          </a:p>
        </p:txBody>
      </p:sp>
      <p:sp>
        <p:nvSpPr>
          <p:cNvPr id="25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中身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8-17秒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2" descr="/home/user/dougaseisaku/assets/ref4/4_S2_01_真俯瞰で中身を入れる_縦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2824" y="2777490"/>
            <a:ext cx="561883" cy="81473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手すりに置き、真俯瞰でA4とノートPCを入れる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3" descr="/home/user/dougaseisaku/assets/ref4/4_S2_02_内ポケットに物を入れる_縦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178" y="2777490"/>
            <a:ext cx="561883" cy="81473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寄り。内ポケットに名刺入れ・鍵・携帯</a:t>
            </a:r>
            <a:endParaRPr lang="en-US" sz="720" dirty="0"/>
          </a:p>
        </p:txBody>
      </p:sp>
      <p:sp>
        <p:nvSpPr>
          <p:cNvPr id="34" name="Shape 28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4" descr="/home/user/dougaseisaku/assets/ref4/4_S2_03_マクロで取り出す_縦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9532" y="2777490"/>
            <a:ext cx="561883" cy="814730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財布に何かを差し込む超マクロ</a:t>
            </a:r>
            <a:endParaRPr lang="en-US" sz="720" dirty="0"/>
          </a:p>
        </p:txBody>
      </p:sp>
      <p:sp>
        <p:nvSpPr>
          <p:cNvPr id="38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一人の時間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17-25秒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0" name="Text 33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1" name="Text 34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カフェの窓際。自然光・浅い被写界深度</a:t>
            </a:r>
            <a:endParaRPr lang="en-US" sz="720" dirty="0"/>
          </a:p>
        </p:txBody>
      </p:sp>
      <p:sp>
        <p:nvSpPr>
          <p:cNvPr id="42" name="Shape 35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3" name="Image 5" descr="/home/user/dougaseisaku/assets/ref4/4_S3_02_金具マクロ_縦型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1178" y="4000500"/>
            <a:ext cx="561883" cy="814730"/>
          </a:xfrm>
          <a:prstGeom prst="rect">
            <a:avLst/>
          </a:prstGeom>
        </p:spPr>
      </p:pic>
      <p:sp>
        <p:nvSpPr>
          <p:cNvPr id="44" name="Shape 36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5" name="Text 37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金具のロゴに超マクロ</a:t>
            </a:r>
            <a:endParaRPr lang="en-US" sz="720" dirty="0"/>
          </a:p>
        </p:txBody>
      </p:sp>
      <p:sp>
        <p:nvSpPr>
          <p:cNvPr id="46" name="Shape 38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7" name="Image 6" descr="/home/user/dougaseisaku/assets/ref4/4_S3_03_高い場所に立つ_縦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69532" y="4000500"/>
            <a:ext cx="561883" cy="814730"/>
          </a:xfrm>
          <a:prstGeom prst="rect">
            <a:avLst/>
          </a:prstGeom>
        </p:spPr>
      </p:pic>
      <p:sp>
        <p:nvSpPr>
          <p:cNvPr id="48" name="Shape 39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高い場所に立つ（引き・映画的）</a:t>
            </a:r>
            <a:endParaRPr lang="en-US" sz="720" dirty="0"/>
          </a:p>
        </p:txBody>
      </p:sp>
      <p:sp>
        <p:nvSpPr>
          <p:cNvPr id="50" name="Text 41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25-30秒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2" name="Image 7" descr="/home/user/dougaseisaku/assets/ref4/4_S4_01_街に置く_縦型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12824" y="5223510"/>
            <a:ext cx="561883" cy="814730"/>
          </a:xfrm>
          <a:prstGeom prst="rect">
            <a:avLst/>
          </a:prstGeom>
        </p:spPr>
      </p:pic>
      <p:sp>
        <p:nvSpPr>
          <p:cNvPr id="53" name="Shape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4" name="Text 44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街に置く。背景をボカして流す</a:t>
            </a:r>
            <a:endParaRPr lang="en-US" sz="720" dirty="0"/>
          </a:p>
        </p:txBody>
      </p:sp>
      <p:sp>
        <p:nvSpPr>
          <p:cNvPr id="55" name="Shape 45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6" name="Text 46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7" name="Text 47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白い壁の前。正面。壁に英語一文を重ねる</a:t>
            </a:r>
            <a:endParaRPr lang="en-US" sz="720" dirty="0"/>
          </a:p>
        </p:txBody>
      </p:sp>
      <p:sp>
        <p:nvSpPr>
          <p:cNvPr id="58" name="Shape 48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9" name="Text 49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60" name="Text 50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61" name="Text 51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2" name="Text 52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六十秒（収まらなければ九十秒まで）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（鍛治島工業・メイン）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（コーポレートムービー）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73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ナレーションは永尾社長の声だけ。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画には映らず、三十分の収録から経営方針についての本音を拾う（台本の読み上げではない）。</a:t>
            </a:r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製造パートは</a:t>
            </a:r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鍛治島工業の参考動画をメインに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、特定の一人ではなく</a:t>
            </a:r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向島工房の職人全員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を映す。Brooklyn店舗・企画中の商品・草ヶ谷さんの手元・購入されるシーンまで、会社の全体像を満遍なく差し込む。</a:t>
            </a:r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</a:t>
            </a:r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endParaRPr lang="en-US" sz="608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08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想定ナレーション（仮の言葉）</a:t>
            </a:r>
            <a:pPr indent="0" marL="0">
              <a:lnSpc>
                <a:spcPct val="134000"/>
              </a:lnSpc>
              <a:buNone/>
            </a:pPr>
            <a:r>
              <a:rPr lang="en-US" sz="608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：「革一枚から」（S1）→「変えていないのは革を見る目」（S2）→「これから」（S3）→「作る場所は変わっていません」（S4）</a:t>
            </a:r>
            <a:endParaRPr lang="en-US" sz="608" dirty="0"/>
          </a:p>
        </p:txBody>
      </p:sp>
      <p:sp>
        <p:nvSpPr>
          <p:cNvPr id="9" name="Text 7"/>
          <p:cNvSpPr/>
          <p:nvPr/>
        </p:nvSpPr>
        <p:spPr>
          <a:xfrm>
            <a:off x="411480" y="365742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858592"/>
            <a:ext cx="3063240" cy="39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4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1979年から続く会社が、いま向島の工房と一つになった。永尾社長の声だけが、全編に流れる。</a:t>
            </a:r>
            <a:endParaRPr lang="en-US" sz="640" dirty="0"/>
          </a:p>
        </p:txBody>
      </p:sp>
      <p:sp>
        <p:nvSpPr>
          <p:cNvPr id="11" name="Shape 9"/>
          <p:cNvSpPr/>
          <p:nvPr/>
        </p:nvSpPr>
        <p:spPr>
          <a:xfrm>
            <a:off x="411480" y="4378264"/>
            <a:ext cx="3063240" cy="97631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506280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707448"/>
            <a:ext cx="2697480" cy="2566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594360" y="5018929"/>
            <a:ext cx="2697480" cy="18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608" dirty="0"/>
          </a:p>
        </p:txBody>
      </p:sp>
      <p:sp>
        <p:nvSpPr>
          <p:cNvPr id="15" name="Text 13"/>
          <p:cNvSpPr/>
          <p:nvPr/>
        </p:nvSpPr>
        <p:spPr>
          <a:xfrm>
            <a:off x="411480" y="5483328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684496"/>
            <a:ext cx="3063240" cy="359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5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557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刻印・沿革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0-12秒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5_S1_01_刻印風マクロ_金属に光る文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2191" y="1554480"/>
            <a:ext cx="1543149" cy="81473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黒。刻印が押され、革に沈む（超マクロ）</a:t>
            </a:r>
            <a:pPr indent="0" marL="0">
              <a:lnSpc>
                <a:spcPct val="125000"/>
              </a:lnSpc>
              <a:buNone/>
            </a:pPr>
            <a:endParaRPr lang="en-US" sz="7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ナレーション開始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5_S1_02_窪みに光が差す赤熱マクロ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0545" y="1554480"/>
            <a:ext cx="1543149" cy="81473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窪みに光が差す。そこに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が重なる</a:t>
            </a:r>
            <a:endParaRPr lang="en-US" sz="720" dirty="0"/>
          </a:p>
        </p:txBody>
      </p:sp>
      <p:sp>
        <p:nvSpPr>
          <p:cNvPr id="26" name="Shape 22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2" descr="/home/user/dougaseisaku/assets/ref4/5_S1_03_工房の全景ハイアング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8899" y="1554480"/>
            <a:ext cx="1543149" cy="81473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引くと向島工房の全景になる（ハイアングル）</a:t>
            </a:r>
            <a:endParaRPr lang="en-US" sz="720" dirty="0"/>
          </a:p>
        </p:txBody>
      </p:sp>
      <p:sp>
        <p:nvSpPr>
          <p:cNvPr id="30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製造・全員の職人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12-40秒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5_S3_01_原反が広げら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7646" y="2777490"/>
            <a:ext cx="1452238" cy="81473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原反が広げられる（真俯瞰）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5_S3_02_手元での精密作業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00545" y="2777490"/>
            <a:ext cx="1543149" cy="814730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裁断→縫製→コバ磨き。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職人を一人ずつ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、複数カットで（鍛治島参考の画角）</a:t>
            </a:r>
            <a:endParaRPr lang="en-US" sz="720" dirty="0"/>
          </a:p>
        </p:txBody>
      </p:sp>
      <p:sp>
        <p:nvSpPr>
          <p:cNvPr id="39" name="Shape 32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0" name="Image 5" descr="/home/user/dougaseisaku/assets/ref4/5_S3_03_検品する横顔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78899" y="2777490"/>
            <a:ext cx="1543149" cy="814730"/>
          </a:xfrm>
          <a:prstGeom prst="rect">
            <a:avLst/>
          </a:prstGeom>
        </p:spPr>
      </p:pic>
      <p:sp>
        <p:nvSpPr>
          <p:cNvPr id="41" name="Shape 33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4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ナレーション一度止まる</a:t>
            </a:r>
            <a:endParaRPr lang="en-US" sz="720" dirty="0"/>
          </a:p>
        </p:txBody>
      </p:sp>
      <p:sp>
        <p:nvSpPr>
          <p:cNvPr id="43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会社の姿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40-60秒</a:t>
            </a:r>
            <a:endParaRPr lang="en-US" sz="1050" dirty="0"/>
          </a:p>
        </p:txBody>
      </p:sp>
      <p:sp>
        <p:nvSpPr>
          <p:cNvPr id="44" name="Shape 36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37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38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Brooklyn店舗の外観・店内（撮影して差し替え）</a:t>
            </a:r>
            <a:endParaRPr lang="en-US" sz="720" dirty="0"/>
          </a:p>
        </p:txBody>
      </p:sp>
      <p:sp>
        <p:nvSpPr>
          <p:cNvPr id="47" name="Shape 39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8" name="Text 40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9" name="Text 41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企画中の新作サンプルが並ぶ（撮影して差し替え）</a:t>
            </a:r>
            <a:pPr indent="0" marL="0">
              <a:lnSpc>
                <a:spcPct val="125000"/>
              </a:lnSpc>
              <a:buNone/>
            </a:pPr>
            <a:endParaRPr lang="en-US" sz="7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ナレーション再開</a:t>
            </a:r>
            <a:endParaRPr lang="en-US" sz="720" dirty="0"/>
          </a:p>
        </p:txBody>
      </p:sp>
      <p:sp>
        <p:nvSpPr>
          <p:cNvPr id="50" name="Shape 42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1" name="Text 43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2" name="Text 44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草ヶ谷さん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が革を漉く・仕上げる手元（撮影して差し替え）</a:t>
            </a:r>
            <a:endParaRPr lang="en-US" sz="720" dirty="0"/>
          </a:p>
        </p:txBody>
      </p:sp>
      <p:sp>
        <p:nvSpPr>
          <p:cNvPr id="53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使われる・締め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60-75秒</a:t>
            </a:r>
            <a:endParaRPr lang="en-US" sz="1050" dirty="0"/>
          </a:p>
        </p:txBody>
      </p:sp>
      <p:sp>
        <p:nvSpPr>
          <p:cNvPr id="54" name="Shape 46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47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48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購入され、店員から手渡される瞬間（撮影して差し替え）</a:t>
            </a:r>
            <a:endParaRPr lang="en-US" sz="720" dirty="0"/>
          </a:p>
        </p:txBody>
      </p:sp>
      <p:sp>
        <p:nvSpPr>
          <p:cNvPr id="57" name="Shape 49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8" name="Text 50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9" name="Text 51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実際に使われている手元（撮影して差し替え）</a:t>
            </a:r>
            <a:pPr indent="0" marL="0">
              <a:lnSpc>
                <a:spcPct val="125000"/>
              </a:lnSpc>
              <a:buNone/>
            </a:pPr>
            <a:endParaRPr lang="en-US" sz="7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ナレーション最後の一言</a:t>
            </a:r>
            <a:endParaRPr lang="en-US" sz="720" dirty="0"/>
          </a:p>
        </p:txBody>
      </p:sp>
      <p:sp>
        <p:nvSpPr>
          <p:cNvPr id="60" name="Shape 52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61" name="Text 53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62" name="Text 54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ナレーションが終わり → テロップ → ロゴ</a:t>
            </a:r>
            <a:endParaRPr lang="en-US" sz="720" dirty="0"/>
          </a:p>
        </p:txBody>
      </p:sp>
      <p:sp>
        <p:nvSpPr>
          <p:cNvPr id="63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4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5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760" dirty="0"/>
          </a:p>
        </p:txBody>
      </p:sp>
      <p:sp>
        <p:nvSpPr>
          <p:cNvPr id="9" name="Text 7"/>
          <p:cNvSpPr/>
          <p:nvPr/>
        </p:nvSpPr>
        <p:spPr>
          <a:xfrm>
            <a:off x="411480" y="337007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571244"/>
            <a:ext cx="3063240" cy="452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" y="4184258"/>
            <a:ext cx="3063240" cy="1051231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1227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13442"/>
            <a:ext cx="2697480" cy="302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870789"/>
            <a:ext cx="2697480" cy="218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411480" y="539642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97591"/>
            <a:ext cx="3063240" cy="545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9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69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入る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工房の外観と看板（ローアングル）。街の音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中に入る。工房の全景（ハイアングル）。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作業台に原反が広がる（真俯瞰）。扱える革の大きさを示す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歩く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25-95秒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金型が置かれ、裁断機が下りる／革包丁で細部を切る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ミシンで縫う（横）／手縫い。二本の針が交差する（マクロ）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目止め → コバ磨き。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全工程の四割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とテロップ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検品 ★最重要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95-120秒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職人が縫い目と断面を目で確かめる（寄り）。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検品済みの製品と道具が並ぶ（真俯瞰）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包む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120-140秒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不織布で包み、角を折る（真俯瞰）。紙の音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ここまで見せる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 → 問い合わせ先とURL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459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23262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6064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6181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924893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45818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659350"/>
            <a:ext cx="3063240" cy="418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71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質感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0-6秒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7_S1_01_モノクロのファスナー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97" y="1554480"/>
            <a:ext cx="585936" cy="81473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超マクロ・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。ファスナーの歯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7_S1_02_型押しの質感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9151" y="1554480"/>
            <a:ext cx="585936" cy="81473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型押しのロゴ、ハンドルの付け根</a:t>
            </a:r>
            <a:endParaRPr lang="en-US" sz="720" dirty="0"/>
          </a:p>
        </p:txBody>
      </p:sp>
      <p:sp>
        <p:nvSpPr>
          <p:cNvPr id="26" name="Shape 22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2" descr="/home/user/dougaseisaku/assets/ref4/7_S1_03_白い台に鞄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7506" y="1554480"/>
            <a:ext cx="585936" cy="81473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カラーに変わる。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白い台に鞄が一つ</a:t>
            </a:r>
            <a:endParaRPr lang="en-US" sz="720" dirty="0"/>
          </a:p>
        </p:txBody>
      </p:sp>
      <p:sp>
        <p:nvSpPr>
          <p:cNvPr id="30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6-16秒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7_S2_03_PC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0797" y="2777490"/>
            <a:ext cx="585936" cy="81473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正面固定。A4書類とノートPCを入れる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7_S2_01_入れていく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9151" y="2777490"/>
            <a:ext cx="585936" cy="814730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同じ画角。手帳・鍵・サングラス。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顔は入れない</a:t>
            </a:r>
            <a:endParaRPr lang="en-US" sz="720" dirty="0"/>
          </a:p>
        </p:txBody>
      </p:sp>
      <p:sp>
        <p:nvSpPr>
          <p:cNvPr id="39" name="Shape 32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0" name="Image 5" descr="/home/user/dougaseisaku/assets/ref4/7_S2_02_小物を入れる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7506" y="2777490"/>
            <a:ext cx="585936" cy="814730"/>
          </a:xfrm>
          <a:prstGeom prst="rect">
            <a:avLst/>
          </a:prstGeom>
        </p:spPr>
      </p:pic>
      <p:sp>
        <p:nvSpPr>
          <p:cNvPr id="41" name="Shape 33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4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同じ画角。ペン・小物。入れる音を一つずつ拾う</a:t>
            </a:r>
            <a:endParaRPr lang="en-US" sz="720" dirty="0"/>
          </a:p>
        </p:txBody>
      </p:sp>
      <p:sp>
        <p:nvSpPr>
          <p:cNvPr id="43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持ち上げる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16-20秒</a:t>
            </a:r>
            <a:endParaRPr lang="en-US" sz="1050" dirty="0"/>
          </a:p>
        </p:txBody>
      </p:sp>
      <p:sp>
        <p:nvSpPr>
          <p:cNvPr id="44" name="Shape 36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7_S3_01_持ち上げ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00797" y="4000500"/>
            <a:ext cx="585936" cy="814730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軽さを動作で見せる</a:t>
            </a:r>
            <a:endParaRPr lang="en-US" sz="720" dirty="0"/>
          </a:p>
        </p:txBody>
      </p:sp>
      <p:sp>
        <p:nvSpPr>
          <p:cNvPr id="48" name="Shape 39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0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1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肩にかける。台は動かさない</a:t>
            </a:r>
            <a:endParaRPr lang="en-US" sz="720" dirty="0"/>
          </a:p>
        </p:txBody>
      </p:sp>
      <p:sp>
        <p:nvSpPr>
          <p:cNvPr id="51" name="Text 42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残る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20-25秒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3" name="Image 7" descr="/home/user/dougaseisaku/assets/ref4/7_S4_01_鞄だけが残る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00797" y="5223510"/>
            <a:ext cx="585936" cy="814730"/>
          </a:xfrm>
          <a:prstGeom prst="rect">
            <a:avLst/>
          </a:prstGeom>
        </p:spPr>
      </p:pic>
      <p:sp>
        <p:nvSpPr>
          <p:cNvPr id="54" name="Shape 44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5" name="Text 45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人がフレームから出る。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鞄だけが残る</a:t>
            </a:r>
            <a:endParaRPr lang="en-US" sz="720" dirty="0"/>
          </a:p>
        </p:txBody>
      </p:sp>
      <p:sp>
        <p:nvSpPr>
          <p:cNvPr id="56" name="Shape 46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7" name="Image 8" descr="/home/user/dougaseisaku/assets/ref4/7_S4_02_テロップ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79151" y="5223510"/>
            <a:ext cx="585936" cy="814730"/>
          </a:xfrm>
          <a:prstGeom prst="rect">
            <a:avLst/>
          </a:prstGeom>
        </p:spPr>
      </p:pic>
      <p:sp>
        <p:nvSpPr>
          <p:cNvPr id="58" name="Shape 47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60" name="Text 4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1" name="Text 5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59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55555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756721"/>
            <a:ext cx="3063240" cy="719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7752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7869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導入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日常の中で迎える（来店・使用シーンなど）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手元のBROOKLYNの鞄が画面に入る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質問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「なぜこれを選んだか」を聞く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実際に使っているシーンを見せながら答えてもらう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良かった点を具体的なエピソードで語ってもらう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本音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購入前に迷っていた話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買ってから変わったことを一言で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表情のアップ。台本にない一言を拾う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鞄を持って歩き出す後ろ姿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2026-09-04T05:21:02Z</dcterms:created>
  <dcterms:modified xsi:type="dcterms:W3CDTF">2026-09-04T05:21:02Z</dcterms:modified>
</cp:coreProperties>
</file>