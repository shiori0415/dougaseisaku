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hyperlink" Target="https://www.instagram.com/reel/DbAniDDyF0U/" TargetMode="External"/><Relationship Id="rId3" Type="http://schemas.openxmlformats.org/officeDocument/2006/relationships/hyperlink" Target="https://www.instagram.com/reels/DWiwFp5DED-/" TargetMode="External"/><Relationship Id="rId4" Type="http://schemas.openxmlformats.org/officeDocument/2006/relationships/hyperlink" Target="https://www.instagram.com/reels/DcOkNyyoFFJ/" TargetMode="External"/><Relationship Id="rId5" Type="http://schemas.openxmlformats.org/officeDocument/2006/relationships/hyperlink" Target="https://www.youtube.com/watch?v=4DEy0CAg43s" TargetMode="External"/><Relationship Id="rId6" Type="http://schemas.openxmlformats.org/officeDocument/2006/relationships/hyperlink" Target="https://youtu.be/OU-qyAcn2YM" TargetMode="External"/><Relationship Id="rId7" Type="http://schemas.openxmlformats.org/officeDocument/2006/relationships/hyperlink" Target="https://youtu.be/OPDWrOeD-gU" TargetMode="External"/><Relationship Id="rId8" Type="http://schemas.openxmlformats.org/officeDocument/2006/relationships/hyperlink" Target="https://www.instagram.com/reel/DZE-_hZuwXb/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3-1.jpg"/><Relationship Id="rId3" Type="http://schemas.openxmlformats.org/officeDocument/2006/relationships/image" Target="../media/image-3-2.jpg"/><Relationship Id="rId4" Type="http://schemas.openxmlformats.org/officeDocument/2006/relationships/image" Target="../media/image-3-3.jpg"/><Relationship Id="rId5" Type="http://schemas.openxmlformats.org/officeDocument/2006/relationships/image" Target="../media/image-3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4-1.jpg"/><Relationship Id="rId3" Type="http://schemas.openxmlformats.org/officeDocument/2006/relationships/image" Target="../media/image-4-2.jpg"/><Relationship Id="rId4" Type="http://schemas.openxmlformats.org/officeDocument/2006/relationships/image" Target="../media/image-4-3.jpg"/><Relationship Id="rId5" Type="http://schemas.openxmlformats.org/officeDocument/2006/relationships/image" Target="../media/image-4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5-1.jpg"/><Relationship Id="rId3" Type="http://schemas.openxmlformats.org/officeDocument/2006/relationships/image" Target="../media/image-5-2.jpg"/><Relationship Id="rId4" Type="http://schemas.openxmlformats.org/officeDocument/2006/relationships/image" Target="../media/image-5-3.jpg"/><Relationship Id="rId5" Type="http://schemas.openxmlformats.org/officeDocument/2006/relationships/image" Target="../media/image-5-4.jpg"/><Relationship Id="rId6" Type="http://schemas.openxmlformats.org/officeDocument/2006/relationships/image" Target="../media/image-5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6-1.jpg"/><Relationship Id="rId3" Type="http://schemas.openxmlformats.org/officeDocument/2006/relationships/image" Target="../media/image-6-2.jpg"/><Relationship Id="rId4" Type="http://schemas.openxmlformats.org/officeDocument/2006/relationships/image" Target="../media/image-6-3.jpg"/><Relationship Id="rId5" Type="http://schemas.openxmlformats.org/officeDocument/2006/relationships/image" Target="../media/image-6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7-1.jpg"/><Relationship Id="rId3" Type="http://schemas.openxmlformats.org/officeDocument/2006/relationships/image" Target="../media/image-7-2.jpg"/><Relationship Id="rId4" Type="http://schemas.openxmlformats.org/officeDocument/2006/relationships/image" Target="../media/image-7-3.jpg"/><Relationship Id="rId5" Type="http://schemas.openxmlformats.org/officeDocument/2006/relationships/image" Target="../media/image-7-4.jpg"/><Relationship Id="rId6" Type="http://schemas.openxmlformats.org/officeDocument/2006/relationships/image" Target="../media/image-7-5.jpg"/><Relationship Id="rId7" Type="http://schemas.openxmlformats.org/officeDocument/2006/relationships/image" Target="../media/image-7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8-1.jpg"/><Relationship Id="rId3" Type="http://schemas.openxmlformats.org/officeDocument/2006/relationships/image" Target="../media/image-8-2.jpg"/><Relationship Id="rId4" Type="http://schemas.openxmlformats.org/officeDocument/2006/relationships/image" Target="../media/image-8-3.jpg"/><Relationship Id="rId5" Type="http://schemas.openxmlformats.org/officeDocument/2006/relationships/image" Target="../media/image-8-4.jpg"/><Relationship Id="rId6" Type="http://schemas.openxmlformats.org/officeDocument/2006/relationships/image" Target="../media/image-8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9-1.jpg"/><Relationship Id="rId3" Type="http://schemas.openxmlformats.org/officeDocument/2006/relationships/image" Target="../media/image-9-2.jpg"/><Relationship Id="rId4" Type="http://schemas.openxmlformats.org/officeDocument/2006/relationships/image" Target="../media/image-9-3.jpg"/><Relationship Id="rId5" Type="http://schemas.openxmlformats.org/officeDocument/2006/relationships/image" Target="../media/image-9-4.jpg"/><Relationship Id="rId6" Type="http://schemas.openxmlformats.org/officeDocument/2006/relationships/image" Target="../media/image-9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10-1.jpg"/><Relationship Id="rId3" Type="http://schemas.openxmlformats.org/officeDocument/2006/relationships/image" Target="../media/image-10-2.jpg"/><Relationship Id="rId4" Type="http://schemas.openxmlformats.org/officeDocument/2006/relationships/image" Target="../media/image-10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1-1.jpg"/><Relationship Id="rId3" Type="http://schemas.openxmlformats.org/officeDocument/2006/relationships/image" Target="../media/image-11-2.jpg"/><Relationship Id="rId4" Type="http://schemas.openxmlformats.org/officeDocument/2006/relationships/image" Target="../media/image-11-3.jpg"/><Relationship Id="rId5" Type="http://schemas.openxmlformats.org/officeDocument/2006/relationships/image" Target="../media/image-11-4.jpg"/><Relationship Id="rId6" Type="http://schemas.openxmlformats.org/officeDocument/2006/relationships/image" Target="../media/image-11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2-1.jpg"/><Relationship Id="rId3" Type="http://schemas.openxmlformats.org/officeDocument/2006/relationships/image" Target="../media/image-12-2.jpg"/><Relationship Id="rId4" Type="http://schemas.openxmlformats.org/officeDocument/2006/relationships/image" Target="../media/image-12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3-1.jpg"/><Relationship Id="rId3" Type="http://schemas.openxmlformats.org/officeDocument/2006/relationships/image" Target="../media/image-13-2.jpg"/><Relationship Id="rId4" Type="http://schemas.openxmlformats.org/officeDocument/2006/relationships/image" Target="../media/image-13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4-1.jpg"/><Relationship Id="rId3" Type="http://schemas.openxmlformats.org/officeDocument/2006/relationships/image" Target="../media/image-14-2.jpg"/><Relationship Id="rId4" Type="http://schemas.openxmlformats.org/officeDocument/2006/relationships/image" Target="../media/image-14-3.jpg"/><Relationship Id="rId5" Type="http://schemas.openxmlformats.org/officeDocument/2006/relationships/image" Target="../media/image-14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image" Target="../media/image-15-1.jpg"/><Relationship Id="rId3" Type="http://schemas.openxmlformats.org/officeDocument/2006/relationships/image" Target="../media/image-15-2.jpg"/><Relationship Id="rId4" Type="http://schemas.openxmlformats.org/officeDocument/2006/relationships/image" Target="../media/image-15-3.jpg"/><Relationship Id="rId5" Type="http://schemas.openxmlformats.org/officeDocument/2006/relationships/image" Target="../media/image-15-4.jpg"/><Relationship Id="rId6" Type="http://schemas.openxmlformats.org/officeDocument/2006/relationships/image" Target="../media/image-15-5.jpg"/><Relationship Id="rId7" Type="http://schemas.openxmlformats.org/officeDocument/2006/relationships/image" Target="../media/image-15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image" Target="../media/image-16-1.jpg"/><Relationship Id="rId3" Type="http://schemas.openxmlformats.org/officeDocument/2006/relationships/image" Target="../media/image-16-2.jpg"/><Relationship Id="rId4" Type="http://schemas.openxmlformats.org/officeDocument/2006/relationships/image" Target="../media/image-16-3.jpg"/><Relationship Id="rId5" Type="http://schemas.openxmlformats.org/officeDocument/2006/relationships/image" Target="../media/image-16-4.jpg"/><Relationship Id="rId6" Type="http://schemas.openxmlformats.org/officeDocument/2006/relationships/image" Target="../media/image-16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7-1.jpg"/><Relationship Id="rId5" Type="http://schemas.openxmlformats.org/officeDocument/2006/relationships/image" Target="../media/image-17-2.jpg"/><Relationship Id="rId6" Type="http://schemas.openxmlformats.org/officeDocument/2006/relationships/image" Target="../media/image-17-3.jpg"/><Relationship Id="rId7" Type="http://schemas.openxmlformats.org/officeDocument/2006/relationships/image" Target="../media/image-17-4.jpg"/><Relationship Id="rId8" Type="http://schemas.openxmlformats.org/officeDocument/2006/relationships/image" Target="../media/image-17-5.jpg"/><Relationship Id="rId9" Type="http://schemas.openxmlformats.org/officeDocument/2006/relationships/image" Target="../media/image-17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8-1.jpg"/><Relationship Id="rId5" Type="http://schemas.openxmlformats.org/officeDocument/2006/relationships/image" Target="../media/image-18-2.jpg"/><Relationship Id="rId6" Type="http://schemas.openxmlformats.org/officeDocument/2006/relationships/image" Target="../media/image-18-3.jpg"/><Relationship Id="rId7" Type="http://schemas.openxmlformats.org/officeDocument/2006/relationships/image" Target="../media/image-18-4.jpg"/><Relationship Id="rId8" Type="http://schemas.openxmlformats.org/officeDocument/2006/relationships/image" Target="../media/image-18-5.jpg"/><Relationship Id="rId9" Type="http://schemas.openxmlformats.org/officeDocument/2006/relationships/image" Target="../media/image-18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9-1.jpg"/><Relationship Id="rId5" Type="http://schemas.openxmlformats.org/officeDocument/2006/relationships/image" Target="../media/image-19-2.jpg"/><Relationship Id="rId6" Type="http://schemas.openxmlformats.org/officeDocument/2006/relationships/image" Target="../media/image-19-3.jpg"/><Relationship Id="rId7" Type="http://schemas.openxmlformats.org/officeDocument/2006/relationships/image" Target="../media/image-19-4.jpg"/><Relationship Id="rId8" Type="http://schemas.openxmlformats.org/officeDocument/2006/relationships/image" Target="../media/image-19-5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20-1.jpg"/><Relationship Id="rId5" Type="http://schemas.openxmlformats.org/officeDocument/2006/relationships/image" Target="../media/image-20-2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jpg"/><Relationship Id="rId4" Type="http://schemas.openxmlformats.org/officeDocument/2006/relationships/image" Target="../media/image-21-4.jpg"/><Relationship Id="rId5" Type="http://schemas.openxmlformats.org/officeDocument/2006/relationships/image" Target="../media/image-21-5.jpg"/><Relationship Id="rId6" Type="http://schemas.openxmlformats.org/officeDocument/2006/relationships/image" Target="../media/image-21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jpg"/><Relationship Id="rId4" Type="http://schemas.openxmlformats.org/officeDocument/2006/relationships/image" Target="../media/image-22-4.jpg"/><Relationship Id="rId5" Type="http://schemas.openxmlformats.org/officeDocument/2006/relationships/image" Target="../media/image-22-5.jpg"/><Relationship Id="rId6" Type="http://schemas.openxmlformats.org/officeDocument/2006/relationships/image" Target="../media/image-22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image" Target="../media/image-23-3.jpg"/><Relationship Id="rId4" Type="http://schemas.openxmlformats.org/officeDocument/2006/relationships/image" Target="../media/image-23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jpg"/><Relationship Id="rId4" Type="http://schemas.openxmlformats.org/officeDocument/2006/relationships/image" Target="../media/image-24-4.jpg"/><Relationship Id="rId5" Type="http://schemas.openxmlformats.org/officeDocument/2006/relationships/image" Target="../media/image-24-5.jpg"/><Relationship Id="rId6" Type="http://schemas.openxmlformats.org/officeDocument/2006/relationships/image" Target="../media/image-24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image" Target="../media/image-25-3.jpg"/><Relationship Id="rId4" Type="http://schemas.openxmlformats.org/officeDocument/2006/relationships/image" Target="../media/image-25-4.jpg"/><Relationship Id="rId5" Type="http://schemas.openxmlformats.org/officeDocument/2006/relationships/image" Target="../media/image-25-5.jpg"/><Relationship Id="rId6" Type="http://schemas.openxmlformats.org/officeDocument/2006/relationships/image" Target="../media/image-25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6-1.jpg"/><Relationship Id="rId3" Type="http://schemas.openxmlformats.org/officeDocument/2006/relationships/image" Target="../media/image-26-2.jpg"/><Relationship Id="rId4" Type="http://schemas.openxmlformats.org/officeDocument/2006/relationships/image" Target="../media/image-26-3.jpg"/><Relationship Id="rId5" Type="http://schemas.openxmlformats.org/officeDocument/2006/relationships/image" Target="../media/image-26-4.jpg"/><Relationship Id="rId6" Type="http://schemas.openxmlformats.org/officeDocument/2006/relationships/image" Target="../media/image-26-5.jpg"/><Relationship Id="rId7" Type="http://schemas.openxmlformats.org/officeDocument/2006/relationships/image" Target="../media/image-26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7-1.jpg"/><Relationship Id="rId3" Type="http://schemas.openxmlformats.org/officeDocument/2006/relationships/image" Target="../media/image-27-2.jpg"/><Relationship Id="rId4" Type="http://schemas.openxmlformats.org/officeDocument/2006/relationships/image" Target="../media/image-27-3.jpg"/><Relationship Id="rId5" Type="http://schemas.openxmlformats.org/officeDocument/2006/relationships/image" Target="../media/image-27-4.jpg"/><Relationship Id="rId6" Type="http://schemas.openxmlformats.org/officeDocument/2006/relationships/image" Target="../media/image-27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8-1.jpg"/><Relationship Id="rId3" Type="http://schemas.openxmlformats.org/officeDocument/2006/relationships/image" Target="../media/image-28-2.jpg"/><Relationship Id="rId4" Type="http://schemas.openxmlformats.org/officeDocument/2006/relationships/image" Target="../media/image-28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image" Target="../media/image-29-3.jpg"/><Relationship Id="rId4" Type="http://schemas.openxmlformats.org/officeDocument/2006/relationships/image" Target="../media/image-29-4.jpg"/><Relationship Id="rId5" Type="http://schemas.openxmlformats.org/officeDocument/2006/relationships/image" Target="../media/image-29-5.jpg"/><Relationship Id="rId6" Type="http://schemas.openxmlformats.org/officeDocument/2006/relationships/image" Target="../media/image-29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image" Target="../media/image-30-3.jpg"/><Relationship Id="rId4" Type="http://schemas.openxmlformats.org/officeDocument/2006/relationships/image" Target="../media/image-30-4.jpg"/><Relationship Id="rId5" Type="http://schemas.openxmlformats.org/officeDocument/2006/relationships/image" Target="../media/image-30-5.jpg"/><Relationship Id="rId6" Type="http://schemas.openxmlformats.org/officeDocument/2006/relationships/image" Target="../media/image-30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image" Target="../media/image-31-3.jpg"/><Relationship Id="rId4" Type="http://schemas.openxmlformats.org/officeDocument/2006/relationships/image" Target="../media/image-31-4.jpg"/><Relationship Id="rId5" Type="http://schemas.openxmlformats.org/officeDocument/2006/relationships/image" Target="../media/image-31-5.jpg"/><Relationship Id="rId6" Type="http://schemas.openxmlformats.org/officeDocument/2006/relationships/image" Target="../media/image-31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jpg"/><Relationship Id="rId3" Type="http://schemas.openxmlformats.org/officeDocument/2006/relationships/image" Target="../media/image-32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11480" y="1737360"/>
            <a:ext cx="1371600" cy="0"/>
          </a:xfrm>
          <a:prstGeom prst="line">
            <a:avLst/>
          </a:prstGeom>
          <a:noFill/>
          <a:ln w="2794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9202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 8本</a:t>
            </a:r>
            <a:endParaRPr lang="en-US" sz="4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企画・構成・絵コンテ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1148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50" kern="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Eight Films / Plan, Structure, Storyboard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5486400"/>
            <a:ext cx="11368735" cy="0"/>
          </a:xfrm>
          <a:prstGeom prst="line">
            <a:avLst/>
          </a:prstGeom>
          <a:noFill/>
          <a:ln w="12700">
            <a:solidFill>
              <a:srgbClr val="E6DE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5614416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2026年9月6日　第5版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株式会社B supply　宮下 詩織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テロップはすべて日本語と英語の二本立てで記載しています。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32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 次　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11480" y="6217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8本の動画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1170432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・8本目以外は参考動画があり、絵コンテの写真もそこから抜いています。6本目は、いただいた写真と、5本目・2本目の映像から画角の参考として写真を当てています。8本目は、いただいた店舗紹介の録画から写真を当てています。参考動画の秒数は、いただいた録画から測った目安です。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136873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017520"/>
                <a:gridCol w="1417320"/>
                <a:gridCol w="2606040"/>
                <a:gridCol w="3840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#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タイトル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尺・本数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届ける相手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服装ごとに画が変わる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 Colour for Every Outfit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35秒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（innovator SWEDEN）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ASMRで製造の姿を撮る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Twenty Years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新規（まだ知らない人）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いただいた録画2本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2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（コバ塗り・477万再生）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暗めでエレガントにブランドを映す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The Making of the Voyage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メディア関係者・ハイエンド層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3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（delvaux）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鞄を持って街を歩く（海外ドラマ風）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What You Carry Makes You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4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（parisawangny）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コーポレートムービー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Corporate Film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61秒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メディア関係者・OEMの調達担当・新規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5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6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7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（コーポレートムービー）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OEM工房案内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Why Brands Choose Us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2分20秒 ×1／無音版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OEMの調達・生産担当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いただいた録画1本（工場案内）＋⑤と同様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製品の中身と使い勝手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Smart from Morning to Work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35秒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新規（買う直前の人）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8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購入者インタビュー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Customer Interview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60秒 ×1（仮）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購入を迷っている新規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服装ごとに画が変わる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35秒 ／ 13ショット（一場面につき全体と腰より上の二枚）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016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前半は進み、後半は巻き戻る。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一色目 → 二色目 → 三色目 → 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四色目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と進みきったあと、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人が通るたびに一つ前の服装に戻る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（四色目 → 三色目 → 二色目 → 一色目）。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時間が巻き戻るように見せる。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最後は四種類を並べて終える。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切り替わりの合図。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進むとき＝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車が通り過ぎる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（S2・永尾さんの車）／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木の後ろを通る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（S3）／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ドアを通る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（S4）。戻るとき＝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戻るカットは、進んだときと同じ画角・同じ立ち位置で撮る。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同じ場所に戻ってくるから「巻き戻った」と分かる。画角を変えると、ただ着替えただけに見える。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並木通りの一本で撮り切る。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同じ場所の画角を使い回し、人と服と色だけを入れ替える。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並木通りで撮る。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三脚キャスターで横移動するので、平らな歩道を選ぶ。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に寄って表情と鞄の色を同時に見せる。この二枚をくり返す。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手元の超アップは使わない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進むときはすまし顔・笑う・急ぎ足、戻るときは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戸惑いと驚き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を混ぜる。音楽に合わせて切り替えると、色の変化が気持ちよくつながる。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四種類が並ぶ画の上にテロップを重ね、そこにナレーションを一言だけ入れて、そのままロゴで終える。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227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一色目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2_02_歩いてくる全身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74828"/>
            <a:ext cx="912920" cy="65854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並木通りを歩いてくる全身の引き。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ここが一色目。すまし顔。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41584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2_03_腰より上_一色目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840" y="4478479"/>
            <a:ext cx="912920" cy="105124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41584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41584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同じ人に寄る。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鞄の色と表情が一度に見える。</a:t>
            </a:r>
            <a:endParaRPr lang="en-US" sz="720" dirty="0"/>
          </a:p>
        </p:txBody>
      </p:sp>
      <p:sp>
        <p:nvSpPr>
          <p:cNvPr id="27" name="Text 23"/>
          <p:cNvSpPr/>
          <p:nvPr/>
        </p:nvSpPr>
        <p:spPr>
          <a:xfrm>
            <a:off x="2740240" y="3936583"/>
            <a:ext cx="9039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二色目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5-10秒　｜　切り替わり＝車が通り過ぎる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274024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1_S3_01_服が変わり色も変わ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0240" y="4710281"/>
            <a:ext cx="912920" cy="587637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274024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74024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車が抜けると、服も鞄の色も変わっている。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永尾さんの車。</a:t>
            </a:r>
            <a:endParaRPr lang="en-US" sz="720" dirty="0"/>
          </a:p>
        </p:txBody>
      </p:sp>
      <p:sp>
        <p:nvSpPr>
          <p:cNvPr id="32" name="Shape 27"/>
          <p:cNvSpPr/>
          <p:nvPr/>
        </p:nvSpPr>
        <p:spPr>
          <a:xfrm>
            <a:off x="3744599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1_S3_02_三色目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4599" y="4710281"/>
            <a:ext cx="912920" cy="587637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3744599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3744599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サングラスを直す。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ここは笑っている表情で。</a:t>
            </a:r>
            <a:endParaRPr lang="en-US" sz="720" dirty="0"/>
          </a:p>
        </p:txBody>
      </p:sp>
      <p:sp>
        <p:nvSpPr>
          <p:cNvPr id="36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服装ごとに画が変わる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35秒 ／ 13ショット（一場面につき全体と腰より上の二枚）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016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前半は進み、後半は巻き戻る。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一色目 → 二色目 → 三色目 → 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四色目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と進みきったあと、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人が通るたびに一つ前の服装に戻る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（四色目 → 三色目 → 二色目 → 一色目）。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時間が巻き戻るように見せる。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最後は四種類を並べて終える。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切り替わりの合図。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進むとき＝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車が通り過ぎる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（S2・永尾さんの車）／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木の後ろを通る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（S3）／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ドアを通る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（S4）。戻るとき＝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戻るカットは、進んだときと同じ画角・同じ立ち位置で撮る。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同じ場所に戻ってくるから「巻き戻った」と分かる。画角を変えると、ただ着替えただけに見える。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並木通りの一本で撮り切る。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同じ場所の画角を使い回し、人と服と色だけを入れ替える。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並木通りで撮る。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三脚キャスターで横移動するので、平らな歩道を選ぶ。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に寄って表情と鞄の色を同時に見せる。この二枚をくり返す。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手元の超アップは使わない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進むときはすまし顔・笑う・急ぎ足、戻るときは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戸惑いと驚き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を混ぜる。音楽に合わせて切り替えると、色の変化が気持ちよくつながる。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四種類が並ぶ画の上にテロップを重ね、そこにナレーションを一言だけ入れて、そのままロゴで終える。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2131935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三色目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10-15秒　｜　切り替わり＝木の後ろを通る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318803"/>
            <a:ext cx="841940" cy="149678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4_02_抜けたら四色目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796220"/>
            <a:ext cx="841940" cy="541947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318803"/>
            <a:ext cx="841940" cy="149678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52160"/>
            <a:ext cx="8419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木の後ろを通ると、服も鞄の色も変わっている。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344860" y="4318803"/>
            <a:ext cx="841940" cy="149678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4_03_場所が変わる_構内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860" y="4796220"/>
            <a:ext cx="841940" cy="541947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344860" y="4318803"/>
            <a:ext cx="841940" cy="149678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344860" y="5852160"/>
            <a:ext cx="8419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少し急ぎ足の表情。</a:t>
            </a:r>
            <a:endParaRPr lang="en-US" sz="720" dirty="0"/>
          </a:p>
        </p:txBody>
      </p:sp>
      <p:sp>
        <p:nvSpPr>
          <p:cNvPr id="27" name="Text 23"/>
          <p:cNvSpPr/>
          <p:nvPr/>
        </p:nvSpPr>
        <p:spPr>
          <a:xfrm>
            <a:off x="2598279" y="3936583"/>
            <a:ext cx="918193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四色目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15-20秒　｜　切り替わり＝ドアを通る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2598279" y="4318803"/>
            <a:ext cx="841940" cy="149678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1_S6_03_立ち止ま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8279" y="4796220"/>
            <a:ext cx="841940" cy="541947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2598279" y="4318803"/>
            <a:ext cx="841940" cy="149678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598279" y="5852160"/>
            <a:ext cx="8419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ドアを通ると、服も鞄の色も変わっている。</a:t>
            </a:r>
            <a:endParaRPr lang="en-US" sz="720" dirty="0"/>
          </a:p>
        </p:txBody>
      </p:sp>
      <p:sp>
        <p:nvSpPr>
          <p:cNvPr id="32" name="Shape 27"/>
          <p:cNvSpPr/>
          <p:nvPr/>
        </p:nvSpPr>
        <p:spPr>
          <a:xfrm>
            <a:off x="3531659" y="4318803"/>
            <a:ext cx="841940" cy="149678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1_S6_04_腰より上_到着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1659" y="4585115"/>
            <a:ext cx="841940" cy="964157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3531659" y="4318803"/>
            <a:ext cx="841940" cy="149678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3531659" y="5852160"/>
            <a:ext cx="8419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肩の鞄を掛け直して笑う。</a:t>
            </a:r>
            <a:endParaRPr lang="en-US" sz="720" dirty="0"/>
          </a:p>
        </p:txBody>
      </p:sp>
      <p:sp>
        <p:nvSpPr>
          <p:cNvPr id="36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32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服装ごとに画が変わる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35秒 ／ 13ショット（一場面につき全体と腰より上の二枚）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016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前半は進み、後半は巻き戻る。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一色目 → 二色目 → 三色目 → 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四色目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と進みきったあと、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人が通るたびに一つ前の服装に戻る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（四色目 → 三色目 → 二色目 → 一色目）。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時間が巻き戻るように見せる。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最後は四種類を並べて終える。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切り替わりの合図。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進むとき＝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車が通り過ぎる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（S2・永尾さんの車）／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木の後ろを通る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（S3）／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ドアを通る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（S4）。戻るとき＝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戻るカットは、進んだときと同じ画角・同じ立ち位置で撮る。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同じ場所に戻ってくるから「巻き戻った」と分かる。画角を変えると、ただ着替えただけに見える。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並木通りの一本で撮り切る。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同じ場所の画角を使い回し、人と服と色だけを入れ替える。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並木通りで撮る。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三脚キャスターで横移動するので、平らな歩道を選ぶ。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に寄って表情と鞄の色を同時に見せる。この二枚をくり返す。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手元の超アップは使わない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進むときはすまし顔・笑う・急ぎ足、戻るときは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戸惑いと驚き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を混ぜる。音楽に合わせて切り替えると、色の変化が気持ちよくつながる。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四種類が並ぶ画の上にテロップを重ね、そこにナレーションを一言だけ入れて、そのままロゴで終える。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2042541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巻き戻る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20-27秒　｜　切り替わり＝人が通る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318803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5_02_通路を歩く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770874"/>
            <a:ext cx="797243" cy="51317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318803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772699"/>
            <a:ext cx="797243" cy="6098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室内の廊下。人が通りすがるたびに、一つ前の服と鞄に戻る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（四色目 → 三色目 → 二色目 → 一色目）。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横移動で追う（三脚キャスター）。</a:t>
            </a:r>
            <a:endParaRPr lang="en-US" sz="540" dirty="0"/>
          </a:p>
        </p:txBody>
      </p:sp>
      <p:sp>
        <p:nvSpPr>
          <p:cNvPr id="23" name="Shape 20"/>
          <p:cNvSpPr/>
          <p:nvPr/>
        </p:nvSpPr>
        <p:spPr>
          <a:xfrm>
            <a:off x="1300163" y="4318803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5_03_入口に着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163" y="4770874"/>
            <a:ext cx="797243" cy="5131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300163" y="4318803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300163" y="5772699"/>
            <a:ext cx="797243" cy="6098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endParaRPr lang="en-US" sz="720" dirty="0"/>
          </a:p>
        </p:txBody>
      </p:sp>
      <p:sp>
        <p:nvSpPr>
          <p:cNvPr id="27" name="Text 23"/>
          <p:cNvSpPr/>
          <p:nvPr/>
        </p:nvSpPr>
        <p:spPr>
          <a:xfrm>
            <a:off x="2508885" y="3936583"/>
            <a:ext cx="927133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四種類並べて終わる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27-35秒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2508885" y="4318803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1_S7_01_人が出て小物だけが残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8885" y="4770874"/>
            <a:ext cx="797243" cy="513176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2508885" y="4318803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508885" y="5772699"/>
            <a:ext cx="797243" cy="6098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バッグのアップショット。</a:t>
            </a:r>
            <a:endParaRPr lang="en-US" sz="720" dirty="0"/>
          </a:p>
        </p:txBody>
      </p:sp>
      <p:sp>
        <p:nvSpPr>
          <p:cNvPr id="32" name="Shape 27"/>
          <p:cNvSpPr/>
          <p:nvPr/>
        </p:nvSpPr>
        <p:spPr>
          <a:xfrm>
            <a:off x="3397568" y="4318803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1_S7_02_全色が並ぶ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7568" y="4770874"/>
            <a:ext cx="797243" cy="513176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3397568" y="4318803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3397568" y="5772699"/>
            <a:ext cx="797243" cy="6098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四色が並ぶ（室内）。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モデルは一人なので、各衣装の最後のポーズを同じ位置で撮り、編集で一枚に合成する。この画にテロップを重ねる。</a:t>
            </a:r>
            <a:endParaRPr lang="en-US" sz="540" dirty="0"/>
          </a:p>
        </p:txBody>
      </p:sp>
      <p:sp>
        <p:nvSpPr>
          <p:cNvPr id="36" name="Shape 30"/>
          <p:cNvSpPr/>
          <p:nvPr/>
        </p:nvSpPr>
        <p:spPr>
          <a:xfrm>
            <a:off x="4286250" y="4318803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共通_ロゴのみ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6250" y="4318803"/>
            <a:ext cx="797243" cy="1417320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4286250" y="4318803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4286250" y="5772699"/>
            <a:ext cx="797243" cy="6098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</a:t>
            </a:r>
            <a:endParaRPr lang="en-US" sz="720" dirty="0"/>
          </a:p>
        </p:txBody>
      </p:sp>
      <p:sp>
        <p:nvSpPr>
          <p:cNvPr id="40" name="Text 3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32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ASMRで製造の姿を撮る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55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工程の頭から始める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（完成品がまだ無いので、当日その場で一つ作りながら撮る）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一カットは一〜二秒。ただしS6のコバ塗りだけは六秒を一カットで見せる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最後に、完成した鞄を見せて閉じる。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、六秒を一カットで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1195757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革を選ぶ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318803"/>
            <a:ext cx="839141" cy="149180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2_01_革のロールが並ぶ棚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540243"/>
            <a:ext cx="839141" cy="1048927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318803"/>
            <a:ext cx="839141" cy="149180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47186"/>
            <a:ext cx="83914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革のロールが並ぶ棚（引き）。</a:t>
            </a:r>
            <a:pPr indent="0" marL="0">
              <a:lnSpc>
                <a:spcPct val="124000"/>
              </a:lnSpc>
              <a:buNone/>
            </a:pPr>
            <a:r>
              <a:rPr lang="en-US" sz="5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扱える革の量がそのまま画に入る。ここから工程が始まる。</a:t>
            </a:r>
            <a:endParaRPr lang="en-US" sz="580" dirty="0"/>
          </a:p>
        </p:txBody>
      </p:sp>
      <p:sp>
        <p:nvSpPr>
          <p:cNvPr id="23" name="Text 20"/>
          <p:cNvSpPr/>
          <p:nvPr/>
        </p:nvSpPr>
        <p:spPr>
          <a:xfrm>
            <a:off x="1662101" y="3936583"/>
            <a:ext cx="10118114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裁つ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4-9秒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1662101" y="4318803"/>
            <a:ext cx="839141" cy="149180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1" descr="/home/user/dougaseisaku/assets/ref4/2_S3_01_抜き型を革に置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2101" y="4540243"/>
            <a:ext cx="839141" cy="1048927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1662101" y="4318803"/>
            <a:ext cx="839141" cy="149180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1662101" y="5847186"/>
            <a:ext cx="83914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抜き型を革の上に置く（真俯瞰）。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置く位置を決める手。</a:t>
            </a:r>
            <a:endParaRPr lang="en-US" sz="720" dirty="0"/>
          </a:p>
        </p:txBody>
      </p:sp>
      <p:sp>
        <p:nvSpPr>
          <p:cNvPr id="28" name="Shape 24"/>
          <p:cNvSpPr/>
          <p:nvPr/>
        </p:nvSpPr>
        <p:spPr>
          <a:xfrm>
            <a:off x="2592683" y="4318803"/>
            <a:ext cx="839141" cy="149180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2_S3_02_裁断機に革を送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2683" y="4540243"/>
            <a:ext cx="839141" cy="1048927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2592683" y="4318803"/>
            <a:ext cx="839141" cy="149180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592683" y="5847186"/>
            <a:ext cx="83914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裁断機に革を送る（横）。刃が入る一音。</a:t>
            </a:r>
            <a:endParaRPr lang="en-US" sz="720" dirty="0"/>
          </a:p>
        </p:txBody>
      </p:sp>
      <p:sp>
        <p:nvSpPr>
          <p:cNvPr id="32" name="Shape 27"/>
          <p:cNvSpPr/>
          <p:nvPr/>
        </p:nvSpPr>
        <p:spPr>
          <a:xfrm>
            <a:off x="3523264" y="4318803"/>
            <a:ext cx="839141" cy="149180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2_S3_03_抜けたパーツ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3264" y="4540243"/>
            <a:ext cx="839141" cy="1048927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3523264" y="4318803"/>
            <a:ext cx="839141" cy="149180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3523264" y="5847186"/>
            <a:ext cx="83914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抜いたパーツを型と並べて確かめる。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断面はまだ生成りのまま。</a:t>
            </a:r>
            <a:endParaRPr lang="en-US" sz="720" dirty="0"/>
          </a:p>
        </p:txBody>
      </p:sp>
      <p:sp>
        <p:nvSpPr>
          <p:cNvPr id="36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32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ASMRで製造の姿を撮る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55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工程の頭から始める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（完成品がまだ無いので、当日その場で一つ作りながら撮る）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一カットは一〜二秒。ただしS6のコバ塗りだけは六秒を一カットで見せる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最後に、完成した鞄を見せて閉じる。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、六秒を一カットで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2268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貼る・形を出す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9-13秒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4_01_二枚を合わせ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432786"/>
            <a:ext cx="910122" cy="11376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二枚の革を合わせる（真俯瞰）。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表の革と裏の革。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413042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4_03_両手で押さえて形を出す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042" y="4432786"/>
            <a:ext cx="910122" cy="11376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413042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413042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両手で押さえて形を出す。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平らな革が立体になる。</a:t>
            </a:r>
            <a:endParaRPr lang="en-US" sz="720" dirty="0"/>
          </a:p>
        </p:txBody>
      </p:sp>
      <p:sp>
        <p:nvSpPr>
          <p:cNvPr id="27" name="Text 23"/>
          <p:cNvSpPr/>
          <p:nvPr/>
        </p:nvSpPr>
        <p:spPr>
          <a:xfrm>
            <a:off x="2734644" y="3936583"/>
            <a:ext cx="90455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縫う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13-19秒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2734644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2_S5_01_針が上下す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4644" y="4432786"/>
            <a:ext cx="910122" cy="1137652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2734644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734644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ミシンの針が上下する（寄り）。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糸が締まる音。ここから縫いが始まる。</a:t>
            </a:r>
            <a:endParaRPr lang="en-US" sz="720" dirty="0"/>
          </a:p>
        </p:txBody>
      </p:sp>
      <p:sp>
        <p:nvSpPr>
          <p:cNvPr id="32" name="Shape 27"/>
          <p:cNvSpPr/>
          <p:nvPr/>
        </p:nvSpPr>
        <p:spPr>
          <a:xfrm>
            <a:off x="3736205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2_S5_02_工房の引き_作業する人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6205" y="4432786"/>
            <a:ext cx="910122" cy="113765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3736205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3736205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工房の引き。作業台に向かう人が入る</a:t>
            </a:r>
            <a:pPr indent="0" marL="0">
              <a:lnSpc>
                <a:spcPct val="124000"/>
              </a:lnSpc>
              <a:buNone/>
            </a:pPr>
            <a:r>
              <a:rPr lang="en-US" sz="5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（人が広角に映る一枚目）。誰が作っているかを一度見せる。</a:t>
            </a:r>
            <a:endParaRPr lang="en-US" sz="580" dirty="0"/>
          </a:p>
        </p:txBody>
      </p:sp>
      <p:sp>
        <p:nvSpPr>
          <p:cNvPr id="36" name="Shape 30"/>
          <p:cNvSpPr/>
          <p:nvPr/>
        </p:nvSpPr>
        <p:spPr>
          <a:xfrm>
            <a:off x="4737767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2_S5_03_手縫いで引き締め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7767" y="4432786"/>
            <a:ext cx="910122" cy="1137652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4737767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4737767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手縫いに替える。</a:t>
            </a:r>
            <a:pPr indent="0" marL="0">
              <a:lnSpc>
                <a:spcPct val="124000"/>
              </a:lnSpc>
              <a:buNone/>
            </a:pPr>
            <a:r>
              <a:rPr lang="en-US" sz="6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両手で糸を引き締める（寄り）。機械と手の両方でやっていることを見せる。</a:t>
            </a:r>
            <a:endParaRPr lang="en-US" sz="620" dirty="0"/>
          </a:p>
        </p:txBody>
      </p:sp>
      <p:sp>
        <p:nvSpPr>
          <p:cNvPr id="40" name="Shape 33"/>
          <p:cNvSpPr/>
          <p:nvPr/>
        </p:nvSpPr>
        <p:spPr>
          <a:xfrm>
            <a:off x="5739329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2_S5_04_工房の引き_ミシンの前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39329" y="4432786"/>
            <a:ext cx="910122" cy="1137652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5739329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5739329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もう一段引く。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32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ASMRで製造の姿を撮る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55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工程の頭から始める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（完成品がまだ無いので、当日その場で一つ作りながら撮る）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一カットは一〜二秒。ただしS6のコバ塗りだけは六秒を一カットで見せる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最後に、完成した鞄を見せて閉じる。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、六秒を一カットで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42714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縁を整える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19-25秒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6_01_刃で切り込みを入れ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432786"/>
            <a:ext cx="910122" cy="11376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刃で縁に切り込みを入れる（超マクロ）。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0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切る一音を拾う。</a:t>
            </a:r>
            <a:pPr indent="0" marL="0">
              <a:lnSpc>
                <a:spcPct val="124000"/>
              </a:lnSpc>
              <a:buNone/>
            </a:pPr>
            <a:r>
              <a:rPr lang="en-US" sz="7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ここから仕上げに入る。</a:t>
            </a:r>
            <a:endParaRPr lang="en-US" sz="700" dirty="0"/>
          </a:p>
        </p:txBody>
      </p:sp>
      <p:sp>
        <p:nvSpPr>
          <p:cNvPr id="23" name="Shape 20"/>
          <p:cNvSpPr/>
          <p:nvPr/>
        </p:nvSpPr>
        <p:spPr>
          <a:xfrm>
            <a:off x="1413042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6_02_縫い代を開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042" y="4432786"/>
            <a:ext cx="910122" cy="11376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413042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413042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縫い代を開いて、縁を平らに整える（斜め上から）。</a:t>
            </a:r>
            <a:pPr indent="0" marL="0">
              <a:lnSpc>
                <a:spcPct val="124000"/>
              </a:lnSpc>
              <a:buNone/>
            </a:pPr>
            <a:r>
              <a:rPr lang="en-US" sz="6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裏の白い革と、表の色が同じ画に入る。</a:t>
            </a:r>
            <a:endParaRPr lang="en-US" sz="620" dirty="0"/>
          </a:p>
        </p:txBody>
      </p:sp>
      <p:sp>
        <p:nvSpPr>
          <p:cNvPr id="27" name="Shape 23"/>
          <p:cNvSpPr/>
          <p:nvPr/>
        </p:nvSpPr>
        <p:spPr>
          <a:xfrm>
            <a:off x="2414604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6_03_縁を指で起こす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4604" y="4432786"/>
            <a:ext cx="910122" cy="113765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414604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414604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指で縁をつまんで起こす（寄り・両手）。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断面がまっすぐ立ち上がる。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3416165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2_S6_04_断面に道具を当て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6165" y="4432786"/>
            <a:ext cx="910122" cy="1137652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3416165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3416165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断面に道具を当ててならす（横・寄り）。</a:t>
            </a:r>
            <a:pPr indent="0" marL="0">
              <a:lnSpc>
                <a:spcPct val="124000"/>
              </a:lnSpc>
              <a:buNone/>
            </a:pPr>
            <a:r>
              <a:rPr lang="en-US" sz="5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ここまでで断面が整い、</a:t>
            </a:r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次のコバ塗りに入れる状態になる。</a:t>
            </a:r>
            <a:endParaRPr lang="en-US" sz="580" dirty="0"/>
          </a:p>
        </p:txBody>
      </p:sp>
      <p:sp>
        <p:nvSpPr>
          <p:cNvPr id="35" name="Text 29"/>
          <p:cNvSpPr/>
          <p:nvPr/>
        </p:nvSpPr>
        <p:spPr>
          <a:xfrm>
            <a:off x="4737767" y="3936583"/>
            <a:ext cx="7042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コバ塗り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25-31秒</a:t>
            </a:r>
            <a:endParaRPr lang="en-US" sz="1150" dirty="0"/>
          </a:p>
        </p:txBody>
      </p:sp>
      <p:sp>
        <p:nvSpPr>
          <p:cNvPr id="36" name="Shape 30"/>
          <p:cNvSpPr/>
          <p:nvPr/>
        </p:nvSpPr>
        <p:spPr>
          <a:xfrm>
            <a:off x="4737767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2_S7_01_コバ塗り_塗り進む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7767" y="4378851"/>
            <a:ext cx="910122" cy="124552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4737767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4737767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0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塗った側と塗っていない側が同じ画面に入り、塗り終わるまで断面の色が変わっていく。</a:t>
            </a:r>
            <a:endParaRPr lang="en-US" sz="700" dirty="0"/>
          </a:p>
        </p:txBody>
      </p:sp>
      <p:sp>
        <p:nvSpPr>
          <p:cNvPr id="40" name="Text 3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32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ASMRで製造の姿を撮る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55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工程の頭から始める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（完成品がまだ無いので、当日その場で一つ作りながら撮る）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一カットは一〜二秒。ただしS6のコバ塗りだけは六秒を一カットで見せる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最後に、完成した鞄を見せて閉じる。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、六秒を一カットで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仕上げる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31-36秒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92615"/>
            <a:ext cx="837413" cy="14887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8_01_作業台で確かめ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413599"/>
            <a:ext cx="837413" cy="1046767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92615"/>
            <a:ext cx="837413" cy="14887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717926"/>
            <a:ext cx="837413" cy="664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作業台で手元を確かめる（引き）。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340333" y="4192615"/>
            <a:ext cx="837413" cy="14887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8_02_立ち上がった形を持つ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0333" y="4413599"/>
            <a:ext cx="837413" cy="1046767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340333" y="4192615"/>
            <a:ext cx="837413" cy="14887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340333" y="5717926"/>
            <a:ext cx="837413" cy="664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立ち上がった形を両手で持って確かめる（胸の高さ）。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道具は持たない。引きと寄りのあいだをつなぐ一枚。</a:t>
            </a:r>
            <a:endParaRPr lang="en-US" sz="640" dirty="0"/>
          </a:p>
        </p:txBody>
      </p:sp>
      <p:sp>
        <p:nvSpPr>
          <p:cNvPr id="27" name="Shape 23"/>
          <p:cNvSpPr/>
          <p:nvPr/>
        </p:nvSpPr>
        <p:spPr>
          <a:xfrm>
            <a:off x="2269186" y="4192615"/>
            <a:ext cx="837413" cy="14887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8_03_木槌で叩く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9186" y="4413599"/>
            <a:ext cx="837413" cy="1046767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269186" y="4192615"/>
            <a:ext cx="837413" cy="14887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269186" y="5717926"/>
            <a:ext cx="837413" cy="664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木槌で底を打つ（横・胸の高さ）。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打つ音を二つだけ拾う。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3198040" y="4192615"/>
            <a:ext cx="837413" cy="14887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2_S8_04_道具でコバを整え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98040" y="4413599"/>
            <a:ext cx="837413" cy="1046767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3198040" y="4192615"/>
            <a:ext cx="837413" cy="14887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3198040" y="5717926"/>
            <a:ext cx="837413" cy="664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塗り終わったコバを道具で整える（寄り）。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摩擦音。</a:t>
            </a:r>
            <a:endParaRPr lang="en-US" sz="720" dirty="0"/>
          </a:p>
        </p:txBody>
      </p:sp>
      <p:sp>
        <p:nvSpPr>
          <p:cNvPr id="35" name="Shape 29"/>
          <p:cNvSpPr/>
          <p:nvPr/>
        </p:nvSpPr>
        <p:spPr>
          <a:xfrm>
            <a:off x="4126893" y="4192615"/>
            <a:ext cx="837413" cy="14887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4" descr="/home/user/dougaseisaku/assets/ref4/2_S8_05_縁に印をつけ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6893" y="4413599"/>
            <a:ext cx="837413" cy="1046767"/>
          </a:xfrm>
          <a:prstGeom prst="rect">
            <a:avLst/>
          </a:prstGeom>
        </p:spPr>
      </p:pic>
      <p:sp>
        <p:nvSpPr>
          <p:cNvPr id="37" name="Shape 30"/>
          <p:cNvSpPr/>
          <p:nvPr/>
        </p:nvSpPr>
        <p:spPr>
          <a:xfrm>
            <a:off x="4126893" y="4192615"/>
            <a:ext cx="837413" cy="14887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4126893" y="5717926"/>
            <a:ext cx="837413" cy="664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縁に印をつける（寄り）</a:t>
            </a:r>
            <a:endParaRPr lang="en-US" sz="720" dirty="0"/>
          </a:p>
        </p:txBody>
      </p:sp>
      <p:sp>
        <p:nvSpPr>
          <p:cNvPr id="39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0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32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ASMRで製造の姿を撮る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55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工程の頭から始める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（完成品がまだ無いので、当日その場で一つ作りながら撮る）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一カットは一〜二秒。ただしS6のコバ塗りだけは六秒を一カットで見せる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最後に、完成した鞄を見せて閉じる。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、六秒を一カットで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完成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36-40秒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9_01_縁を折り返す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433525"/>
            <a:ext cx="912920" cy="114115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最後の一手。縁を手で仕上げる（寄り）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41584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9_02_完成品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840" y="4433525"/>
            <a:ext cx="912920" cy="114115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41584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41584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完成した鞄を両手で持ち上げる（横）。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ここで一つの鞄が揃う。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42020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共通_ロゴの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0200" y="4192615"/>
            <a:ext cx="912920" cy="1622969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42020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42020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ここで作業音も切る。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32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暗めでエレガントにブランドを映す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21秒 ／ 17ショット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035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黒スチレンボード一枚とライト一灯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2992603"/>
            <a:ext cx="33358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超マクロ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0-3秒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1_01_闇に光の帯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05725"/>
            <a:ext cx="1443909" cy="1052769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真っ黒。細い光の帯が一本だけ立つ。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946829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1_02_光の帯が動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6829" y="4159698"/>
            <a:ext cx="1443909" cy="744822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946829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946829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光の帯がゆっくり動く。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無音から低いBGMが立ち上がる。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3802218" y="2992603"/>
            <a:ext cx="797799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貼り合わせ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3-7秒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3802218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2" descr="/home/user/dougaseisaku/assets/ref4/3_S2_01_道具と染料が並ぶ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2218" y="4190057"/>
            <a:ext cx="1443909" cy="684104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3802218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3802218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作業台に革を置く。奥に染料と道具が並ぶ。</a:t>
            </a:r>
            <a:endParaRPr lang="en-US" sz="720" dirty="0"/>
          </a:p>
        </p:txBody>
      </p:sp>
      <p:sp>
        <p:nvSpPr>
          <p:cNvPr id="28" name="Shape 23"/>
          <p:cNvSpPr/>
          <p:nvPr/>
        </p:nvSpPr>
        <p:spPr>
          <a:xfrm>
            <a:off x="5337567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3_S2_02_手が革を持つ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7567" y="4065993"/>
            <a:ext cx="1443909" cy="932233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5337567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5337567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二枚を合わせて位置を決める。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腕時計・指輪は外す。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6872916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3_S2_03_暗がりで革を手に取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2916" y="4155011"/>
            <a:ext cx="1443909" cy="754197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6872916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6872916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合わせた革を押さえる。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ここから形になっていく。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 / 32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暗めでエレガントにブランドを映す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21秒 ／ 17ショット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035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黒スチレンボード一枚とライト一灯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2992603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形をつくる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7-12秒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248635"/>
            <a:ext cx="1441111" cy="256197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3_01_手で革を折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48291"/>
            <a:ext cx="1441111" cy="962662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248635"/>
            <a:ext cx="1441111" cy="256197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47186"/>
            <a:ext cx="14411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手だけ。革を折り上げる。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暗がりに革の面だけが浮く。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944031" y="3248635"/>
            <a:ext cx="1441111" cy="256197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3_02_縁を押さえる_マクロ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4031" y="4109182"/>
            <a:ext cx="1441111" cy="840881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944031" y="3248635"/>
            <a:ext cx="1441111" cy="256197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944031" y="5847186"/>
            <a:ext cx="14411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縁を押さえる（超マクロ）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476582" y="3248635"/>
            <a:ext cx="1441111" cy="256197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3_S3_03_角が立ち上が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6582" y="4257490"/>
            <a:ext cx="1441111" cy="544264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476582" y="3248635"/>
            <a:ext cx="1441111" cy="256197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476582" y="5847186"/>
            <a:ext cx="14411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角が立ち上がる。</a:t>
            </a:r>
            <a:endParaRPr lang="en-US" sz="720" dirty="0"/>
          </a:p>
        </p:txBody>
      </p:sp>
      <p:sp>
        <p:nvSpPr>
          <p:cNvPr id="27" name="Shape 22"/>
          <p:cNvSpPr/>
          <p:nvPr/>
        </p:nvSpPr>
        <p:spPr>
          <a:xfrm>
            <a:off x="5009133" y="3248635"/>
            <a:ext cx="1441111" cy="256197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8" name="Text 23"/>
          <p:cNvSpPr/>
          <p:nvPr/>
        </p:nvSpPr>
        <p:spPr>
          <a:xfrm>
            <a:off x="5009133" y="3248635"/>
            <a:ext cx="1441111" cy="2561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9" name="Text 24"/>
          <p:cNvSpPr/>
          <p:nvPr/>
        </p:nvSpPr>
        <p:spPr>
          <a:xfrm>
            <a:off x="5009133" y="5847186"/>
            <a:ext cx="14411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肩から先だけが光に入る。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顔は闇の中に置く。作っている人がいる、と分かるだけでいい。</a:t>
            </a:r>
            <a:endParaRPr lang="en-US" sz="720" dirty="0"/>
          </a:p>
        </p:txBody>
      </p:sp>
      <p:sp>
        <p:nvSpPr>
          <p:cNvPr id="30" name="Text 2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1" name="Text 2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 / 32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暗めでエレガントにブランドを映す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21秒 ／ 17ショット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035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黒スチレンボード一枚とライト一灯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2992603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金具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12-16秒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4_01_白手袋で金具を持つ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171132"/>
            <a:ext cx="1443909" cy="72195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白手袋で金具を革に取り付ける。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金属が触れる音。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946829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4_02_金具を取り付け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6829" y="4065993"/>
            <a:ext cx="1443909" cy="93223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946829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946829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取り付いた金具を手に取って確かめる（超マクロ）。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カチリと一音。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482178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3_S4_03_金具の寄り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2178" y="4052968"/>
            <a:ext cx="1443909" cy="958283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482178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482178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取り付いた金具の寄り。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ここだけ光が回った明るい画にする。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28" name="Text 2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 / 32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暗めでエレガントにブランドを映す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21秒 ／ 17ショット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035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黒スチレンボード一枚とライト一灯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2992603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完成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16-21秒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248635"/>
            <a:ext cx="1441111" cy="256197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11480" y="3248635"/>
            <a:ext cx="1441111" cy="2561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5847186"/>
            <a:ext cx="14411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黒の中に、作業する人のシルエット（引き）。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顔も手も見えない。ここだけ工房で撮る。</a:t>
            </a:r>
            <a:endParaRPr lang="en-US" sz="720" dirty="0"/>
          </a:p>
        </p:txBody>
      </p:sp>
      <p:sp>
        <p:nvSpPr>
          <p:cNvPr id="18" name="Shape 16"/>
          <p:cNvSpPr/>
          <p:nvPr/>
        </p:nvSpPr>
        <p:spPr>
          <a:xfrm>
            <a:off x="1944031" y="3248635"/>
            <a:ext cx="1441111" cy="256197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9" name="Image 0" descr="/home/user/dougaseisaku/assets/ref4/3_S5_01_道具の前で持ち上げ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4031" y="4120375"/>
            <a:ext cx="1441111" cy="818495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1944031" y="3248635"/>
            <a:ext cx="1441111" cy="256197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944031" y="5847186"/>
            <a:ext cx="14411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店の奥、道具の前で完成品を持ち上げる。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ここだけ背景に道具が入る。</a:t>
            </a:r>
            <a:endParaRPr lang="en-US" sz="720" dirty="0"/>
          </a:p>
        </p:txBody>
      </p:sp>
      <p:sp>
        <p:nvSpPr>
          <p:cNvPr id="22" name="Shape 19"/>
          <p:cNvSpPr/>
          <p:nvPr/>
        </p:nvSpPr>
        <p:spPr>
          <a:xfrm>
            <a:off x="3476582" y="3248635"/>
            <a:ext cx="1441111" cy="256197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3" name="Image 1" descr="/home/user/dougaseisaku/assets/ref4/3_S5_02_完成品を両手で持つ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6582" y="4216982"/>
            <a:ext cx="1441111" cy="625281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3476582" y="3248635"/>
            <a:ext cx="1441111" cy="256197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3476582" y="5847186"/>
            <a:ext cx="14411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黒い背景に戻り、完成品を両手で持つ。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上から一灯だけ。</a:t>
            </a:r>
            <a:endParaRPr lang="en-US" sz="720" dirty="0"/>
          </a:p>
        </p:txBody>
      </p:sp>
      <p:sp>
        <p:nvSpPr>
          <p:cNvPr id="26" name="Shape 22"/>
          <p:cNvSpPr/>
          <p:nvPr/>
        </p:nvSpPr>
        <p:spPr>
          <a:xfrm>
            <a:off x="5009133" y="3248635"/>
            <a:ext cx="1441111" cy="256197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7" name="Image 2" descr="/home/user/dougaseisaku/assets/ref4/3_S5_03_完成品が作業台に立つ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9133" y="4051409"/>
            <a:ext cx="1441111" cy="956426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5009133" y="3248635"/>
            <a:ext cx="1441111" cy="256197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5009133" y="5847186"/>
            <a:ext cx="14411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完成品が作業台に立つ。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道具に囲まれた引き。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ここが着地点。</a:t>
            </a:r>
            <a:endParaRPr lang="en-US" sz="720" dirty="0"/>
          </a:p>
        </p:txBody>
      </p:sp>
      <p:sp>
        <p:nvSpPr>
          <p:cNvPr id="30" name="Shape 25"/>
          <p:cNvSpPr/>
          <p:nvPr/>
        </p:nvSpPr>
        <p:spPr>
          <a:xfrm>
            <a:off x="6541684" y="3248635"/>
            <a:ext cx="1441111" cy="256197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1" name="Image 3" descr="/home/user/dougaseisaku/assets/ref4/共通_ロゴのみ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1684" y="3248635"/>
            <a:ext cx="1441111" cy="2561975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6541684" y="3248635"/>
            <a:ext cx="1441111" cy="256197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6541684" y="5847186"/>
            <a:ext cx="14411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BGMが止まる → 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ロゴのみ。テロップは出さない。</a:t>
            </a:r>
            <a:endParaRPr lang="en-US" sz="720" dirty="0"/>
          </a:p>
        </p:txBody>
      </p:sp>
      <p:sp>
        <p:nvSpPr>
          <p:cNvPr id="34" name="Text 28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5" name="Text 29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 / 32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鞄を持って街を歩く（海外ドラマ風）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What You Carry Makes You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鞄を街に置いて撮る。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次の画へ横にスライドしてつなぐ。顔を主役にしない。カバンの中身を映す。ドラマ風の演出で実用性を訴求する。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置き画で終えて、そのままロゴだけにする。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自然光のみ。曇りの日でよい。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鞄を街に置くだけで絵になる。中身も、持った姿も、同じ一本で見せる。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 面 に テ ロ ッ プ は 出 さ な い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777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言葉は投稿の本文に置く。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例：持ち歩くものが、その人をつくる。／ What you carry makes you.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参考動画のキャプションの言い回し（New York polish, designed to carry your everyday）は使わない。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3391647"/>
            <a:ext cx="4189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街に置く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4_S1_01_フェンスに掛ける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803984"/>
            <a:ext cx="1216649" cy="185032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フェンスに掛ける（引き・三脚で固定）。カメラは止めたまま、背景の街だけが動く。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719569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4_S1_02_肩に掛けて立つ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569" y="3886362"/>
            <a:ext cx="1216649" cy="168556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719569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719569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鞄を肩に掛けて立つ（横・引き）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027657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4_S1_03_石壁の前で全身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7657" y="3803984"/>
            <a:ext cx="1216649" cy="1850320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027657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027657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石壁の前。全身の引き。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顔は主役にしない。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655786" y="3391647"/>
            <a:ext cx="71244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中を見せる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8-15秒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655786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4_S2_01_真俯瞰_口を開け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5786" y="3803984"/>
            <a:ext cx="1216649" cy="1850320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655786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655786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鞄の口を開ける。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5963875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4_S2_02_真俯瞰_中身を整え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3875" y="3803984"/>
            <a:ext cx="1216649" cy="185032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5963875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5963875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真俯瞰。中身を整える手（寄り）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7271963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4_S2_03_横にスライドしてつなぐ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71963" y="3803984"/>
            <a:ext cx="1216649" cy="185032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271963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7271963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参考動画のつなぎ方はこれ一つだけ。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 / 32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鞄を持って街を歩く（海外ドラマ風）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What You Carry Makes You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鞄を街に置いて撮る。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次の画へ横にスライドしてつなぐ。顔を主役にしない。カバンの中身を映す。ドラマ風の演出で実用性を訴求する。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置き画で終えて、そのままロゴだけにする。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自然光のみ。曇りの日でよい。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鞄を街に置くだけで絵になる。中身も、持った姿も、同じ一本で見せる。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 面 に テ ロ ッ プ は 出 さ な い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777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言葉は投稿の本文に置く。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例：持ち歩くものが、その人をつくる。／ What you carry makes you.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参考動画のキャプションの言い回し（New York polish, designed to carry your everyday）は使わない。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3391647"/>
            <a:ext cx="288694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街を歩く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15-22秒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4_S3_01_高架を歩く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804344"/>
            <a:ext cx="1219447" cy="185457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高い通路を歩く（引き）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722367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4_S3_02_肩の鞄に寄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2367" y="3804344"/>
            <a:ext cx="1219447" cy="185457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722367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722367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肩に掛かった鞄に寄る。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3353293" y="3391647"/>
            <a:ext cx="842692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立ち止まって終わる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22-30秒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3353293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2" descr="/home/user/dougaseisaku/assets/ref4/4_S4_01_立ち止ま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293" y="3804344"/>
            <a:ext cx="1219447" cy="1854575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3353293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3353293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フェンスの前で立ち止まる。</a:t>
            </a:r>
            <a:endParaRPr lang="en-US" sz="720" dirty="0"/>
          </a:p>
        </p:txBody>
      </p:sp>
      <p:sp>
        <p:nvSpPr>
          <p:cNvPr id="28" name="Shape 23"/>
          <p:cNvSpPr/>
          <p:nvPr/>
        </p:nvSpPr>
        <p:spPr>
          <a:xfrm>
            <a:off x="4664180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4_S4_02_真俯瞰_持ち物を並べ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4180" y="3804344"/>
            <a:ext cx="1219447" cy="185457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664180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664180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真俯瞰。鞄と持ち物・靴を並べる置き画。この画で終わる。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5975067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共通_ロゴのみ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75067" y="3647679"/>
            <a:ext cx="1219447" cy="2167905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5975067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5975067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 / 32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六十一秒 ／ 19ショット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51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高いところから見下ろす画（表参道の並木通り・ドローンは使わない）から入り、企画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画に映るのは永尾社長が冒頭と締めの二カットだけ。あとは声だけが画の上に流れ続ける。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頭と終わりを同じ顔で挟むと、六十一秒が一本にまとまる。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企画から使う場面まで、会社の全体を六十一秒で見せる。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永尾社長＝バストショット（顔の下に役職テロップ・冒頭と締めの二回）／くさがやさん＝横顔（空いた側に見出しテロップ）。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453352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空から入る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0-6秒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1_01_空撮_街と工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724905"/>
            <a:ext cx="1765249" cy="961911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高いところから、表参道の並木通りを見下ろす。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ドローンは使わない。商業施設の上階などから。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人は入れず、景色だけ。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1_02_空撮_建物に寄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8169" y="3724905"/>
            <a:ext cx="1765249" cy="961911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並木通りに寄っていく。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ここで永尾社長の声が先に入りはじめる（Jカット）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人は入れない。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4858" y="3830371"/>
            <a:ext cx="1765249" cy="750979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永尾社長。この一カットだけ画に映る。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バストショット、顔の下に役職テロップ。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声は次のシーンにかぶったまま続く。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45335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企画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6-15秒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3_01_色見本を見ながら打ち合わせ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39498" y="3709384"/>
            <a:ext cx="1489429" cy="992953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色見本を見ながら打ち合わせる。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二人で同じものを覗き込む（俯瞰気味）。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企画はここから始まる。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4_01_革が色ごとに並ぶ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5657" y="3709384"/>
            <a:ext cx="1710488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革を並べて色を決める。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扱える色数がそのまま伝わる。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10014966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5_S3_03_机に広がる色見本と資料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29388" y="3709384"/>
            <a:ext cx="1336405" cy="992953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10014966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10014966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机いっぱいに色見本と資料が広がる。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手が動いて話している（引き）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 / 32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六十一秒 ／ 19ショット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51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高いところから見下ろす画（表参道の並木通り・ドローンは使わない）から入り、企画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画に映るのは永尾社長が冒頭と締めの二カットだけ。あとは声だけが画の上に流れ続ける。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頭と終わりを同じ顔で挟むと、六十一秒が一本にまとまる。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企画から使う場面まで、会社の全体を六十一秒で見せる。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永尾社長＝バストショット（顔の下に役職テロップ・冒頭と締めの二回）／くさがやさん＝横顔（空いた側に見出しテロップ）。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453352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設計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15-24秒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5_01_図面をなぞる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724905"/>
            <a:ext cx="1765249" cy="961911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手が図面をなぞる（寄り）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5_02_図面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8169" y="3728645"/>
            <a:ext cx="1765249" cy="954431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型紙・図面の俯瞰。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5_03_机で数値を入れ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4858" y="3724905"/>
            <a:ext cx="1765249" cy="961911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机で数値を決める。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永尾社長の声はそのまま続いている。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45335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製造（簡潔に）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24-38秒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6_S2_01_工房の全景_引き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3724905"/>
            <a:ext cx="1765249" cy="961911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工房の全体（引き）。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ここから製造に入る。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永尾社長の声はそのまま続く。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5_02_大型の機械が動く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5657" y="3709384"/>
            <a:ext cx="1710488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大型の機械が動いている（引き）。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設備の規模がそのまま伝わる。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10014966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5_S6_02_職人が革を扱う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42347" y="3709384"/>
            <a:ext cx="1710488" cy="992953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10014966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10014966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裁つ・縫う・磨く。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一工程一カット。説明はしない。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ここでくさがやさんの声が先に入りはじめる（Jカット）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 / 32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六十一秒 ／ 19ショット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51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高いところから見下ろす画（表参道の並木通り・ドローンは使わない）から入り、企画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画に映るのは永尾社長が冒頭と締めの二カットだけ。あとは声だけが画の上に流れ続ける。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頭と終わりを同じ顔で挟むと、六十一秒が一本にまとまる。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企画から使う場面まで、会社の全体を六十一秒で見せる。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永尾社長＝バストショット（顔の下に役職テロップ・冒頭と締めの二回）／くさがやさん＝横顔（空いた側に見出しテロップ）。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453352"/>
            <a:ext cx="39785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店舗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38-49秒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6_02_店内_ショーケースと棚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941" y="3709384"/>
            <a:ext cx="1534327" cy="992953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店内（引き）。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ショーケースと棚が並ぶ。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人は入れない。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ロゴが入る位置まで見せる。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2_03_今の店舗_ショーウィンドウ越し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8351" y="3709384"/>
            <a:ext cx="1004885" cy="99295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ショーウィンドウ越しに店内を見せる。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外から見た店の顔。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棚から商品を手に取る寄りも撮っておく。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4444898" y="3453352"/>
            <a:ext cx="733531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購入・使う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49-56秒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4444898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2" descr="/home/user/dougaseisaku/assets/ref4/5_S7_01_会計_カウンターで応対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5280" y="3709384"/>
            <a:ext cx="1184487" cy="992953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4444898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444898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店員が応対する。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二人が同じ画面に入る。購入シーン、笑顔で見送る。</a:t>
            </a:r>
            <a:endParaRPr lang="en-US" sz="720" dirty="0"/>
          </a:p>
        </p:txBody>
      </p:sp>
      <p:sp>
        <p:nvSpPr>
          <p:cNvPr id="28" name="Shape 23"/>
          <p:cNvSpPr/>
          <p:nvPr/>
        </p:nvSpPr>
        <p:spPr>
          <a:xfrm>
            <a:off x="6301588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7_02_手渡しと笑顔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87031" y="3709384"/>
            <a:ext cx="794362" cy="992953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手渡される瞬間と、受け取った人の笑顔。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渡す側と受け取る側を一つの画に入れる。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7_03_使っている手元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37365" y="3709384"/>
            <a:ext cx="1207073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実際に使われている手元。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ノートPCを入れる。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ここで永尾社長の声がもう一度入りはじめる（Jカット）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 / 32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六十一秒 ／ 19ショット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51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高いところから見下ろす画（表参道の並木通り・ドローンは使わない）から入り、企画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画に映るのは永尾社長が冒頭と締めの二カットだけ。あとは声だけが画の上に流れ続ける。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頭と終わりを同じ顔で挟むと、六十一秒が一本にまとまる。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企画から使う場面まで、会社の全体を六十一秒で見せる。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永尾社長＝バストショット（顔の下に役職テロップ・冒頭と締めの二回）／くさがやさん＝横顔（空いた側に見出しテロップ）。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453352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締め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56-61秒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830371"/>
            <a:ext cx="1765249" cy="750979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永尾社長。締めの一言。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冒頭と同じ画角に戻し、頭と終わりで挟む。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この一本で言いたいことを、本人の言葉で置く。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共通_ロゴのみ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1526" y="3709384"/>
            <a:ext cx="558536" cy="99295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声が終わり、音が引く。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ロゴだけ。テロップは出さない。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 / 32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OEM工房案内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工程順に見せる案内型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（工房の全体から、工程順に、梱包場で終わる）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高いところからの俯瞰は使わず、工房の全体の引きで始める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（俯瞰は5本目にある）。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歩いて見せず、工程ごとにカメラを置き直して画角を変える。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。工房の全体の引きと、材料が壁一面に並ぶ画を並べ、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この6本目は工房の実景・自然光・人と機械・工程ごとに置き直すカメラ・作業音・梱包と問い合わせ先で終わる。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工房の全体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0-10秒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1_03_入口から通路の奥へ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2649" y="4108145"/>
            <a:ext cx="1762912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工房の全体（広角の引き・固定）。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天井の照明が奥まで連なる。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まだ人の顔は出さない。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1_04_機械の前の作業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9338" y="4108145"/>
            <a:ext cx="1762912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機械の前で作業している（引き）。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人は小さく、顔が分からない大きさで入れる。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2_04_通路を奥へ進む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6027" y="4108145"/>
            <a:ext cx="1762912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作業台の手元（寄り）。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ここまで三つとも、置く位置と画角を変えて固定で撮る。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機械と材料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10-25秒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2_06_材料が壁一面に並ぶ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2756" y="4108145"/>
            <a:ext cx="1762912" cy="992953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材料が壁一面に並ぶ（正面）。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量がそのまま伝わる画角。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2_02_機械と人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5657" y="4108145"/>
            <a:ext cx="1710488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機械と人が同じ画面に入る。台数と人数が分かる。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人は引きの中に小さく入れる。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5_S3_02_引き_ロゴの壁を背に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229132"/>
            <a:ext cx="1765249" cy="750979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佐藤さん。ここで初めて人が画に映る。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引き、背景に工房。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ここから最後まで、佐藤さんの声が画の上に流れ続ける。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各シーンで絵に合った強みを語る。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 / 32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OEM工房案内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工程順に見せる案内型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（工房の全体から、工程順に、梱包場で終わる）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高いところからの俯瞰は使わず、工房の全体の引きで始める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（俯瞰は5本目にある）。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歩いて見せず、工程ごとにカメラを置き直して画角を変える。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。工房の全体の引きと、材料が壁一面に並ぶ画を並べ、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この6本目は工房の実景・自然光・人と機械・工程ごとに置き直すカメラ・作業音・梱包と問い合わせ先で終わる。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革を選ぶ・金型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25-42秒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3_01_棚に並ぶ革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861" y="4108145"/>
            <a:ext cx="1710488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棚に革が並ぶシーン。奥行きがあるように撮影。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扱える革の種類の多さと量がそのまま伝わる。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3_02_金型が並ぶ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169" y="4123666"/>
            <a:ext cx="1765249" cy="96191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金型・型紙が品番ごとに並ぶ。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手が一つを抜き出す。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3_03_取り都合を決め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2239" y="4108145"/>
            <a:ext cx="1710488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革の上に型紙を置き、取り都合を決める（寄り）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裁断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42-62秒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4_01_機械が下り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253815"/>
            <a:ext cx="1765249" cy="70161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金型が置かれ、裁断機が下りる。テロップ「金型裁断 Die Cutting」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4_02_手で切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5657" y="4108145"/>
            <a:ext cx="1710488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革包丁で細部を切る。テロップ「手裁断 Hand Cutting」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4_03_パーツが並ぶ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123666"/>
            <a:ext cx="1765249" cy="961911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裁ち上がったパーツが並ぶ。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量産も少量も同じ場所でできる。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 / 32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OEM工房案内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工程順に見せる案内型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（工房の全体から、工程順に、梱包場で終わる）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高いところからの俯瞰は使わず、工房の全体の引きで始める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（俯瞰は5本目にある）。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歩いて見せず、工程ごとにカメラを置き直して画角を変える。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。工房の全体の引きと、材料が壁一面に並ぶ画を並べ、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この6本目は工房の実景・自然光・人と機械・工程ごとに置き直すカメラ・作業音・梱包と問い合わせ先で終わる。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下仕事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62-82秒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5_01_折り目をつける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123666"/>
            <a:ext cx="1765249" cy="96191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へらで折り目をつけ、縁を折り返す（寄り）。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テロップ「折り目つけ Creasing」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5_02_スプレーを吹く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169" y="4123666"/>
            <a:ext cx="1765249" cy="96191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革の裏にスプレーを吹き、貼り合わせる。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テロップ「貼り合わせ Bonding」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5_03_コバ塗り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0535" y="4108145"/>
            <a:ext cx="813896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断面に塗料をのせる（超マクロ）。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塗った側と塗っていない側が同じ画面に入る。テロップ「コバ塗り Edge Painting」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598154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6_S5_04_職人の目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1548" y="4124662"/>
            <a:ext cx="1765249" cy="959919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598154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598154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Bロール：職人の目だけの超マクロ。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手元を見ている目に寄る。テロップは出さない。</a:t>
            </a:r>
            <a:endParaRPr lang="en-US" sz="720" dirty="0"/>
          </a:p>
        </p:txBody>
      </p:sp>
      <p:sp>
        <p:nvSpPr>
          <p:cNvPr id="35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6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 / 32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OEM工房案内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工程順に見せる案内型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（工房の全体から、工程順に、梱包場で終わる）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高いところからの俯瞰は使わず、工房の全体の引きで始める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（俯瞰は5本目にある）。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歩いて見せず、工程ごとにカメラを置き直して画角を変える。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。工房の全体の引きと、材料が壁一面に並ぶ画を並べ、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この6本目は工房の実景・自然光・人と機械・工程ごとに置き直すカメラ・作業音・梱包と問い合わせ先で終わる。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縫製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82-102秒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6_01_部品を手に取る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924" y="4108145"/>
            <a:ext cx="794362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縫う部品を手に取り、ミシンへ向かう。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縫い目と糸端が見える（寄り・背景ボケ）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6_02_針が革に落ち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1410" y="4108145"/>
            <a:ext cx="1038768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ミシンの針が革に落ちる（超マクロ）。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押さえ金と革だけ。テロップ「機械縫製 Machine Stitching」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6_03_ミシンで縫い進め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5542" y="4108145"/>
            <a:ext cx="803883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両手が生地を送り、縫い進める（引き寄り）。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手の動きと機械の音が同時に入る。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手縫いにも対応しているので、手で縫うカットも一つ撮っておく。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テロップ「手縫い Hand Stitching」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検品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102-122秒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7_01_光にかざす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123666"/>
            <a:ext cx="1765249" cy="961911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一点を手に取り、光にかざす。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作業音が消える。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7_02_開いて内側を確かめ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5848" y="4108145"/>
            <a:ext cx="1490106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手に取って開き、内側と縫い目まで確かめる（寄り）。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片方の手で押さえ、もう片方でめくる。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2_03_職人の顔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123666"/>
            <a:ext cx="1765249" cy="961911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Bロール：職人の作業シーン。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手を止めずに作業している横顔（寄り）。テロップ「検品 Inspection」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 / 32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OEM工房案内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工程順に見せる案内型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（工房の全体から、工程順に、梱包場で終わる）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高いところからの俯瞰は使わず、工房の全体の引きで始める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（俯瞰は5本目にある）。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歩いて見せず、工程ごとにカメラを置き直して画角を変える。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。工房の全体の引きと、材料が壁一面に並ぶ画を並べ、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この6本目は工房の実景・自然光・人と機械・工程ごとに置き直すカメラ・作業音・梱包と問い合わせ先で終わる。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梱包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122-133秒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8_01_白手袋で包む_手元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7930" y="4108145"/>
            <a:ext cx="1492349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梱包シーン。包む。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手元の寄り。不織布の角を折る。紙の音。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8_02_箱に納める_梱包場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767" y="4108145"/>
            <a:ext cx="1626053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箱に納め、テープで閉じる。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梱包場の引き。奥にも人が写る。テロップ「梱包 Packing」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4858" y="4229132"/>
            <a:ext cx="1765249" cy="750979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佐藤さん。話し終わる瞬間。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バストショットに寄る。言い終えて口を閉じるところまで残す。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S9 締めカード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133-140秒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9_01_締めカード_対応技法一覧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108145"/>
            <a:ext cx="1765249" cy="992953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対応技法の一覧（この見本のとおり文字で出す）。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下段に「小ロットから量産まで」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9_02_締めカード_問い合わせ先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8277" y="4108145"/>
            <a:ext cx="1765249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問い合わせ先とURL。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社名・住所・TEL・メール・WEBを一画面。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連絡先は確定したものに差し替え。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9_03_締めカード_ロゴのみ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108145"/>
            <a:ext cx="1765249" cy="992953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白に反転してロゴだけ。ここでBGMも切る。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 / 32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製品の中身と使い勝手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598702"/>
            <a:ext cx="38484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机の上の鞄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0-7秒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1_01_机の上の鞄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80433"/>
            <a:ext cx="1102978" cy="15094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机に鞄が一つ置いてある。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正面固定の引き。手前に入れるものが並べてある。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605898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1_02_正面固定_同じ画角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5898" y="4080433"/>
            <a:ext cx="1102978" cy="15094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605898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605898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ここから最後までこの画角のまま。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800317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7_S1_03_鞄を開け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0317" y="4080433"/>
            <a:ext cx="1102978" cy="150945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800317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800317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人が入ってきて、鞄の口を開ける。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中は空。顔は入れない。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314775" y="3598702"/>
            <a:ext cx="746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書類とPCを入れる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7-15秒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4314775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7_S2_01_PCを入れ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4775" y="4080433"/>
            <a:ext cx="1102978" cy="150945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4314775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314775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A4書類とノートPCを入れる。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5509193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7_S2_02_底まで収ま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9193" y="4080433"/>
            <a:ext cx="1102978" cy="1509452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5509193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5509193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ノートPCが底まで収まる。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入れる音を拾う。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6703612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7_S2_03_手帳と小物を入れ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03612" y="4080433"/>
            <a:ext cx="1102978" cy="1509452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6703612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6703612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手帳・鍵・サングラス。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 / 32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製品の中身と使い勝手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598702"/>
            <a:ext cx="38484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小物を入れる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15-23秒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3_01_さらに入れ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80433"/>
            <a:ext cx="1102978" cy="15094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ペン・小物。入れる音を一つずつ拾う。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605898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3_02_小物を入れ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5898" y="4080433"/>
            <a:ext cx="1102978" cy="15094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605898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605898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傘・水筒まで入れる。それでもまだ閉まる。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800317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7_S3_03_最後の一つを入れ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0317" y="4153210"/>
            <a:ext cx="1102978" cy="1363898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800317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800317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最後の一つを入れる。ここで手が止まる。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314775" y="3598702"/>
            <a:ext cx="746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持って出る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23-28秒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4314775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7_S4_01_持ち上げ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4775" y="4080433"/>
            <a:ext cx="1102978" cy="150945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4314775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314775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持ち手をまとめて持ち上げる。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5509193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7_S4_02_肩に掛け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9193" y="4080433"/>
            <a:ext cx="1102978" cy="1509452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5509193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5509193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肩に掛けて、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そのままフレームの外へ出ていく。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台は動かさない。</a:t>
            </a:r>
            <a:endParaRPr lang="en-US" sz="720" dirty="0"/>
          </a:p>
        </p:txBody>
      </p:sp>
      <p:sp>
        <p:nvSpPr>
          <p:cNvPr id="40" name="Text 3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27 / 32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製品の中身と使い勝手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598702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机だけが残る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28-35秒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5_01_机だけが残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79636"/>
            <a:ext cx="1100180" cy="150607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人も鞄もフレームから出て、何も乗っていない机だけが残る。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参考動画と同じ終わり方。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603100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5_02_テロップ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3100" y="3854734"/>
            <a:ext cx="1100180" cy="19558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603100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603100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その画にテロップを重ねる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「朝も仕事も、スマートに。」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794720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共通_ロゴの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4720" y="3854734"/>
            <a:ext cx="1100180" cy="1955876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794720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794720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 / 32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21ショット（仮）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250012"/>
            <a:ext cx="44284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外から中へ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0-5秒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506044"/>
            <a:ext cx="1296318" cy="230456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1_01_外観のロー_青空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384711"/>
            <a:ext cx="1296318" cy="547232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506044"/>
            <a:ext cx="1296318" cy="230456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47186"/>
            <a:ext cx="12963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空を入れて見上げる。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ロゴを重ねる。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799238" y="3506044"/>
            <a:ext cx="1296318" cy="230456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1_02_外観の全景_入口に人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9238" y="4384711"/>
            <a:ext cx="1296318" cy="547232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799238" y="3506044"/>
            <a:ext cx="1296318" cy="230456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799238" y="5847186"/>
            <a:ext cx="12963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外から中へ入っていく。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全景の引きから、扉を抜けるところまで切らずに追う。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186997" y="3506044"/>
            <a:ext cx="1296318" cy="230456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1_03_厨房_作っている手元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6997" y="4384711"/>
            <a:ext cx="1296318" cy="547232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186997" y="3506044"/>
            <a:ext cx="1296318" cy="230456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186997" y="5847186"/>
            <a:ext cx="12963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中に入って、そのまま手元の寄りへ。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外から中への流れを一続きに見せる。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894795" y="3250012"/>
            <a:ext cx="68854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商品と空間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5-11秒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894795" y="3506044"/>
            <a:ext cx="1296318" cy="230456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2_01_焼き上がりの寄り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4795" y="4384275"/>
            <a:ext cx="1296318" cy="548104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894795" y="3506044"/>
            <a:ext cx="1296318" cy="230456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894795" y="5847186"/>
            <a:ext cx="12963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商品の寄り。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できあがった瞬間。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6282553" y="3506044"/>
            <a:ext cx="1296318" cy="230456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2_02_商品の真俯瞰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2553" y="4362034"/>
            <a:ext cx="1296318" cy="592586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6282553" y="3506044"/>
            <a:ext cx="1296318" cy="230456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6282553" y="5847186"/>
            <a:ext cx="12963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商品の真俯瞰。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並べて撮る。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7670312" y="3506044"/>
            <a:ext cx="1296318" cy="230456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2_03_窓際の席と光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0312" y="4417260"/>
            <a:ext cx="1296318" cy="482134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670312" y="3506044"/>
            <a:ext cx="1296318" cy="230456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7670312" y="5847186"/>
            <a:ext cx="12963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空間。窓際と光。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ここまで人の顔は出さない。</a:t>
            </a:r>
            <a:pPr indent="0" marL="0">
              <a:lnSpc>
                <a:spcPct val="124000"/>
              </a:lnSpc>
              <a:buNone/>
            </a:pPr>
            <a:endParaRPr lang="en-US" sz="72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Jカットで、声が先に入りはじめる。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 / 32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21ショット（仮）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250012"/>
            <a:ext cx="40047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話しはじめる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11-19秒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3_01_インタビュー_バストショット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328180"/>
            <a:ext cx="1155098" cy="40923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バストショット。植物を置いてボカす。話した言葉をそのままテロップで出す。</a:t>
            </a:r>
            <a:pPr indent="0" marL="0">
              <a:lnSpc>
                <a:spcPct val="124000"/>
              </a:lnSpc>
              <a:buNone/>
            </a:pPr>
            <a:endParaRPr lang="en-US" sz="72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質問は入れず、答えから始める。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右下に「購入者 Aさん」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のテロップ。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658018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3_02_店内の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018" y="4328180"/>
            <a:ext cx="1155098" cy="40923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658018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658018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ここから画はBロールに変わるが、声はそのまま流し続ける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（引き）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2904557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3_03_商品の寄り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4557" y="4328180"/>
            <a:ext cx="1155098" cy="409235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2904557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2904557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商品の寄り。話している内容に合わせて切り替える。質問テロップを入れる。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471135" y="3250012"/>
            <a:ext cx="730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なぜ選んだか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19-28秒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471135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4_01_インタビュー_同じ画角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135" y="4328180"/>
            <a:ext cx="1155098" cy="40923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471135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471135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インタビューに戻る。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同じ画角。カメラは一度も動かさない。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左上に質問テロップ。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5717674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4_02_壁とテーブル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7674" y="4328180"/>
            <a:ext cx="1155098" cy="409235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5717674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5717674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声の上にBロール。空間の引き。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6964212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4_03_窓辺とドライフラワー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4212" y="4328180"/>
            <a:ext cx="1155098" cy="409235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6964212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6964212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窓辺の一枚。間を作る。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 / 32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21ショット（仮）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250012"/>
            <a:ext cx="44368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使っている場面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28-38秒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5_01_二階のテーブル席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430685"/>
            <a:ext cx="1299116" cy="460258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別の場所へ移る（引き）。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声あり。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802036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5_02_ソファ席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036" y="4430685"/>
            <a:ext cx="1299116" cy="46025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802036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802036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落ち着いた場所での一枚。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192593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5_03_外に出る_青空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2593" y="4430685"/>
            <a:ext cx="1299116" cy="460258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192593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192593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外に出る。空を入れて気分を変える。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903189" y="3250012"/>
            <a:ext cx="68770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本音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38-50秒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903189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6_01_インタビュー_表情のアップ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3189" y="4430685"/>
            <a:ext cx="1299116" cy="46025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903189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903189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インタビューに戻る。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表情のアップ。買ってから変わったことを一言で。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6293746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6_02_屋上で手を上げ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3746" y="4430685"/>
            <a:ext cx="1299116" cy="460258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6293746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6293746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外の引きに人が入る。声はそのまま続く。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7684302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6_03_窓辺に戻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4302" y="4430685"/>
            <a:ext cx="1299116" cy="460258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684302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7684302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静かな一枚を入れる。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 / 32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21ショット（仮）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250012"/>
            <a:ext cx="30462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見送りで終わる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50-60秒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7_01_店の前にスタッフが出る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386170"/>
            <a:ext cx="1299116" cy="549287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スタッフが出てくる（引き）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802036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7_02_手を振って見送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036" y="4386170"/>
            <a:ext cx="1299116" cy="549287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802036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802036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手を振って見送る。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カメラは動かさない。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3512633" y="3250012"/>
            <a:ext cx="82675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白に抜ける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60秒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3512633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2" descr="/home/user/dougaseisaku/assets/ref4/8_S8_01_白に抜けてロゴだけ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2633" y="4295437"/>
            <a:ext cx="1299116" cy="730753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3512633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3512633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映像が白に抜けて、ロゴだけが残る。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ここで音も切る。</a:t>
            </a:r>
            <a:endParaRPr lang="en-US" sz="720" dirty="0"/>
          </a:p>
        </p:txBody>
      </p:sp>
      <p:sp>
        <p:nvSpPr>
          <p:cNvPr id="28" name="Text 2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29" name="Text 2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32 / 32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2026-09-10T09:05:54Z</dcterms:created>
  <dcterms:modified xsi:type="dcterms:W3CDTF">2026-09-10T09:05:54Z</dcterms:modified>
</cp:coreProperties>
</file>