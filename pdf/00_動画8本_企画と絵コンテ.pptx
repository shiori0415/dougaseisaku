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ZG2DvMh-Ts/" TargetMode="External"/><Relationship Id="rId2" Type="http://schemas.openxmlformats.org/officeDocument/2006/relationships/hyperlink" Target="https://www.instagram.com/reel/DbAniDDyF0U/" TargetMode="External"/><Relationship Id="rId3" Type="http://schemas.openxmlformats.org/officeDocument/2006/relationships/hyperlink" Target="https://www.instagram.com/reels/DWiwFp5DED-/" TargetMode="External"/><Relationship Id="rId4" Type="http://schemas.openxmlformats.org/officeDocument/2006/relationships/hyperlink" Target="https://www.instagram.com/reels/DcOkNyyoFFJ/" TargetMode="External"/><Relationship Id="rId5" Type="http://schemas.openxmlformats.org/officeDocument/2006/relationships/hyperlink" Target="https://www.youtube.com/watch?v=4DEy0CAg43s" TargetMode="External"/><Relationship Id="rId6" Type="http://schemas.openxmlformats.org/officeDocument/2006/relationships/hyperlink" Target="https://youtu.be/OU-qyAcn2YM" TargetMode="External"/><Relationship Id="rId7" Type="http://schemas.openxmlformats.org/officeDocument/2006/relationships/hyperlink" Target="https://youtu.be/OPDWrOeD-gU" TargetMode="External"/><Relationship Id="rId8" Type="http://schemas.openxmlformats.org/officeDocument/2006/relationships/hyperlink" Target="https://www.instagram.com/reel/DZE-_hZuwXb/" TargetMode="External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ZG2DvMh-Ts/" TargetMode="External"/><Relationship Id="rId2" Type="http://schemas.openxmlformats.org/officeDocument/2006/relationships/image" Target="../media/image-3-1.jpg"/><Relationship Id="rId3" Type="http://schemas.openxmlformats.org/officeDocument/2006/relationships/image" Target="../media/image-3-2.jpg"/><Relationship Id="rId4" Type="http://schemas.openxmlformats.org/officeDocument/2006/relationships/image" Target="../media/image-3-3.jpg"/><Relationship Id="rId5" Type="http://schemas.openxmlformats.org/officeDocument/2006/relationships/image" Target="../media/image-3-4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ZG2DvMh-Ts/" TargetMode="External"/><Relationship Id="rId2" Type="http://schemas.openxmlformats.org/officeDocument/2006/relationships/image" Target="../media/image-4-1.jpg"/><Relationship Id="rId3" Type="http://schemas.openxmlformats.org/officeDocument/2006/relationships/image" Target="../media/image-4-2.jpg"/><Relationship Id="rId4" Type="http://schemas.openxmlformats.org/officeDocument/2006/relationships/image" Target="../media/image-4-3.jpg"/><Relationship Id="rId5" Type="http://schemas.openxmlformats.org/officeDocument/2006/relationships/image" Target="../media/image-4-4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ZG2DvMh-Ts/" TargetMode="External"/><Relationship Id="rId2" Type="http://schemas.openxmlformats.org/officeDocument/2006/relationships/image" Target="../media/image-5-1.jpg"/><Relationship Id="rId3" Type="http://schemas.openxmlformats.org/officeDocument/2006/relationships/image" Target="../media/image-5-2.jpg"/><Relationship Id="rId4" Type="http://schemas.openxmlformats.org/officeDocument/2006/relationships/image" Target="../media/image-5-3.jpg"/><Relationship Id="rId5" Type="http://schemas.openxmlformats.org/officeDocument/2006/relationships/image" Target="../media/image-5-4.jpg"/><Relationship Id="rId6" Type="http://schemas.openxmlformats.org/officeDocument/2006/relationships/image" Target="../media/image-5-5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/DbAniDDyF0U/" TargetMode="External"/><Relationship Id="rId2" Type="http://schemas.openxmlformats.org/officeDocument/2006/relationships/image" Target="../media/image-6-1.jpg"/><Relationship Id="rId3" Type="http://schemas.openxmlformats.org/officeDocument/2006/relationships/image" Target="../media/image-6-2.jpg"/><Relationship Id="rId4" Type="http://schemas.openxmlformats.org/officeDocument/2006/relationships/image" Target="../media/image-6-3.jpg"/><Relationship Id="rId5" Type="http://schemas.openxmlformats.org/officeDocument/2006/relationships/image" Target="../media/image-6-4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/DbAniDDyF0U/" TargetMode="External"/><Relationship Id="rId2" Type="http://schemas.openxmlformats.org/officeDocument/2006/relationships/image" Target="../media/image-7-1.jpg"/><Relationship Id="rId3" Type="http://schemas.openxmlformats.org/officeDocument/2006/relationships/image" Target="../media/image-7-2.jpg"/><Relationship Id="rId4" Type="http://schemas.openxmlformats.org/officeDocument/2006/relationships/image" Target="../media/image-7-3.jpg"/><Relationship Id="rId5" Type="http://schemas.openxmlformats.org/officeDocument/2006/relationships/image" Target="../media/image-7-4.jpg"/><Relationship Id="rId6" Type="http://schemas.openxmlformats.org/officeDocument/2006/relationships/image" Target="../media/image-7-5.jpg"/><Relationship Id="rId7" Type="http://schemas.openxmlformats.org/officeDocument/2006/relationships/image" Target="../media/image-7-6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/DbAniDDyF0U/" TargetMode="External"/><Relationship Id="rId2" Type="http://schemas.openxmlformats.org/officeDocument/2006/relationships/image" Target="../media/image-8-1.jpg"/><Relationship Id="rId3" Type="http://schemas.openxmlformats.org/officeDocument/2006/relationships/image" Target="../media/image-8-2.jpg"/><Relationship Id="rId4" Type="http://schemas.openxmlformats.org/officeDocument/2006/relationships/image" Target="../media/image-8-3.jpg"/><Relationship Id="rId5" Type="http://schemas.openxmlformats.org/officeDocument/2006/relationships/image" Target="../media/image-8-4.jpg"/><Relationship Id="rId6" Type="http://schemas.openxmlformats.org/officeDocument/2006/relationships/image" Target="../media/image-8-5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/DbAniDDyF0U/" TargetMode="External"/><Relationship Id="rId2" Type="http://schemas.openxmlformats.org/officeDocument/2006/relationships/image" Target="../media/image-9-1.jpg"/><Relationship Id="rId3" Type="http://schemas.openxmlformats.org/officeDocument/2006/relationships/image" Target="../media/image-9-2.jpg"/><Relationship Id="rId4" Type="http://schemas.openxmlformats.org/officeDocument/2006/relationships/image" Target="../media/image-9-3.jpg"/><Relationship Id="rId5" Type="http://schemas.openxmlformats.org/officeDocument/2006/relationships/image" Target="../media/image-9-4.jpg"/><Relationship Id="rId6" Type="http://schemas.openxmlformats.org/officeDocument/2006/relationships/image" Target="../media/image-9-5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/DbAniDDyF0U/" TargetMode="External"/><Relationship Id="rId2" Type="http://schemas.openxmlformats.org/officeDocument/2006/relationships/image" Target="../media/image-10-1.jpg"/><Relationship Id="rId3" Type="http://schemas.openxmlformats.org/officeDocument/2006/relationships/image" Target="../media/image-10-2.jpg"/><Relationship Id="rId4" Type="http://schemas.openxmlformats.org/officeDocument/2006/relationships/image" Target="../media/image-10-3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WiwFp5DED-/" TargetMode="External"/><Relationship Id="rId2" Type="http://schemas.openxmlformats.org/officeDocument/2006/relationships/image" Target="../media/image-11-1.jpg"/><Relationship Id="rId3" Type="http://schemas.openxmlformats.org/officeDocument/2006/relationships/image" Target="../media/image-11-2.jpg"/><Relationship Id="rId4" Type="http://schemas.openxmlformats.org/officeDocument/2006/relationships/image" Target="../media/image-11-3.jpg"/><Relationship Id="rId5" Type="http://schemas.openxmlformats.org/officeDocument/2006/relationships/image" Target="../media/image-11-4.jpg"/><Relationship Id="rId6" Type="http://schemas.openxmlformats.org/officeDocument/2006/relationships/image" Target="../media/image-11-5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WiwFp5DED-/" TargetMode="External"/><Relationship Id="rId2" Type="http://schemas.openxmlformats.org/officeDocument/2006/relationships/image" Target="../media/image-12-1.jpg"/><Relationship Id="rId3" Type="http://schemas.openxmlformats.org/officeDocument/2006/relationships/image" Target="../media/image-12-2.jpg"/><Relationship Id="rId4" Type="http://schemas.openxmlformats.org/officeDocument/2006/relationships/image" Target="../media/image-12-3.jpg"/><Relationship Id="rId5" Type="http://schemas.openxmlformats.org/officeDocument/2006/relationships/image" Target="../media/image-12-4.jpg"/><Relationship Id="rId6" Type="http://schemas.openxmlformats.org/officeDocument/2006/relationships/image" Target="../media/image-12-5.jpg"/><Relationship Id="rId7" Type="http://schemas.openxmlformats.org/officeDocument/2006/relationships/image" Target="../media/image-12-6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WiwFp5DED-/" TargetMode="External"/><Relationship Id="rId2" Type="http://schemas.openxmlformats.org/officeDocument/2006/relationships/image" Target="../media/image-13-1.jpg"/><Relationship Id="rId3" Type="http://schemas.openxmlformats.org/officeDocument/2006/relationships/image" Target="../media/image-13-2.jpg"/><Relationship Id="rId4" Type="http://schemas.openxmlformats.org/officeDocument/2006/relationships/image" Target="../media/image-13-3.jpg"/><Relationship Id="rId5" Type="http://schemas.openxmlformats.org/officeDocument/2006/relationships/image" Target="../media/image-13-4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cOkNyyoFFJ/" TargetMode="External"/><Relationship Id="rId2" Type="http://schemas.openxmlformats.org/officeDocument/2006/relationships/image" Target="../media/image-14-1.jpg"/><Relationship Id="rId3" Type="http://schemas.openxmlformats.org/officeDocument/2006/relationships/image" Target="../media/image-14-2.jpg"/><Relationship Id="rId4" Type="http://schemas.openxmlformats.org/officeDocument/2006/relationships/image" Target="../media/image-14-3.jpg"/><Relationship Id="rId5" Type="http://schemas.openxmlformats.org/officeDocument/2006/relationships/image" Target="../media/image-14-4.jpg"/><Relationship Id="rId6" Type="http://schemas.openxmlformats.org/officeDocument/2006/relationships/image" Target="../media/image-14-5.jpg"/><Relationship Id="rId7" Type="http://schemas.openxmlformats.org/officeDocument/2006/relationships/image" Target="../media/image-14-6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cOkNyyoFFJ/" TargetMode="External"/><Relationship Id="rId2" Type="http://schemas.openxmlformats.org/officeDocument/2006/relationships/image" Target="../media/image-15-1.jpg"/><Relationship Id="rId3" Type="http://schemas.openxmlformats.org/officeDocument/2006/relationships/image" Target="../media/image-15-2.jpg"/><Relationship Id="rId4" Type="http://schemas.openxmlformats.org/officeDocument/2006/relationships/image" Target="../media/image-15-3.jpg"/><Relationship Id="rId5" Type="http://schemas.openxmlformats.org/officeDocument/2006/relationships/image" Target="../media/image-15-4.jpg"/><Relationship Id="rId6" Type="http://schemas.openxmlformats.org/officeDocument/2006/relationships/image" Target="../media/image-15-5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4DEy0CAg43s" TargetMode="External"/><Relationship Id="rId2" Type="http://schemas.openxmlformats.org/officeDocument/2006/relationships/hyperlink" Target="https://youtu.be/OU-qyAcn2YM" TargetMode="External"/><Relationship Id="rId3" Type="http://schemas.openxmlformats.org/officeDocument/2006/relationships/hyperlink" Target="https://youtu.be/OPDWrOeD-gU" TargetMode="External"/><Relationship Id="rId4" Type="http://schemas.openxmlformats.org/officeDocument/2006/relationships/image" Target="../media/image-16-1.jpg"/><Relationship Id="rId5" Type="http://schemas.openxmlformats.org/officeDocument/2006/relationships/image" Target="../media/image-16-2.jpg"/><Relationship Id="rId6" Type="http://schemas.openxmlformats.org/officeDocument/2006/relationships/image" Target="../media/image-16-3.jpg"/><Relationship Id="rId7" Type="http://schemas.openxmlformats.org/officeDocument/2006/relationships/image" Target="../media/image-16-4.jpg"/><Relationship Id="rId8" Type="http://schemas.openxmlformats.org/officeDocument/2006/relationships/image" Target="../media/image-16-5.jpg"/><Relationship Id="rId9" Type="http://schemas.openxmlformats.org/officeDocument/2006/relationships/image" Target="../media/image-16-6.jp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4DEy0CAg43s" TargetMode="External"/><Relationship Id="rId2" Type="http://schemas.openxmlformats.org/officeDocument/2006/relationships/hyperlink" Target="https://youtu.be/OU-qyAcn2YM" TargetMode="External"/><Relationship Id="rId3" Type="http://schemas.openxmlformats.org/officeDocument/2006/relationships/hyperlink" Target="https://youtu.be/OPDWrOeD-gU" TargetMode="External"/><Relationship Id="rId4" Type="http://schemas.openxmlformats.org/officeDocument/2006/relationships/image" Target="../media/image-17-1.jpg"/><Relationship Id="rId5" Type="http://schemas.openxmlformats.org/officeDocument/2006/relationships/image" Target="../media/image-17-2.jpg"/><Relationship Id="rId6" Type="http://schemas.openxmlformats.org/officeDocument/2006/relationships/image" Target="../media/image-17-3.jpg"/><Relationship Id="rId7" Type="http://schemas.openxmlformats.org/officeDocument/2006/relationships/image" Target="../media/image-17-4.jpg"/><Relationship Id="rId8" Type="http://schemas.openxmlformats.org/officeDocument/2006/relationships/image" Target="../media/image-17-5.jpg"/><Relationship Id="rId9" Type="http://schemas.openxmlformats.org/officeDocument/2006/relationships/image" Target="../media/image-17-6.jp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4DEy0CAg43s" TargetMode="External"/><Relationship Id="rId2" Type="http://schemas.openxmlformats.org/officeDocument/2006/relationships/hyperlink" Target="https://youtu.be/OU-qyAcn2YM" TargetMode="External"/><Relationship Id="rId3" Type="http://schemas.openxmlformats.org/officeDocument/2006/relationships/hyperlink" Target="https://youtu.be/OPDWrOeD-gU" TargetMode="External"/><Relationship Id="rId4" Type="http://schemas.openxmlformats.org/officeDocument/2006/relationships/image" Target="../media/image-18-1.jpg"/><Relationship Id="rId5" Type="http://schemas.openxmlformats.org/officeDocument/2006/relationships/image" Target="../media/image-18-2.jpg"/><Relationship Id="rId6" Type="http://schemas.openxmlformats.org/officeDocument/2006/relationships/image" Target="../media/image-18-3.jpg"/><Relationship Id="rId7" Type="http://schemas.openxmlformats.org/officeDocument/2006/relationships/image" Target="../media/image-18-4.jpg"/><Relationship Id="rId8" Type="http://schemas.openxmlformats.org/officeDocument/2006/relationships/image" Target="../media/image-18-5.jp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4DEy0CAg43s" TargetMode="External"/><Relationship Id="rId2" Type="http://schemas.openxmlformats.org/officeDocument/2006/relationships/hyperlink" Target="https://youtu.be/OU-qyAcn2YM" TargetMode="External"/><Relationship Id="rId3" Type="http://schemas.openxmlformats.org/officeDocument/2006/relationships/hyperlink" Target="https://youtu.be/OPDWrOeD-gU" TargetMode="External"/><Relationship Id="rId4" Type="http://schemas.openxmlformats.org/officeDocument/2006/relationships/image" Target="../media/image-19-1.jpg"/><Relationship Id="rId5" Type="http://schemas.openxmlformats.org/officeDocument/2006/relationships/image" Target="../media/image-19-2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image" Target="../media/image-20-2.jpg"/><Relationship Id="rId3" Type="http://schemas.openxmlformats.org/officeDocument/2006/relationships/image" Target="../media/image-20-3.jpg"/><Relationship Id="rId4" Type="http://schemas.openxmlformats.org/officeDocument/2006/relationships/image" Target="../media/image-20-4.jpg"/><Relationship Id="rId5" Type="http://schemas.openxmlformats.org/officeDocument/2006/relationships/image" Target="../media/image-20-5.jpg"/><Relationship Id="rId6" Type="http://schemas.openxmlformats.org/officeDocument/2006/relationships/image" Target="../media/image-20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jpg"/><Relationship Id="rId3" Type="http://schemas.openxmlformats.org/officeDocument/2006/relationships/image" Target="../media/image-21-3.jpg"/><Relationship Id="rId4" Type="http://schemas.openxmlformats.org/officeDocument/2006/relationships/image" Target="../media/image-21-4.jpg"/><Relationship Id="rId5" Type="http://schemas.openxmlformats.org/officeDocument/2006/relationships/image" Target="../media/image-21-5.jpg"/><Relationship Id="rId6" Type="http://schemas.openxmlformats.org/officeDocument/2006/relationships/image" Target="../media/image-21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image" Target="../media/image-22-2.jpg"/><Relationship Id="rId3" Type="http://schemas.openxmlformats.org/officeDocument/2006/relationships/image" Target="../media/image-22-3.jpg"/><Relationship Id="rId4" Type="http://schemas.openxmlformats.org/officeDocument/2006/relationships/image" Target="../media/image-22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image" Target="../media/image-23-2.jpg"/><Relationship Id="rId3" Type="http://schemas.openxmlformats.org/officeDocument/2006/relationships/image" Target="../media/image-23-3.jpg"/><Relationship Id="rId4" Type="http://schemas.openxmlformats.org/officeDocument/2006/relationships/image" Target="../media/image-23-4.jpg"/><Relationship Id="rId5" Type="http://schemas.openxmlformats.org/officeDocument/2006/relationships/image" Target="../media/image-23-5.jpg"/><Relationship Id="rId6" Type="http://schemas.openxmlformats.org/officeDocument/2006/relationships/image" Target="../media/image-23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image" Target="../media/image-24-2.jpg"/><Relationship Id="rId3" Type="http://schemas.openxmlformats.org/officeDocument/2006/relationships/image" Target="../media/image-24-3.jpg"/><Relationship Id="rId4" Type="http://schemas.openxmlformats.org/officeDocument/2006/relationships/image" Target="../media/image-24-4.jpg"/><Relationship Id="rId5" Type="http://schemas.openxmlformats.org/officeDocument/2006/relationships/image" Target="../media/image-24-5.jpg"/><Relationship Id="rId6" Type="http://schemas.openxmlformats.org/officeDocument/2006/relationships/image" Target="../media/image-24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/DZE-_hZuwXb/" TargetMode="External"/><Relationship Id="rId2" Type="http://schemas.openxmlformats.org/officeDocument/2006/relationships/image" Target="../media/image-25-1.jpg"/><Relationship Id="rId3" Type="http://schemas.openxmlformats.org/officeDocument/2006/relationships/image" Target="../media/image-25-2.jpg"/><Relationship Id="rId4" Type="http://schemas.openxmlformats.org/officeDocument/2006/relationships/image" Target="../media/image-25-3.jpg"/><Relationship Id="rId5" Type="http://schemas.openxmlformats.org/officeDocument/2006/relationships/image" Target="../media/image-25-4.jpg"/><Relationship Id="rId6" Type="http://schemas.openxmlformats.org/officeDocument/2006/relationships/image" Target="../media/image-25-5.jpg"/><Relationship Id="rId7" Type="http://schemas.openxmlformats.org/officeDocument/2006/relationships/image" Target="../media/image-25-6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/DZE-_hZuwXb/" TargetMode="External"/><Relationship Id="rId2" Type="http://schemas.openxmlformats.org/officeDocument/2006/relationships/image" Target="../media/image-26-1.jpg"/><Relationship Id="rId3" Type="http://schemas.openxmlformats.org/officeDocument/2006/relationships/image" Target="../media/image-26-2.jpg"/><Relationship Id="rId4" Type="http://schemas.openxmlformats.org/officeDocument/2006/relationships/image" Target="../media/image-26-3.jpg"/><Relationship Id="rId5" Type="http://schemas.openxmlformats.org/officeDocument/2006/relationships/image" Target="../media/image-26-4.jpg"/><Relationship Id="rId6" Type="http://schemas.openxmlformats.org/officeDocument/2006/relationships/image" Target="../media/image-26-5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/DZE-_hZuwXb/" TargetMode="External"/><Relationship Id="rId2" Type="http://schemas.openxmlformats.org/officeDocument/2006/relationships/image" Target="../media/image-27-1.jpg"/><Relationship Id="rId3" Type="http://schemas.openxmlformats.org/officeDocument/2006/relationships/image" Target="../media/image-27-2.jpg"/><Relationship Id="rId4" Type="http://schemas.openxmlformats.org/officeDocument/2006/relationships/image" Target="../media/image-27-3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image" Target="../media/image-28-2.jpg"/><Relationship Id="rId3" Type="http://schemas.openxmlformats.org/officeDocument/2006/relationships/image" Target="../media/image-28-3.jpg"/><Relationship Id="rId4" Type="http://schemas.openxmlformats.org/officeDocument/2006/relationships/image" Target="../media/image-28-4.jpg"/><Relationship Id="rId5" Type="http://schemas.openxmlformats.org/officeDocument/2006/relationships/image" Target="../media/image-28-5.jpg"/><Relationship Id="rId6" Type="http://schemas.openxmlformats.org/officeDocument/2006/relationships/image" Target="../media/image-28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image" Target="../media/image-29-2.jpg"/><Relationship Id="rId3" Type="http://schemas.openxmlformats.org/officeDocument/2006/relationships/image" Target="../media/image-29-3.jpg"/><Relationship Id="rId4" Type="http://schemas.openxmlformats.org/officeDocument/2006/relationships/image" Target="../media/image-29-4.jpg"/><Relationship Id="rId5" Type="http://schemas.openxmlformats.org/officeDocument/2006/relationships/image" Target="../media/image-29-5.jpg"/><Relationship Id="rId6" Type="http://schemas.openxmlformats.org/officeDocument/2006/relationships/image" Target="../media/image-29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image" Target="../media/image-30-2.jpg"/><Relationship Id="rId3" Type="http://schemas.openxmlformats.org/officeDocument/2006/relationships/image" Target="../media/image-30-3.jpg"/><Relationship Id="rId4" Type="http://schemas.openxmlformats.org/officeDocument/2006/relationships/image" Target="../media/image-30-4.jpg"/><Relationship Id="rId5" Type="http://schemas.openxmlformats.org/officeDocument/2006/relationships/image" Target="../media/image-30-5.jpg"/><Relationship Id="rId6" Type="http://schemas.openxmlformats.org/officeDocument/2006/relationships/image" Target="../media/image-30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g"/><Relationship Id="rId2" Type="http://schemas.openxmlformats.org/officeDocument/2006/relationships/image" Target="../media/image-31-2.jpg"/><Relationship Id="rId3" Type="http://schemas.openxmlformats.org/officeDocument/2006/relationships/image" Target="../media/image-31-3.jpg"/><Relationship Id="rId4" Type="http://schemas.openxmlformats.org/officeDocument/2006/relationships/image" Target="../media/image-31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371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411480" y="1737360"/>
            <a:ext cx="1371600" cy="0"/>
          </a:xfrm>
          <a:prstGeom prst="line">
            <a:avLst/>
          </a:prstGeom>
          <a:noFill/>
          <a:ln w="27940">
            <a:solidFill>
              <a:srgbClr val="1A1A1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920240"/>
            <a:ext cx="9144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4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動画 8本</a:t>
            </a:r>
            <a:endParaRPr lang="en-US" sz="4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4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企画・構成・絵コンテ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11480" y="34290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150" kern="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Eight Films / Plan, Structure, Storyboard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11480" y="5486400"/>
            <a:ext cx="11368735" cy="0"/>
          </a:xfrm>
          <a:prstGeom prst="line">
            <a:avLst/>
          </a:prstGeom>
          <a:noFill/>
          <a:ln w="12700">
            <a:solidFill>
              <a:srgbClr val="E6DED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5614416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2026年9月6日　第5版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株式会社B supply　宮下 詩織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テロップはすべて日本語と英語の二本立てで記載しています。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31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 次　CONTENTS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11480" y="621792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8本の動画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1170432"/>
            <a:ext cx="113687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本目・8本目以外は参考動画があり、絵コンテの写真もそこから抜いています。6本目は、いただいた写真と、5本目・2本目の映像から画角の参考として写真を当てています。8本目は、いただいた店舗紹介の録画から写真を当てています。参考動画の秒数は、いただいた録画から測った目安です。</a:t>
            </a:r>
            <a:endParaRPr lang="en-US" sz="1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691640"/>
          <a:ext cx="11368735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3017520"/>
                <a:gridCol w="1417320"/>
                <a:gridCol w="2606040"/>
                <a:gridCol w="384048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#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タイトル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尺・本数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届ける相手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参考動画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服装ごとに画が変わる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 Colour for Every Outfit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25秒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新規・リピーター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1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（innovator SWEDEN）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ASMRで製造の姿を撮る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Twenty Years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40秒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新規（まだ知らない人）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いただいた録画2本　＋　</a:t>
                      </a:r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2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（コバ塗り・477万再生）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暗めでエレガントにブランドを映す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The Making of the Voyage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28秒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メディア関係者・ハイエンド層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3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（delvaux）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鞄を持って街を歩く（海外ドラマ風）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What You Carry Makes You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30秒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新規・リピーター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4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（parisawangny）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コーポレートムービー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Corporate Film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61秒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メディア関係者・OEMの調達担当・新規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5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　＋　</a:t>
                      </a:r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6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　＋　</a:t>
                      </a:r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7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（コーポレートムービー）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OEM工房案内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Why Brands Choose Us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2分20秒 ×1／無音版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OEMの調達・生産担当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B8AC9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いただいた録画1本（工場案内）＋⑤と同様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製品の中身と使い勝手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Smart from Morning to Work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25秒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新規（買う直前の人）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8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購入者インタビュー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Customer Interview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60秒 ×1（仮）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購入を迷っている新規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31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服装ごとに画が変わる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 Colour for Every Outfit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25秒 ／ 13ショット（一場面につき全体と腰より上の二枚）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対象＝新規・リピーター　／　全媒体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（innovator SWEDEN）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22994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変わるのは服と、合わせる革の色。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（何色を使うかは撮影までに決めます）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前半は進み、後半は巻き戻る。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一色目 → 二色目 → 三色目 → 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四色目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と進みきったあと、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人が通るたびに一つ前の服装に戻る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（四色目 → 三色目 → 二色目 → 一色目）。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時間が巻き戻るように見せる。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最後は四種類を並べて終える。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切り替わりの合図。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進むとき＝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手前を柱が横切る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（S2）／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ガラスの扉を通る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（S3）／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手前を人が横切る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（S4）。戻るとき＝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人が通る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（S5）。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合図は同じ「人」のまま、向きだけが逆になる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── 一度だけ横切って四色目まで進み、そこから先は通るたびに一つずつ戻る。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戻るカットは、進んだときと同じ画角・同じ立ち位置で撮る。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同じ場所に戻ってくるから「巻き戻った」と分かる。画角を変えると、ただ着替えただけに見える。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一か所で撮り切る。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同じ場所の画角を使い回し、人と服と色だけを入れ替える。場所は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遊びにも仕事にも通用するところ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空港は使わない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── 参考動画はキャリーケースの広告で、旅の記号が強すぎる。こちらは鞄が主役なので、旅ではなく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日常の一日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に見せる。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床は磨かれた石か樹脂。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三脚キャスターで横移動するので、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目地・段差・砂利・落ち葉を避ける。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キャスターが跳ねると、巻き戻しの横移動（S4）が使えなくなる。屋外の石畳とアスファルトは、この一本では使わない。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一つの場面は、二カットだけ撮る。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全体（全身が入る引き）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で服と鞄の色が変わったことを見せ、②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腰より上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に寄って表情と鞄の色を同時に見せる。この二枚をくり返す。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手元の超アップは使わない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── 変わったことが分かるのは体が見えているときだけで、手元まで寄ると何が変わったのか伝わらない。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カメラは固定しない。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服が変わるたびに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その人の表情も変える。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進むときはすまし顔・笑う・急ぎ足、戻るときは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戸惑いと驚き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を混ぜる。音楽に合わせて切り替えると、色の変化が気持ちよくつながる。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売り込みはひとつも入れない。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服が変われば、合う革の色も変わる。同じ革・同じ色で、財布からバッグまで揃う。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同じ道を、違う私で。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SAME ROUTE, A DIFFERENT ME.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 め の 一 カ ッ ト に 重 ね る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550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　同じ道を、違う私で。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SAME ROUTE, A DIFFERENT ME.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ナレーション　毎日をカラフルに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 every day colourful.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四種類が並ぶ画の上にテロップを重ね、そこにナレーションを一言だけ入れて、そのままロゴで終える。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4201355"/>
            <a:ext cx="204254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一色目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0-4秒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4457387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1_S2_02_歩いてくる全身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878498"/>
            <a:ext cx="797243" cy="575098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4457387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5911283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6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全体。</a:t>
            </a:r>
            <a:pPr indent="0" marL="0">
              <a:lnSpc>
                <a:spcPct val="124000"/>
              </a:lnSpc>
              <a:buNone/>
            </a:pPr>
            <a:r>
              <a:rPr lang="en-US" sz="64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通路を歩いてくる全身の引き。</a:t>
            </a:r>
            <a:pPr indent="0" marL="0">
              <a:lnSpc>
                <a:spcPct val="124000"/>
              </a:lnSpc>
              <a:buNone/>
            </a:pPr>
            <a:r>
              <a:rPr lang="en-US" sz="6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ここが一色目。すまし顔。</a:t>
            </a:r>
            <a:endParaRPr lang="en-US" sz="640" dirty="0"/>
          </a:p>
        </p:txBody>
      </p:sp>
      <p:sp>
        <p:nvSpPr>
          <p:cNvPr id="23" name="Shape 20"/>
          <p:cNvSpPr/>
          <p:nvPr/>
        </p:nvSpPr>
        <p:spPr>
          <a:xfrm>
            <a:off x="1300163" y="4457387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1_S2_03_腰より上_一色目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0163" y="4707029"/>
            <a:ext cx="797243" cy="918037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1300163" y="4457387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300163" y="5911283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68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腰より上。</a:t>
            </a:r>
            <a:pPr indent="0" marL="0">
              <a:lnSpc>
                <a:spcPct val="124000"/>
              </a:lnSpc>
              <a:buNone/>
            </a:pPr>
            <a:r>
              <a:rPr lang="en-US" sz="6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同じ人に寄る。</a:t>
            </a:r>
            <a:pPr indent="0" marL="0">
              <a:lnSpc>
                <a:spcPct val="124000"/>
              </a:lnSpc>
              <a:buNone/>
            </a:pPr>
            <a:r>
              <a:rPr lang="en-US" sz="68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鞄の色と表情が一度に見える。</a:t>
            </a:r>
            <a:endParaRPr lang="en-US" sz="680" dirty="0"/>
          </a:p>
        </p:txBody>
      </p:sp>
      <p:sp>
        <p:nvSpPr>
          <p:cNvPr id="27" name="Text 23"/>
          <p:cNvSpPr/>
          <p:nvPr/>
        </p:nvSpPr>
        <p:spPr>
          <a:xfrm>
            <a:off x="2508885" y="4201355"/>
            <a:ext cx="92713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二色目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4-8秒　｜　切り替わり＝手前を柱が横切る</a:t>
            </a:r>
            <a:endParaRPr lang="en-US" sz="1150" dirty="0"/>
          </a:p>
        </p:txBody>
      </p:sp>
      <p:sp>
        <p:nvSpPr>
          <p:cNvPr id="28" name="Shape 24"/>
          <p:cNvSpPr/>
          <p:nvPr/>
        </p:nvSpPr>
        <p:spPr>
          <a:xfrm>
            <a:off x="2508885" y="4457387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2" descr="/home/user/dougaseisaku/assets/ref4/1_S3_01_服が変わり色も変わ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08885" y="4909459"/>
            <a:ext cx="797243" cy="513176"/>
          </a:xfrm>
          <a:prstGeom prst="rect">
            <a:avLst/>
          </a:prstGeom>
        </p:spPr>
      </p:pic>
      <p:sp>
        <p:nvSpPr>
          <p:cNvPr id="30" name="Shape 25"/>
          <p:cNvSpPr/>
          <p:nvPr/>
        </p:nvSpPr>
        <p:spPr>
          <a:xfrm>
            <a:off x="2508885" y="4457387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2508885" y="5911283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柱が抜けると、服も鞄の色も変わっている。</a:t>
            </a:r>
            <a:endParaRPr lang="en-US" sz="720" dirty="0"/>
          </a:p>
        </p:txBody>
      </p:sp>
      <p:sp>
        <p:nvSpPr>
          <p:cNvPr id="32" name="Shape 27"/>
          <p:cNvSpPr/>
          <p:nvPr/>
        </p:nvSpPr>
        <p:spPr>
          <a:xfrm>
            <a:off x="3397568" y="4457387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1_S3_02_三色目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97568" y="4909459"/>
            <a:ext cx="797243" cy="513176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3397568" y="4457387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3397568" y="5911283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68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腰より上。</a:t>
            </a:r>
            <a:pPr indent="0" marL="0">
              <a:lnSpc>
                <a:spcPct val="124000"/>
              </a:lnSpc>
              <a:buNone/>
            </a:pPr>
            <a:r>
              <a:rPr lang="en-US" sz="6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サングラスを直す。</a:t>
            </a:r>
            <a:pPr indent="0" marL="0">
              <a:lnSpc>
                <a:spcPct val="124000"/>
              </a:lnSpc>
              <a:buNone/>
            </a:pPr>
            <a:r>
              <a:rPr lang="en-US" sz="68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ここは笑っている表情で。</a:t>
            </a:r>
            <a:endParaRPr lang="en-US" sz="680" dirty="0"/>
          </a:p>
        </p:txBody>
      </p:sp>
      <p:sp>
        <p:nvSpPr>
          <p:cNvPr id="36" name="Text 30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7" name="Text 31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31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服装ごとに画が変わる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 Colour for Every Outfit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25秒 ／ 13ショット（一場面につき全体と腰より上の二枚）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対象＝新規・リピーター　／　全媒体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（innovator SWEDEN）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22994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変わるのは服と、合わせる革の色。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（何色を使うかは撮影までに決めます）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前半は進み、後半は巻き戻る。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一色目 → 二色目 → 三色目 → 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四色目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と進みきったあと、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人が通るたびに一つ前の服装に戻る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（四色目 → 三色目 → 二色目 → 一色目）。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時間が巻き戻るように見せる。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最後は四種類を並べて終える。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切り替わりの合図。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進むとき＝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手前を柱が横切る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（S2）／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ガラスの扉を通る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（S3）／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手前を人が横切る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（S4）。戻るとき＝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人が通る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（S5）。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合図は同じ「人」のまま、向きだけが逆になる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── 一度だけ横切って四色目まで進み、そこから先は通るたびに一つずつ戻る。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戻るカットは、進んだときと同じ画角・同じ立ち位置で撮る。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同じ場所に戻ってくるから「巻き戻った」と分かる。画角を変えると、ただ着替えただけに見える。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一か所で撮り切る。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同じ場所の画角を使い回し、人と服と色だけを入れ替える。場所は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遊びにも仕事にも通用するところ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空港は使わない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── 参考動画はキャリーケースの広告で、旅の記号が強すぎる。こちらは鞄が主役なので、旅ではなく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日常の一日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に見せる。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床は磨かれた石か樹脂。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三脚キャスターで横移動するので、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目地・段差・砂利・落ち葉を避ける。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キャスターが跳ねると、巻き戻しの横移動（S4）が使えなくなる。屋外の石畳とアスファルトは、この一本では使わない。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一つの場面は、二カットだけ撮る。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全体（全身が入る引き）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で服と鞄の色が変わったことを見せ、②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腰より上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に寄って表情と鞄の色を同時に見せる。この二枚をくり返す。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手元の超アップは使わない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── 変わったことが分かるのは体が見えているときだけで、手元まで寄ると何が変わったのか伝わらない。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カメラは固定しない。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服が変わるたびに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その人の表情も変える。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進むときはすまし顔・笑う・急ぎ足、戻るときは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戸惑いと驚き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を混ぜる。音楽に合わせて切り替えると、色の変化が気持ちよくつながる。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売り込みはひとつも入れない。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服が変われば、合う革の色も変わる。同じ革・同じ色で、財布からバッグまで揃う。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同じ道を、違う私で。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SAME ROUTE, A DIFFERENT ME.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 め の 一 カ ッ ト に 重 ね る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550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　同じ道を、違う私で。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SAME ROUTE, A DIFFERENT ME.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ナレーション　毎日をカラフルに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 every day colourful.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四種類が並ぶ画の上にテロップを重ね、そこにナレーションを一言だけ入れて、そのままロゴで終える。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4201355"/>
            <a:ext cx="2042541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三色目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8-12秒　｜　切り替わり＝ガラスの扉を通る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4583574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1_S4_02_抜けたら四色目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5035646"/>
            <a:ext cx="797243" cy="513176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4583574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6037470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6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全体。</a:t>
            </a:r>
            <a:pPr indent="0" marL="0">
              <a:lnSpc>
                <a:spcPct val="124000"/>
              </a:lnSpc>
              <a:buNone/>
            </a:pPr>
            <a:r>
              <a:rPr lang="en-US" sz="64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扉を抜けると、服も鞄の色も変わっている。</a:t>
            </a:r>
            <a:endParaRPr lang="en-US" sz="640" dirty="0"/>
          </a:p>
        </p:txBody>
      </p:sp>
      <p:sp>
        <p:nvSpPr>
          <p:cNvPr id="23" name="Shape 20"/>
          <p:cNvSpPr/>
          <p:nvPr/>
        </p:nvSpPr>
        <p:spPr>
          <a:xfrm>
            <a:off x="1300163" y="4583574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1_S4_03_場所が変わる_構内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0163" y="5035646"/>
            <a:ext cx="797243" cy="513176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1300163" y="4583574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300163" y="6037470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68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腰より上。</a:t>
            </a:r>
            <a:pPr indent="0" marL="0">
              <a:lnSpc>
                <a:spcPct val="124000"/>
              </a:lnSpc>
              <a:buNone/>
            </a:pPr>
            <a:r>
              <a:rPr lang="en-US" sz="6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歩く。</a:t>
            </a:r>
            <a:pPr indent="0" marL="0">
              <a:lnSpc>
                <a:spcPct val="124000"/>
              </a:lnSpc>
              <a:buNone/>
            </a:pPr>
            <a:r>
              <a:rPr lang="en-US" sz="68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少し急ぎ足の表情。</a:t>
            </a:r>
            <a:endParaRPr lang="en-US" sz="680" dirty="0"/>
          </a:p>
        </p:txBody>
      </p:sp>
      <p:sp>
        <p:nvSpPr>
          <p:cNvPr id="27" name="Text 23"/>
          <p:cNvSpPr/>
          <p:nvPr/>
        </p:nvSpPr>
        <p:spPr>
          <a:xfrm>
            <a:off x="2508885" y="4201355"/>
            <a:ext cx="927133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四色目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12-16秒　｜　切り替わり＝手前を人が横切る</a:t>
            </a:r>
            <a:endParaRPr lang="en-US" sz="1150" dirty="0"/>
          </a:p>
        </p:txBody>
      </p:sp>
      <p:sp>
        <p:nvSpPr>
          <p:cNvPr id="28" name="Shape 24"/>
          <p:cNvSpPr/>
          <p:nvPr/>
        </p:nvSpPr>
        <p:spPr>
          <a:xfrm>
            <a:off x="2508885" y="4583574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2" descr="/home/user/dougaseisaku/assets/ref4/1_S6_03_立ち止ま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08885" y="5035646"/>
            <a:ext cx="797243" cy="513176"/>
          </a:xfrm>
          <a:prstGeom prst="rect">
            <a:avLst/>
          </a:prstGeom>
        </p:spPr>
      </p:pic>
      <p:sp>
        <p:nvSpPr>
          <p:cNvPr id="30" name="Shape 25"/>
          <p:cNvSpPr/>
          <p:nvPr/>
        </p:nvSpPr>
        <p:spPr>
          <a:xfrm>
            <a:off x="2508885" y="4583574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2508885" y="6037470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全体。</a:t>
            </a:r>
            <a:endParaRPr lang="en-US" sz="720" dirty="0"/>
          </a:p>
        </p:txBody>
      </p:sp>
      <p:sp>
        <p:nvSpPr>
          <p:cNvPr id="32" name="Shape 27"/>
          <p:cNvSpPr/>
          <p:nvPr/>
        </p:nvSpPr>
        <p:spPr>
          <a:xfrm>
            <a:off x="3397568" y="4583574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1_S6_04_腰より上_到着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97568" y="4835749"/>
            <a:ext cx="797243" cy="912971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3397568" y="4583574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3397568" y="6037470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68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腰より上。</a:t>
            </a:r>
            <a:pPr indent="0" marL="0">
              <a:lnSpc>
                <a:spcPct val="124000"/>
              </a:lnSpc>
              <a:buNone/>
            </a:pPr>
            <a:r>
              <a:rPr lang="en-US" sz="6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肩の鞄を掛け直して笑う。</a:t>
            </a:r>
            <a:endParaRPr lang="en-US" sz="680" dirty="0"/>
          </a:p>
        </p:txBody>
      </p:sp>
      <p:sp>
        <p:nvSpPr>
          <p:cNvPr id="36" name="Text 30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7" name="Text 31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 / 31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服装ごとに画が変わる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 Colour for Every Outfit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25秒 ／ 13ショット（一場面につき全体と腰より上の二枚）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対象＝新規・リピーター　／　全媒体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（innovator SWEDEN）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22994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変わるのは服と、合わせる革の色。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（何色を使うかは撮影までに決めます）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前半は進み、後半は巻き戻る。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一色目 → 二色目 → 三色目 → 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四色目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と進みきったあと、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人が通るたびに一つ前の服装に戻る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（四色目 → 三色目 → 二色目 → 一色目）。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時間が巻き戻るように見せる。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最後は四種類を並べて終える。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切り替わりの合図。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進むとき＝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手前を柱が横切る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（S2）／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ガラスの扉を通る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（S3）／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手前を人が横切る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（S4）。戻るとき＝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人が通る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（S5）。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合図は同じ「人」のまま、向きだけが逆になる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── 一度だけ横切って四色目まで進み、そこから先は通るたびに一つずつ戻る。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戻るカットは、進んだときと同じ画角・同じ立ち位置で撮る。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同じ場所に戻ってくるから「巻き戻った」と分かる。画角を変えると、ただ着替えただけに見える。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一か所で撮り切る。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同じ場所の画角を使い回し、人と服と色だけを入れ替える。場所は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遊びにも仕事にも通用するところ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空港は使わない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── 参考動画はキャリーケースの広告で、旅の記号が強すぎる。こちらは鞄が主役なので、旅ではなく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日常の一日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に見せる。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床は磨かれた石か樹脂。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三脚キャスターで横移動するので、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目地・段差・砂利・落ち葉を避ける。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キャスターが跳ねると、巻き戻しの横移動（S4）が使えなくなる。屋外の石畳とアスファルトは、この一本では使わない。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一つの場面は、二カットだけ撮る。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全体（全身が入る引き）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で服と鞄の色が変わったことを見せ、②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腰より上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に寄って表情と鞄の色を同時に見せる。この二枚をくり返す。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手元の超アップは使わない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── 変わったことが分かるのは体が見えているときだけで、手元まで寄ると何が変わったのか伝わらない。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カメラは固定しない。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服が変わるたびに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その人の表情も変える。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進むときはすまし顔・笑う・急ぎ足、戻るときは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戸惑いと驚き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を混ぜる。音楽に合わせて切り替えると、色の変化が気持ちよくつながる。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売り込みはひとつも入れない。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服が変われば、合う革の色も変わる。同じ革・同じ色で、財布からバッグまで揃う。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同じ道を、違う私で。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SAME ROUTE, A DIFFERENT ME.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 め の 一 カ ッ ト に 重 ね る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550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　同じ道を、違う私で。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SAME ROUTE, A DIFFERENT ME.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ナレーション　毎日をカラフルに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 every day colourful.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四種類が並ぶ画の上にテロップを重ね、そこにナレーションを一言だけ入れて、そのままロゴで終える。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4201355"/>
            <a:ext cx="2042541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S5 巻き戻る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16-21秒　｜　切り替わり＝人が通る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4583574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1_S5_02_通路を歩く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5035646"/>
            <a:ext cx="797243" cy="513176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4583574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6037470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5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全体。人が通るたびに、一つ前の服と鞄に戻る</a:t>
            </a:r>
            <a:pPr indent="0" marL="0">
              <a:lnSpc>
                <a:spcPct val="124000"/>
              </a:lnSpc>
              <a:buNone/>
            </a:pPr>
            <a:r>
              <a:rPr lang="en-US" sz="54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（四色目 → 三色目 → 二色目 → 一色目）。</a:t>
            </a:r>
            <a:pPr indent="0" marL="0">
              <a:lnSpc>
                <a:spcPct val="124000"/>
              </a:lnSpc>
              <a:buNone/>
            </a:pPr>
            <a:r>
              <a:rPr lang="en-US" sz="5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横移動で追う（三脚キャスター）。</a:t>
            </a:r>
            <a:pPr indent="0" marL="0">
              <a:lnSpc>
                <a:spcPct val="124000"/>
              </a:lnSpc>
              <a:buNone/>
            </a:pPr>
            <a:r>
              <a:rPr lang="en-US" sz="54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進んだときと同じ画角・同じ立ち位置で撮る。</a:t>
            </a:r>
            <a:endParaRPr lang="en-US" sz="540" dirty="0"/>
          </a:p>
        </p:txBody>
      </p:sp>
      <p:sp>
        <p:nvSpPr>
          <p:cNvPr id="23" name="Shape 20"/>
          <p:cNvSpPr/>
          <p:nvPr/>
        </p:nvSpPr>
        <p:spPr>
          <a:xfrm>
            <a:off x="1300163" y="4583574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1_S5_03_入口に着く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0163" y="5035646"/>
            <a:ext cx="797243" cy="513176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1300163" y="4583574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300163" y="6037470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腰より上。</a:t>
            </a:r>
            <a:endParaRPr lang="en-US" sz="720" dirty="0"/>
          </a:p>
        </p:txBody>
      </p:sp>
      <p:sp>
        <p:nvSpPr>
          <p:cNvPr id="27" name="Text 23"/>
          <p:cNvSpPr/>
          <p:nvPr/>
        </p:nvSpPr>
        <p:spPr>
          <a:xfrm>
            <a:off x="2508885" y="4201355"/>
            <a:ext cx="927133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S6 四種類並べて終わる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21-25秒</a:t>
            </a:r>
            <a:endParaRPr lang="en-US" sz="1150" dirty="0"/>
          </a:p>
        </p:txBody>
      </p:sp>
      <p:sp>
        <p:nvSpPr>
          <p:cNvPr id="28" name="Shape 24"/>
          <p:cNvSpPr/>
          <p:nvPr/>
        </p:nvSpPr>
        <p:spPr>
          <a:xfrm>
            <a:off x="2508885" y="4583574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2" descr="/home/user/dougaseisaku/assets/ref4/1_S7_01_人が出て小物だけが残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08885" y="5035646"/>
            <a:ext cx="797243" cy="513176"/>
          </a:xfrm>
          <a:prstGeom prst="rect">
            <a:avLst/>
          </a:prstGeom>
        </p:spPr>
      </p:pic>
      <p:sp>
        <p:nvSpPr>
          <p:cNvPr id="30" name="Shape 25"/>
          <p:cNvSpPr/>
          <p:nvPr/>
        </p:nvSpPr>
        <p:spPr>
          <a:xfrm>
            <a:off x="2508885" y="4583574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2508885" y="6037470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バッグのアップショット。</a:t>
            </a:r>
            <a:endParaRPr lang="en-US" sz="720" dirty="0"/>
          </a:p>
        </p:txBody>
      </p:sp>
      <p:sp>
        <p:nvSpPr>
          <p:cNvPr id="32" name="Shape 27"/>
          <p:cNvSpPr/>
          <p:nvPr/>
        </p:nvSpPr>
        <p:spPr>
          <a:xfrm>
            <a:off x="3397568" y="4583574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1_S7_02_全色が並ぶ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97568" y="5035646"/>
            <a:ext cx="797243" cy="513176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3397568" y="4583574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3397568" y="6037470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5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四種類が並ぶ。</a:t>
            </a:r>
            <a:pPr indent="0" marL="0">
              <a:lnSpc>
                <a:spcPct val="124000"/>
              </a:lnSpc>
              <a:buNone/>
            </a:pPr>
            <a:r>
              <a:rPr lang="en-US" sz="54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この画にテロップ「同じ道を、違う私で。」を重ねる。</a:t>
            </a:r>
            <a:endParaRPr lang="en-US" sz="540" dirty="0"/>
          </a:p>
        </p:txBody>
      </p:sp>
      <p:sp>
        <p:nvSpPr>
          <p:cNvPr id="36" name="Shape 30"/>
          <p:cNvSpPr/>
          <p:nvPr/>
        </p:nvSpPr>
        <p:spPr>
          <a:xfrm>
            <a:off x="4286250" y="4583574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4" descr="/home/user/dougaseisaku/assets/ref4/共通_ロゴのみ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86250" y="4583574"/>
            <a:ext cx="797243" cy="1417320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4286250" y="4583574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4286250" y="6037470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64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そのままロゴ。</a:t>
            </a:r>
            <a:pPr indent="0" marL="0">
              <a:lnSpc>
                <a:spcPct val="124000"/>
              </a:lnSpc>
              <a:buNone/>
            </a:pPr>
            <a:r>
              <a:rPr lang="en-US" sz="6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締めのテロップは出さない。</a:t>
            </a:r>
            <a:endParaRPr lang="en-US" sz="640" dirty="0"/>
          </a:p>
        </p:txBody>
      </p:sp>
      <p:sp>
        <p:nvSpPr>
          <p:cNvPr id="40" name="Text 33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1" name="Text 34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 / 31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ASMRで製造の姿を撮る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Twenty Years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40秒 ／ 23ショット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対象＝新規（まだ知らない人）　／　EC Promotionタブ・公式Instagram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参考動画＝いただいた録画2本（1本の作品の前半・後半）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（コバ塗り・477万再生）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355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製造工程を順番どおりに見せる一本。作業音をそのまま入れる（バック音声あり）。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刃が革に入る音、機械の音、糸が締まる音、コバを磨く摩擦音。ナレーションは入れない。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参考動画と同じ作り方にする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：①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工程の頭から始める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（完成品がまだ無いので、当日その場で一つ作りながら撮る） ②工程は順番どおりに並べ、途中で戻らない ③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一カットは一〜二秒。ただしS6のコバ塗りだけは六秒を一カットで見せる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④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画面の下に、その工程の名前を一行だけ日本語と英語で出す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⑤手元の超マクロ・機械の横・工房の引きを交互に入れる。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人が広角に映る引きの画を三枚入れる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（S4に二枚、S7に一枚。参考動画に出てくる順に並べる）── 手元だけで終わらせず、誰が作っているかを見せる ⑥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最後に、完成した鞄を見せて閉じる。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そのままロゴだけで終える。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アングルは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真俯瞰と横の二つ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ガンマイク使用。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二十三カットを四十秒に詰めることで、手が止まらない感じが出る。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S6のコバ塗りが見せ場。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塗料が乗った瞬間に断面の色が変わる ── 一カットの中でビフォーアフターが起きる。参考動画が四百七十七万回見られた理由がこれ。ここだけカットを割らず、六秒を一カットで長回しする。参考動画にコバ塗りは出てこないので、ここは向島工房の工程として足してい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参考動画に重なっている白い線画のアニメーションと、英文の言い回しはそのまま使わない。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ここで作っている。工程の四割は、この断面に使われている。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神は細部に宿る。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God is in the details.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 程 ご と に 出 す テ ロ ッ プ（日 本 語 と 英 語）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550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参考動画と同じで、画面の下に一行だけ小さく出す。読ませるためではなく、何をしているかが分かればよい。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革を選ぶ Choosing the leather　／　裁つ Cutting　／　貼る Laminating　／　形を出す Shaping　／　縫う Stitching　／　コバを塗る Painting the edge　／　仕上げる Finishing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コバ塗りのカットだけ二行にする ── 一つの製品の、四割の時間は、この断面に使われます。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Forty percent of the making goes into this one edge.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コバの色はキャメル（生成りの断面）を推奨。差がいちばん出ます。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3936583"/>
            <a:ext cx="1195757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革を選ぶ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0-4秒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4318803"/>
            <a:ext cx="839141" cy="1491807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2_S2_01_革のロールが並ぶ棚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540243"/>
            <a:ext cx="839141" cy="1048927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4318803"/>
            <a:ext cx="839141" cy="1491807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5847186"/>
            <a:ext cx="83914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58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革のロールが並ぶ棚（引き）。</a:t>
            </a:r>
            <a:pPr indent="0" marL="0">
              <a:lnSpc>
                <a:spcPct val="124000"/>
              </a:lnSpc>
              <a:buNone/>
            </a:pPr>
            <a:r>
              <a:rPr lang="en-US" sz="5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扱える革の量がそのまま画に入る。ここから工程が始まる。</a:t>
            </a:r>
            <a:endParaRPr lang="en-US" sz="580" dirty="0"/>
          </a:p>
        </p:txBody>
      </p:sp>
      <p:sp>
        <p:nvSpPr>
          <p:cNvPr id="23" name="Text 20"/>
          <p:cNvSpPr/>
          <p:nvPr/>
        </p:nvSpPr>
        <p:spPr>
          <a:xfrm>
            <a:off x="1662101" y="3936583"/>
            <a:ext cx="10118114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裁つ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4-9秒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1662101" y="4318803"/>
            <a:ext cx="839141" cy="1491807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5" name="Image 1" descr="/home/user/dougaseisaku/assets/ref4/2_S3_01_抜き型を革に置く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2101" y="4540243"/>
            <a:ext cx="839141" cy="1048927"/>
          </a:xfrm>
          <a:prstGeom prst="rect">
            <a:avLst/>
          </a:prstGeom>
        </p:spPr>
      </p:pic>
      <p:sp>
        <p:nvSpPr>
          <p:cNvPr id="26" name="Shape 22"/>
          <p:cNvSpPr/>
          <p:nvPr/>
        </p:nvSpPr>
        <p:spPr>
          <a:xfrm>
            <a:off x="1662101" y="4318803"/>
            <a:ext cx="839141" cy="1491807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1662101" y="5847186"/>
            <a:ext cx="83914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抜き型を革の上に置く（真俯瞰）。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置く位置を決める手。</a:t>
            </a:r>
            <a:endParaRPr lang="en-US" sz="720" dirty="0"/>
          </a:p>
        </p:txBody>
      </p:sp>
      <p:sp>
        <p:nvSpPr>
          <p:cNvPr id="28" name="Shape 24"/>
          <p:cNvSpPr/>
          <p:nvPr/>
        </p:nvSpPr>
        <p:spPr>
          <a:xfrm>
            <a:off x="2592683" y="4318803"/>
            <a:ext cx="839141" cy="1491807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2" descr="/home/user/dougaseisaku/assets/ref4/2_S3_02_裁断機に革を送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92683" y="4540243"/>
            <a:ext cx="839141" cy="1048927"/>
          </a:xfrm>
          <a:prstGeom prst="rect">
            <a:avLst/>
          </a:prstGeom>
        </p:spPr>
      </p:pic>
      <p:sp>
        <p:nvSpPr>
          <p:cNvPr id="30" name="Shape 25"/>
          <p:cNvSpPr/>
          <p:nvPr/>
        </p:nvSpPr>
        <p:spPr>
          <a:xfrm>
            <a:off x="2592683" y="4318803"/>
            <a:ext cx="839141" cy="1491807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2592683" y="5847186"/>
            <a:ext cx="83914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裁断機に革を送る（横）。刃が入る一音。</a:t>
            </a:r>
            <a:endParaRPr lang="en-US" sz="720" dirty="0"/>
          </a:p>
        </p:txBody>
      </p:sp>
      <p:sp>
        <p:nvSpPr>
          <p:cNvPr id="32" name="Shape 27"/>
          <p:cNvSpPr/>
          <p:nvPr/>
        </p:nvSpPr>
        <p:spPr>
          <a:xfrm>
            <a:off x="3523264" y="4318803"/>
            <a:ext cx="839141" cy="1491807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2_S3_03_抜けたパーツ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23264" y="4540243"/>
            <a:ext cx="839141" cy="1048927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3523264" y="4318803"/>
            <a:ext cx="839141" cy="1491807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3523264" y="5847186"/>
            <a:ext cx="83914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抜いたパーツを型と並べて確かめる。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断面はまだ生成りのまま。</a:t>
            </a:r>
            <a:endParaRPr lang="en-US" sz="720" dirty="0"/>
          </a:p>
        </p:txBody>
      </p:sp>
      <p:sp>
        <p:nvSpPr>
          <p:cNvPr id="36" name="Text 30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7" name="Text 31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 / 31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ASMRで製造の姿を撮る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Twenty Years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40秒 ／ 23ショット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対象＝新規（まだ知らない人）　／　EC Promotionタブ・公式Instagram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参考動画＝いただいた録画2本（1本の作品の前半・後半）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（コバ塗り・477万再生）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355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製造工程を順番どおりに見せる一本。作業音をそのまま入れる（バック音声あり）。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刃が革に入る音、機械の音、糸が締まる音、コバを磨く摩擦音。ナレーションは入れない。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参考動画と同じ作り方にする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：①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工程の頭から始める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（完成品がまだ無いので、当日その場で一つ作りながら撮る） ②工程は順番どおりに並べ、途中で戻らない ③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一カットは一〜二秒。ただしS6のコバ塗りだけは六秒を一カットで見せる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④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画面の下に、その工程の名前を一行だけ日本語と英語で出す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⑤手元の超マクロ・機械の横・工房の引きを交互に入れる。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人が広角に映る引きの画を三枚入れる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（S4に二枚、S7に一枚。参考動画に出てくる順に並べる）── 手元だけで終わらせず、誰が作っているかを見せる ⑥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最後に、完成した鞄を見せて閉じる。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そのままロゴだけで終える。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アングルは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真俯瞰と横の二つ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ガンマイク使用。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二十三カットを四十秒に詰めることで、手が止まらない感じが出る。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S6のコバ塗りが見せ場。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塗料が乗った瞬間に断面の色が変わる ── 一カットの中でビフォーアフターが起きる。参考動画が四百七十七万回見られた理由がこれ。ここだけカットを割らず、六秒を一カットで長回しする。参考動画にコバ塗りは出てこないので、ここは向島工房の工程として足してい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参考動画に重なっている白い線画のアニメーションと、英文の言い回しはそのまま使わない。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ここで作っている。工程の四割は、この断面に使われている。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神は細部に宿る。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God is in the details.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 程 ご と に 出 す テ ロ ッ プ（日 本 語 と 英 語）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550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参考動画と同じで、画面の下に一行だけ小さく出す。読ませるためではなく、何をしているかが分かればよい。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革を選ぶ Choosing the leather　／　裁つ Cutting　／　貼る Laminating　／　形を出す Shaping　／　縫う Stitching　／　コバを塗る Painting the edge　／　仕上げる Finishing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コバ塗りのカットだけ二行にする ── 一つの製品の、四割の時間は、この断面に使われます。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Forty percent of the making goes into this one edge.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コバの色はキャメル（生成りの断面）を推奨。差がいちばん出ます。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3936583"/>
            <a:ext cx="22683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貼る・形を出す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9-13秒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4192615"/>
            <a:ext cx="910122" cy="1617994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2_S4_01_二枚を合わせ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432786"/>
            <a:ext cx="910122" cy="1137652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4192615"/>
            <a:ext cx="910122" cy="1617994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5847186"/>
            <a:ext cx="9101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二枚の革を合わせる（真俯瞰）。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表の革と裏の革。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1413042" y="4192615"/>
            <a:ext cx="910122" cy="1617994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2_S4_03_両手で押さえて形を出す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3042" y="4432786"/>
            <a:ext cx="910122" cy="1137652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1413042" y="4192615"/>
            <a:ext cx="910122" cy="1617994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413042" y="5847186"/>
            <a:ext cx="9101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両手で押さえて形を出す。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平らな革が立体になる。</a:t>
            </a:r>
            <a:endParaRPr lang="en-US" sz="720" dirty="0"/>
          </a:p>
        </p:txBody>
      </p:sp>
      <p:sp>
        <p:nvSpPr>
          <p:cNvPr id="27" name="Text 23"/>
          <p:cNvSpPr/>
          <p:nvPr/>
        </p:nvSpPr>
        <p:spPr>
          <a:xfrm>
            <a:off x="2734644" y="3936583"/>
            <a:ext cx="90455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縫う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13-19秒</a:t>
            </a:r>
            <a:endParaRPr lang="en-US" sz="1150" dirty="0"/>
          </a:p>
        </p:txBody>
      </p:sp>
      <p:sp>
        <p:nvSpPr>
          <p:cNvPr id="28" name="Shape 24"/>
          <p:cNvSpPr/>
          <p:nvPr/>
        </p:nvSpPr>
        <p:spPr>
          <a:xfrm>
            <a:off x="2734644" y="4192615"/>
            <a:ext cx="910122" cy="1617994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2" descr="/home/user/dougaseisaku/assets/ref4/2_S5_01_針が上下す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34644" y="4432786"/>
            <a:ext cx="910122" cy="1137652"/>
          </a:xfrm>
          <a:prstGeom prst="rect">
            <a:avLst/>
          </a:prstGeom>
        </p:spPr>
      </p:pic>
      <p:sp>
        <p:nvSpPr>
          <p:cNvPr id="30" name="Shape 25"/>
          <p:cNvSpPr/>
          <p:nvPr/>
        </p:nvSpPr>
        <p:spPr>
          <a:xfrm>
            <a:off x="2734644" y="4192615"/>
            <a:ext cx="910122" cy="1617994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2734644" y="5847186"/>
            <a:ext cx="9101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ミシンの針が上下する（寄り）。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糸が締まる音。ここから縫いが始まる。</a:t>
            </a:r>
            <a:endParaRPr lang="en-US" sz="720" dirty="0"/>
          </a:p>
        </p:txBody>
      </p:sp>
      <p:sp>
        <p:nvSpPr>
          <p:cNvPr id="32" name="Shape 27"/>
          <p:cNvSpPr/>
          <p:nvPr/>
        </p:nvSpPr>
        <p:spPr>
          <a:xfrm>
            <a:off x="3736205" y="4192615"/>
            <a:ext cx="910122" cy="1617994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2_S5_02_工房の引き_作業する人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36205" y="4432786"/>
            <a:ext cx="910122" cy="1137652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3736205" y="4192615"/>
            <a:ext cx="910122" cy="1617994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3736205" y="5847186"/>
            <a:ext cx="9101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58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工房の引き。作業台に向かう人が入る</a:t>
            </a:r>
            <a:pPr indent="0" marL="0">
              <a:lnSpc>
                <a:spcPct val="124000"/>
              </a:lnSpc>
              <a:buNone/>
            </a:pPr>
            <a:r>
              <a:rPr lang="en-US" sz="5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（人が広角に映る一枚目）。誰が作っているかを一度見せる。</a:t>
            </a:r>
            <a:endParaRPr lang="en-US" sz="580" dirty="0"/>
          </a:p>
        </p:txBody>
      </p:sp>
      <p:sp>
        <p:nvSpPr>
          <p:cNvPr id="36" name="Shape 30"/>
          <p:cNvSpPr/>
          <p:nvPr/>
        </p:nvSpPr>
        <p:spPr>
          <a:xfrm>
            <a:off x="4737767" y="4192615"/>
            <a:ext cx="910122" cy="1617994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4" descr="/home/user/dougaseisaku/assets/ref4/2_S5_03_手縫いで引き締める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37767" y="4432786"/>
            <a:ext cx="910122" cy="1137652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4737767" y="4192615"/>
            <a:ext cx="910122" cy="1617994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4737767" y="5847186"/>
            <a:ext cx="9101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6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手縫いに替える。</a:t>
            </a:r>
            <a:pPr indent="0" marL="0">
              <a:lnSpc>
                <a:spcPct val="124000"/>
              </a:lnSpc>
              <a:buNone/>
            </a:pPr>
            <a:r>
              <a:rPr lang="en-US" sz="6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両手で糸を引き締める（寄り）。機械と手の両方でやっていることを見せる。</a:t>
            </a:r>
            <a:endParaRPr lang="en-US" sz="620" dirty="0"/>
          </a:p>
        </p:txBody>
      </p:sp>
      <p:sp>
        <p:nvSpPr>
          <p:cNvPr id="40" name="Shape 33"/>
          <p:cNvSpPr/>
          <p:nvPr/>
        </p:nvSpPr>
        <p:spPr>
          <a:xfrm>
            <a:off x="5739329" y="4192615"/>
            <a:ext cx="910122" cy="1617994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1" name="Image 5" descr="/home/user/dougaseisaku/assets/ref4/2_S5_04_工房の引き_ミシンの前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39329" y="4432786"/>
            <a:ext cx="910122" cy="1137652"/>
          </a:xfrm>
          <a:prstGeom prst="rect">
            <a:avLst/>
          </a:prstGeom>
        </p:spPr>
      </p:pic>
      <p:sp>
        <p:nvSpPr>
          <p:cNvPr id="42" name="Shape 34"/>
          <p:cNvSpPr/>
          <p:nvPr/>
        </p:nvSpPr>
        <p:spPr>
          <a:xfrm>
            <a:off x="5739329" y="4192615"/>
            <a:ext cx="910122" cy="1617994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5739329" y="5847186"/>
            <a:ext cx="9101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もう一段引く。</a:t>
            </a:r>
            <a:endParaRPr lang="en-US" sz="720" dirty="0"/>
          </a:p>
        </p:txBody>
      </p:sp>
      <p:sp>
        <p:nvSpPr>
          <p:cNvPr id="44" name="Text 3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5" name="Text 3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 / 31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ASMRで製造の姿を撮る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Twenty Years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40秒 ／ 23ショット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対象＝新規（まだ知らない人）　／　EC Promotionタブ・公式Instagram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参考動画＝いただいた録画2本（1本の作品の前半・後半）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（コバ塗り・477万再生）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355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製造工程を順番どおりに見せる一本。作業音をそのまま入れる（バック音声あり）。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刃が革に入る音、機械の音、糸が締まる音、コバを磨く摩擦音。ナレーションは入れない。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参考動画と同じ作り方にする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：①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工程の頭から始める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（完成品がまだ無いので、当日その場で一つ作りながら撮る） ②工程は順番どおりに並べ、途中で戻らない ③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一カットは一〜二秒。ただしS6のコバ塗りだけは六秒を一カットで見せる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④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画面の下に、その工程の名前を一行だけ日本語と英語で出す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⑤手元の超マクロ・機械の横・工房の引きを交互に入れる。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人が広角に映る引きの画を三枚入れる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（S4に二枚、S7に一枚。参考動画に出てくる順に並べる）── 手元だけで終わらせず、誰が作っているかを見せる ⑥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最後に、完成した鞄を見せて閉じる。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そのままロゴだけで終える。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アングルは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真俯瞰と横の二つ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ガンマイク使用。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二十三カットを四十秒に詰めることで、手が止まらない感じが出る。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S6のコバ塗りが見せ場。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塗料が乗った瞬間に断面の色が変わる ── 一カットの中でビフォーアフターが起きる。参考動画が四百七十七万回見られた理由がこれ。ここだけカットを割らず、六秒を一カットで長回しする。参考動画にコバ塗りは出てこないので、ここは向島工房の工程として足してい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参考動画に重なっている白い線画のアニメーションと、英文の言い回しはそのまま使わない。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ここで作っている。工程の四割は、この断面に使われている。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神は細部に宿る。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God is in the details.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 程 ご と に 出 す テ ロ ッ プ（日 本 語 と 英 語）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550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参考動画と同じで、画面の下に一行だけ小さく出す。読ませるためではなく、何をしているかが分かればよい。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革を選ぶ Choosing the leather　／　裁つ Cutting　／　貼る Laminating　／　形を出す Shaping　／　縫う Stitching　／　コバを塗る Painting the edge　／　仕上げる Finishing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コバ塗りのカットだけ二行にする ── 一つの製品の、四割の時間は、この断面に使われます。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Forty percent of the making goes into this one edge.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コバの色はキャメル（生成りの断面）を推奨。差がいちばん出ます。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3936583"/>
            <a:ext cx="427142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S5 縁を整える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19-25秒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4192615"/>
            <a:ext cx="910122" cy="1617994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2_S6_01_刃で切り込みを入れ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432786"/>
            <a:ext cx="910122" cy="1137652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4192615"/>
            <a:ext cx="910122" cy="1617994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5847186"/>
            <a:ext cx="9101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0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刃で縁に切り込みを入れる（超マクロ）。</a:t>
            </a:r>
            <a:pPr indent="0" marL="0">
              <a:lnSpc>
                <a:spcPct val="124000"/>
              </a:lnSpc>
              <a:buNone/>
            </a:pPr>
            <a:r>
              <a:rPr lang="en-US" sz="70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切る一音を拾う。</a:t>
            </a:r>
            <a:pPr indent="0" marL="0">
              <a:lnSpc>
                <a:spcPct val="124000"/>
              </a:lnSpc>
              <a:buNone/>
            </a:pPr>
            <a:r>
              <a:rPr lang="en-US" sz="70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ここから仕上げに入る。</a:t>
            </a:r>
            <a:endParaRPr lang="en-US" sz="700" dirty="0"/>
          </a:p>
        </p:txBody>
      </p:sp>
      <p:sp>
        <p:nvSpPr>
          <p:cNvPr id="23" name="Shape 20"/>
          <p:cNvSpPr/>
          <p:nvPr/>
        </p:nvSpPr>
        <p:spPr>
          <a:xfrm>
            <a:off x="1413042" y="4192615"/>
            <a:ext cx="910122" cy="1617994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2_S6_02_縫い代を開く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3042" y="4432786"/>
            <a:ext cx="910122" cy="1137652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1413042" y="4192615"/>
            <a:ext cx="910122" cy="1617994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413042" y="5847186"/>
            <a:ext cx="9101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6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縫い代を開いて、縁を平らに整える（斜め上から）。</a:t>
            </a:r>
            <a:pPr indent="0" marL="0">
              <a:lnSpc>
                <a:spcPct val="124000"/>
              </a:lnSpc>
              <a:buNone/>
            </a:pPr>
            <a:r>
              <a:rPr lang="en-US" sz="6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裏の白い革と、表の色が同じ画に入る。</a:t>
            </a:r>
            <a:endParaRPr lang="en-US" sz="620" dirty="0"/>
          </a:p>
        </p:txBody>
      </p:sp>
      <p:sp>
        <p:nvSpPr>
          <p:cNvPr id="27" name="Shape 23"/>
          <p:cNvSpPr/>
          <p:nvPr/>
        </p:nvSpPr>
        <p:spPr>
          <a:xfrm>
            <a:off x="2414604" y="4192615"/>
            <a:ext cx="910122" cy="1617994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2_S6_03_縁を指で起こす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14604" y="4432786"/>
            <a:ext cx="910122" cy="1137652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2414604" y="4192615"/>
            <a:ext cx="910122" cy="1617994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2414604" y="5847186"/>
            <a:ext cx="9101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指で縁をつまんで起こす（寄り・両手）。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断面がまっすぐ立ち上がる。</a:t>
            </a:r>
            <a:endParaRPr lang="en-US" sz="720" dirty="0"/>
          </a:p>
        </p:txBody>
      </p:sp>
      <p:sp>
        <p:nvSpPr>
          <p:cNvPr id="31" name="Shape 26"/>
          <p:cNvSpPr/>
          <p:nvPr/>
        </p:nvSpPr>
        <p:spPr>
          <a:xfrm>
            <a:off x="3416165" y="4192615"/>
            <a:ext cx="910122" cy="1617994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2" name="Image 3" descr="/home/user/dougaseisaku/assets/ref4/2_S6_04_断面に道具を当て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16165" y="4432786"/>
            <a:ext cx="910122" cy="1137652"/>
          </a:xfrm>
          <a:prstGeom prst="rect">
            <a:avLst/>
          </a:prstGeom>
        </p:spPr>
      </p:pic>
      <p:sp>
        <p:nvSpPr>
          <p:cNvPr id="33" name="Shape 27"/>
          <p:cNvSpPr/>
          <p:nvPr/>
        </p:nvSpPr>
        <p:spPr>
          <a:xfrm>
            <a:off x="3416165" y="4192615"/>
            <a:ext cx="910122" cy="1617994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4" name="Text 28"/>
          <p:cNvSpPr/>
          <p:nvPr/>
        </p:nvSpPr>
        <p:spPr>
          <a:xfrm>
            <a:off x="3416165" y="5847186"/>
            <a:ext cx="9101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58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断面に道具を当ててならす（横・寄り）。</a:t>
            </a:r>
            <a:pPr indent="0" marL="0">
              <a:lnSpc>
                <a:spcPct val="124000"/>
              </a:lnSpc>
              <a:buNone/>
            </a:pPr>
            <a:r>
              <a:rPr lang="en-US" sz="5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ここまでで断面が整い、</a:t>
            </a:r>
            <a:pPr indent="0" marL="0">
              <a:lnSpc>
                <a:spcPct val="124000"/>
              </a:lnSpc>
              <a:buNone/>
            </a:pPr>
            <a:r>
              <a:rPr lang="en-US" sz="58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次のコバ塗りに入れる状態になる。</a:t>
            </a:r>
            <a:endParaRPr lang="en-US" sz="580" dirty="0"/>
          </a:p>
        </p:txBody>
      </p:sp>
      <p:sp>
        <p:nvSpPr>
          <p:cNvPr id="35" name="Text 29"/>
          <p:cNvSpPr/>
          <p:nvPr/>
        </p:nvSpPr>
        <p:spPr>
          <a:xfrm>
            <a:off x="4737767" y="3936583"/>
            <a:ext cx="7042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S6 コバ塗り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25-31秒</a:t>
            </a:r>
            <a:endParaRPr lang="en-US" sz="1150" dirty="0"/>
          </a:p>
        </p:txBody>
      </p:sp>
      <p:sp>
        <p:nvSpPr>
          <p:cNvPr id="36" name="Shape 30"/>
          <p:cNvSpPr/>
          <p:nvPr/>
        </p:nvSpPr>
        <p:spPr>
          <a:xfrm>
            <a:off x="4737767" y="4192615"/>
            <a:ext cx="910122" cy="1617994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4" descr="/home/user/dougaseisaku/assets/ref4/2_S7_01_コバ塗り_塗り進む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37767" y="4378851"/>
            <a:ext cx="910122" cy="1245523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4737767" y="4192615"/>
            <a:ext cx="910122" cy="1617994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4737767" y="5847186"/>
            <a:ext cx="9101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0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塗った側と塗っていない側が同じ画面に入り、塗り終わるまで断面の色が変わっていく。</a:t>
            </a:r>
            <a:endParaRPr lang="en-US" sz="700" dirty="0"/>
          </a:p>
        </p:txBody>
      </p:sp>
      <p:sp>
        <p:nvSpPr>
          <p:cNvPr id="40" name="Text 33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1" name="Text 34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 / 31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 / 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ASMRで製造の姿を撮る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Twenty Years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40秒 ／ 23ショット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対象＝新規（まだ知らない人）　／　EC Promotionタブ・公式Instagram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参考動画＝いただいた録画2本（1本の作品の前半・後半）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（コバ塗り・477万再生）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355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製造工程を順番どおりに見せる一本。作業音をそのまま入れる（バック音声あり）。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刃が革に入る音、機械の音、糸が締まる音、コバを磨く摩擦音。ナレーションは入れない。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参考動画と同じ作り方にする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：①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工程の頭から始める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（完成品がまだ無いので、当日その場で一つ作りながら撮る） ②工程は順番どおりに並べ、途中で戻らない ③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一カットは一〜二秒。ただしS6のコバ塗りだけは六秒を一カットで見せる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④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画面の下に、その工程の名前を一行だけ日本語と英語で出す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⑤手元の超マクロ・機械の横・工房の引きを交互に入れる。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人が広角に映る引きの画を三枚入れる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（S4に二枚、S7に一枚。参考動画に出てくる順に並べる）── 手元だけで終わらせず、誰が作っているかを見せる ⑥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最後に、完成した鞄を見せて閉じる。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そのままロゴだけで終える。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アングルは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真俯瞰と横の二つ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ガンマイク使用。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二十三カットを四十秒に詰めることで、手が止まらない感じが出る。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S6のコバ塗りが見せ場。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塗料が乗った瞬間に断面の色が変わる ── 一カットの中でビフォーアフターが起きる。参考動画が四百七十七万回見られた理由がこれ。ここだけカットを割らず、六秒を一カットで長回しする。参考動画にコバ塗りは出てこないので、ここは向島工房の工程として足してい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参考動画に重なっている白い線画のアニメーションと、英文の言い回しはそのまま使わない。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ここで作っている。工程の四割は、この断面に使われている。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神は細部に宿る。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God is in the details.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 程 ご と に 出 す テ ロ ッ プ（日 本 語 と 英 語）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550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参考動画と同じで、画面の下に一行だけ小さく出す。読ませるためではなく、何をしているかが分かればよい。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革を選ぶ Choosing the leather　／　裁つ Cutting　／　貼る Laminating　／　形を出す Shaping　／　縫う Stitching　／　コバを塗る Painting the edge　／　仕上げる Finishing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コバ塗りのカットだけ二行にする ── 一つの製品の、四割の時間は、この断面に使われます。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Forty percent of the making goes into this one edge.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コバの色はキャメル（生成りの断面）を推奨。差がいちばん出ます。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3936583"/>
            <a:ext cx="113687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S7 仕上げる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31-36秒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4192615"/>
            <a:ext cx="837413" cy="148873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2_S8_01_作業台で確かめ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413599"/>
            <a:ext cx="837413" cy="1046767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4192615"/>
            <a:ext cx="837413" cy="148873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5717926"/>
            <a:ext cx="837413" cy="6645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作業台で手元を確かめる（引き）。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1340333" y="4192615"/>
            <a:ext cx="837413" cy="148873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2_S8_02_立ち上がった形を持つ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0333" y="4413599"/>
            <a:ext cx="837413" cy="1046767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1340333" y="4192615"/>
            <a:ext cx="837413" cy="148873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340333" y="5717926"/>
            <a:ext cx="837413" cy="6645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6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立ち上がった形を両手で持って確かめる（胸の高さ）。</a:t>
            </a:r>
            <a:pPr indent="0" marL="0">
              <a:lnSpc>
                <a:spcPct val="124000"/>
              </a:lnSpc>
              <a:buNone/>
            </a:pPr>
            <a:r>
              <a:rPr lang="en-US" sz="64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道具は持たない。引きと寄りのあいだをつなぐ一枚。</a:t>
            </a:r>
            <a:endParaRPr lang="en-US" sz="640" dirty="0"/>
          </a:p>
        </p:txBody>
      </p:sp>
      <p:sp>
        <p:nvSpPr>
          <p:cNvPr id="27" name="Shape 23"/>
          <p:cNvSpPr/>
          <p:nvPr/>
        </p:nvSpPr>
        <p:spPr>
          <a:xfrm>
            <a:off x="2269186" y="4192615"/>
            <a:ext cx="837413" cy="148873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2_S8_03_木槌で叩く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69186" y="4413599"/>
            <a:ext cx="837413" cy="1046767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2269186" y="4192615"/>
            <a:ext cx="837413" cy="148873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2269186" y="5717926"/>
            <a:ext cx="837413" cy="6645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木槌で底を打つ（横・胸の高さ）。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打つ音を二つだけ拾う。</a:t>
            </a:r>
            <a:endParaRPr lang="en-US" sz="720" dirty="0"/>
          </a:p>
        </p:txBody>
      </p:sp>
      <p:sp>
        <p:nvSpPr>
          <p:cNvPr id="31" name="Shape 26"/>
          <p:cNvSpPr/>
          <p:nvPr/>
        </p:nvSpPr>
        <p:spPr>
          <a:xfrm>
            <a:off x="3198040" y="4192615"/>
            <a:ext cx="837413" cy="148873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2" name="Image 3" descr="/home/user/dougaseisaku/assets/ref4/2_S8_04_道具でコバを整え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98040" y="4413599"/>
            <a:ext cx="837413" cy="1046767"/>
          </a:xfrm>
          <a:prstGeom prst="rect">
            <a:avLst/>
          </a:prstGeom>
        </p:spPr>
      </p:pic>
      <p:sp>
        <p:nvSpPr>
          <p:cNvPr id="33" name="Shape 27"/>
          <p:cNvSpPr/>
          <p:nvPr/>
        </p:nvSpPr>
        <p:spPr>
          <a:xfrm>
            <a:off x="3198040" y="4192615"/>
            <a:ext cx="837413" cy="148873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4" name="Text 28"/>
          <p:cNvSpPr/>
          <p:nvPr/>
        </p:nvSpPr>
        <p:spPr>
          <a:xfrm>
            <a:off x="3198040" y="5717926"/>
            <a:ext cx="837413" cy="6645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塗り終わったコバを道具で整える（寄り）。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摩擦音。</a:t>
            </a:r>
            <a:endParaRPr lang="en-US" sz="720" dirty="0"/>
          </a:p>
        </p:txBody>
      </p:sp>
      <p:sp>
        <p:nvSpPr>
          <p:cNvPr id="35" name="Shape 29"/>
          <p:cNvSpPr/>
          <p:nvPr/>
        </p:nvSpPr>
        <p:spPr>
          <a:xfrm>
            <a:off x="4126893" y="4192615"/>
            <a:ext cx="837413" cy="148873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6" name="Image 4" descr="/home/user/dougaseisaku/assets/ref4/2_S8_05_縁に印をつける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26893" y="4413599"/>
            <a:ext cx="837413" cy="1046767"/>
          </a:xfrm>
          <a:prstGeom prst="rect">
            <a:avLst/>
          </a:prstGeom>
        </p:spPr>
      </p:pic>
      <p:sp>
        <p:nvSpPr>
          <p:cNvPr id="37" name="Shape 30"/>
          <p:cNvSpPr/>
          <p:nvPr/>
        </p:nvSpPr>
        <p:spPr>
          <a:xfrm>
            <a:off x="4126893" y="4192615"/>
            <a:ext cx="837413" cy="148873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8" name="Text 31"/>
          <p:cNvSpPr/>
          <p:nvPr/>
        </p:nvSpPr>
        <p:spPr>
          <a:xfrm>
            <a:off x="4126893" y="5717926"/>
            <a:ext cx="837413" cy="6645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縁に印をつける（寄り）</a:t>
            </a:r>
            <a:endParaRPr lang="en-US" sz="720" dirty="0"/>
          </a:p>
        </p:txBody>
      </p:sp>
      <p:sp>
        <p:nvSpPr>
          <p:cNvPr id="39" name="Text 32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0" name="Text 33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 / 31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 / 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ASMRで製造の姿を撮る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Twenty Years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40秒 ／ 23ショット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対象＝新規（まだ知らない人）　／　EC Promotionタブ・公式Instagram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参考動画＝いただいた録画2本（1本の作品の前半・後半）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（コバ塗り・477万再生）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355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製造工程を順番どおりに見せる一本。作業音をそのまま入れる（バック音声あり）。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刃が革に入る音、機械の音、糸が締まる音、コバを磨く摩擦音。ナレーションは入れない。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参考動画と同じ作り方にする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：①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工程の頭から始める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（完成品がまだ無いので、当日その場で一つ作りながら撮る） ②工程は順番どおりに並べ、途中で戻らない ③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一カットは一〜二秒。ただしS6のコバ塗りだけは六秒を一カットで見せる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④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画面の下に、その工程の名前を一行だけ日本語と英語で出す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⑤手元の超マクロ・機械の横・工房の引きを交互に入れる。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人が広角に映る引きの画を三枚入れる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（S4に二枚、S7に一枚。参考動画に出てくる順に並べる）── 手元だけで終わらせず、誰が作っているかを見せる ⑥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最後に、完成した鞄を見せて閉じる。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そのままロゴだけで終える。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アングルは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真俯瞰と横の二つ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ガンマイク使用。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二十三カットを四十秒に詰めることで、手が止まらない感じが出る。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S6のコバ塗りが見せ場。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塗料が乗った瞬間に断面の色が変わる ── 一カットの中でビフォーアフターが起きる。参考動画が四百七十七万回見られた理由がこれ。ここだけカットを割らず、六秒を一カットで長回しする。参考動画にコバ塗りは出てこないので、ここは向島工房の工程として足してい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参考動画に重なっている白い線画のアニメーションと、英文の言い回しはそのまま使わない。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ここで作っている。工程の四割は、この断面に使われている。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神は細部に宿る。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God is in the details.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 程 ご と に 出 す テ ロ ッ プ（日 本 語 と 英 語）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550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参考動画と同じで、画面の下に一行だけ小さく出す。読ませるためではなく、何をしているかが分かればよい。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革を選ぶ Choosing the leather　／　裁つ Cutting　／　貼る Laminating　／　形を出す Shaping　／　縫う Stitching　／　コバを塗る Painting the edge　／　仕上げる Finishing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コバ塗りのカットだけ二行にする ── 一つの製品の、四割の時間は、この断面に使われます。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Forty percent of the making goes into this one edge.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コバの色はキャメル（生成りの断面）を推奨。差がいちばん出ます。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3936583"/>
            <a:ext cx="113687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S8 完成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36-40秒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4192615"/>
            <a:ext cx="912920" cy="162296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2_S9_01_縁を折り返す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433525"/>
            <a:ext cx="912920" cy="1141150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4192615"/>
            <a:ext cx="912920" cy="162296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5852160"/>
            <a:ext cx="91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最後の一手。縁を手で仕上げる（寄り）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1415840" y="4192615"/>
            <a:ext cx="912920" cy="162296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2_S9_02_完成品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5840" y="4433525"/>
            <a:ext cx="912920" cy="1141150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1415840" y="4192615"/>
            <a:ext cx="912920" cy="162296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415840" y="5852160"/>
            <a:ext cx="91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完成した鞄を両手で持ち上げる（横）。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ここで一つの鞄が揃う。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2420200" y="4192615"/>
            <a:ext cx="912920" cy="162296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共通_ロゴのみ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20200" y="4192615"/>
            <a:ext cx="912920" cy="1622969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2420200" y="4192615"/>
            <a:ext cx="912920" cy="162296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2420200" y="5852160"/>
            <a:ext cx="91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そのままロゴ。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ここで作業音も切る。</a:t>
            </a:r>
            <a:endParaRPr lang="en-US" sz="720" dirty="0"/>
          </a:p>
        </p:txBody>
      </p:sp>
      <p:sp>
        <p:nvSpPr>
          <p:cNvPr id="31" name="Text 2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2" name="Text 2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 / 31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暗めでエレガントにブランドを映す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Making of the Voyage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28秒 ／ 15ショット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対象＝メディア関係者・ハイエンド層　／　公式Instagram・B supply ホームページ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（delvaux）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0357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ブランドの格を上げる一本。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黒スチレンボード一枚とライト一灯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で撮れる。工房の蛍光灯は全部消す。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6本目との違い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：背景（黒／実景）・光（一灯／自然光）・被写体（手だけ／人と機械）・カメラ（固定）・音（BGM／作業音）・終わり方（ロゴ）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309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一点の革製品が生まれるまでを、美しさだけで見せる。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324448" y="2065218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 後 は ロ ゴ だ け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248098"/>
            <a:ext cx="5455768" cy="2904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テロップは出さない。BGMが終わり、ロゴが0.5秒。それで終える。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11480" y="2992603"/>
            <a:ext cx="33358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超マクロ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0-4秒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3248635"/>
            <a:ext cx="1443909" cy="256694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3_S1_01_闇に光の帯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005725"/>
            <a:ext cx="1443909" cy="1052769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11480" y="3248635"/>
            <a:ext cx="1443909" cy="256694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1480" y="5852160"/>
            <a:ext cx="144390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真っ黒。細い光の帯が一本だけ立つ。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1946829" y="3248635"/>
            <a:ext cx="1443909" cy="256694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3_S1_02_光の帯が動く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6829" y="4159698"/>
            <a:ext cx="1443909" cy="744822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1946829" y="3248635"/>
            <a:ext cx="1443909" cy="256694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1946829" y="5852160"/>
            <a:ext cx="144390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光の帯がゆっくり動く。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無音から低いBGMが立ち上がる。</a:t>
            </a:r>
            <a:endParaRPr lang="en-US" sz="720" dirty="0"/>
          </a:p>
        </p:txBody>
      </p:sp>
      <p:sp>
        <p:nvSpPr>
          <p:cNvPr id="23" name="Text 19"/>
          <p:cNvSpPr/>
          <p:nvPr/>
        </p:nvSpPr>
        <p:spPr>
          <a:xfrm>
            <a:off x="3802218" y="2992603"/>
            <a:ext cx="797799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貼り合わせ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4-8秒</a:t>
            </a:r>
            <a:endParaRPr lang="en-US" sz="1150" dirty="0"/>
          </a:p>
        </p:txBody>
      </p:sp>
      <p:sp>
        <p:nvSpPr>
          <p:cNvPr id="24" name="Shape 20"/>
          <p:cNvSpPr/>
          <p:nvPr/>
        </p:nvSpPr>
        <p:spPr>
          <a:xfrm>
            <a:off x="3802218" y="3248635"/>
            <a:ext cx="1443909" cy="256694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5" name="Image 2" descr="/home/user/dougaseisaku/assets/ref4/3_S2_01_道具と染料が並ぶ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02218" y="4190057"/>
            <a:ext cx="1443909" cy="684104"/>
          </a:xfrm>
          <a:prstGeom prst="rect">
            <a:avLst/>
          </a:prstGeom>
        </p:spPr>
      </p:pic>
      <p:sp>
        <p:nvSpPr>
          <p:cNvPr id="26" name="Shape 21"/>
          <p:cNvSpPr/>
          <p:nvPr/>
        </p:nvSpPr>
        <p:spPr>
          <a:xfrm>
            <a:off x="3802218" y="3248635"/>
            <a:ext cx="1443909" cy="256694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3802218" y="5852160"/>
            <a:ext cx="144390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作業台に革を置く。奥に染料と道具が並ぶ。</a:t>
            </a:r>
            <a:endParaRPr lang="en-US" sz="720" dirty="0"/>
          </a:p>
        </p:txBody>
      </p:sp>
      <p:sp>
        <p:nvSpPr>
          <p:cNvPr id="28" name="Shape 23"/>
          <p:cNvSpPr/>
          <p:nvPr/>
        </p:nvSpPr>
        <p:spPr>
          <a:xfrm>
            <a:off x="5337567" y="3248635"/>
            <a:ext cx="1443909" cy="256694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3_S2_02_手が革を持つ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37567" y="4065993"/>
            <a:ext cx="1443909" cy="932233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5337567" y="3248635"/>
            <a:ext cx="1443909" cy="256694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5337567" y="5852160"/>
            <a:ext cx="144390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二枚を合わせて位置を決める。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腕時計・指輪は外す。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6872916" y="3248635"/>
            <a:ext cx="1443909" cy="256694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3_S2_03_暗がりで革を手に取る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72916" y="4155011"/>
            <a:ext cx="1443909" cy="754197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6872916" y="3248635"/>
            <a:ext cx="1443909" cy="256694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6872916" y="5852160"/>
            <a:ext cx="144390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合わせた革を押さえる。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ここから形になっていく。</a:t>
            </a:r>
            <a:endParaRPr lang="en-US" sz="720" dirty="0"/>
          </a:p>
        </p:txBody>
      </p:sp>
      <p:sp>
        <p:nvSpPr>
          <p:cNvPr id="36" name="Text 29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7" name="Text 30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11 / 31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暗めでエレガントにブランドを映す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Making of the Voyage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28秒 ／ 15ショット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対象＝メディア関係者・ハイエンド層　／　公式Instagram・B supply ホームページ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（delvaux）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0357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ブランドの格を上げる一本。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黒スチレンボード一枚とライト一灯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で撮れる。工房の蛍光灯は全部消す。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6本目との違い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：背景（黒／実景）・光（一灯／自然光）・被写体（手だけ／人と機械）・カメラ（固定）・音（BGM／作業音）・終わり方（ロゴ）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309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一点の革製品が生まれるまでを、美しさだけで見せる。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324448" y="2065218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 後 は ロ ゴ だ け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248098"/>
            <a:ext cx="5455768" cy="2904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テロップは出さない。BGMが終わり、ロゴが0.5秒。それで終える。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11480" y="2992603"/>
            <a:ext cx="487122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形をつくる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8-15秒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3248635"/>
            <a:ext cx="1443909" cy="256694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3_S3_01_手で革を折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049844"/>
            <a:ext cx="1443909" cy="964531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11480" y="3248635"/>
            <a:ext cx="1443909" cy="256694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1480" y="5852160"/>
            <a:ext cx="144390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手だけ。革を折り上げる。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暗がりに革の面だけが浮く。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1946829" y="3248635"/>
            <a:ext cx="1443909" cy="256694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3_S3_02_縁を押さえる_マクロ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6829" y="4110852"/>
            <a:ext cx="1443909" cy="842514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1946829" y="3248635"/>
            <a:ext cx="1443909" cy="256694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1946829" y="5852160"/>
            <a:ext cx="144390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縁を押さえる（超マクロ）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3482178" y="3248635"/>
            <a:ext cx="1443909" cy="256694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3_S3_03_角が立ち上が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82178" y="4259449"/>
            <a:ext cx="1443909" cy="545321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3482178" y="3248635"/>
            <a:ext cx="1443909" cy="256694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3482178" y="5852160"/>
            <a:ext cx="144390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角が立ち上がる。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ここまで顔は一切映さない。</a:t>
            </a:r>
            <a:endParaRPr lang="en-US" sz="720" dirty="0"/>
          </a:p>
        </p:txBody>
      </p:sp>
      <p:sp>
        <p:nvSpPr>
          <p:cNvPr id="27" name="Text 22"/>
          <p:cNvSpPr/>
          <p:nvPr/>
        </p:nvSpPr>
        <p:spPr>
          <a:xfrm>
            <a:off x="5337567" y="2992603"/>
            <a:ext cx="6442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金具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15-19秒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5337567" y="3248635"/>
            <a:ext cx="1443909" cy="256694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3_S4_01_白手袋で金具を持つ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37567" y="4171132"/>
            <a:ext cx="1443909" cy="721955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5337567" y="3248635"/>
            <a:ext cx="1443909" cy="256694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5337567" y="5852160"/>
            <a:ext cx="144390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白手袋で金具を革に取り付ける。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金属が触れる音。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6872916" y="3248635"/>
            <a:ext cx="1443909" cy="256694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3_S4_02_金具を取り付ける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72916" y="4065993"/>
            <a:ext cx="1443909" cy="932233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6872916" y="3248635"/>
            <a:ext cx="1443909" cy="256694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6872916" y="5852160"/>
            <a:ext cx="144390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取り付いた金具を手に取って確かめる（超マクロ）。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カチリと一音。</a:t>
            </a:r>
            <a:endParaRPr lang="en-US" sz="720" dirty="0"/>
          </a:p>
        </p:txBody>
      </p:sp>
      <p:sp>
        <p:nvSpPr>
          <p:cNvPr id="36" name="Shape 29"/>
          <p:cNvSpPr/>
          <p:nvPr/>
        </p:nvSpPr>
        <p:spPr>
          <a:xfrm>
            <a:off x="8408265" y="3248635"/>
            <a:ext cx="1443909" cy="256694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5" descr="/home/user/dougaseisaku/assets/ref4/3_S4_03_金具の寄り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08265" y="4052968"/>
            <a:ext cx="1443909" cy="958283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8408265" y="3248635"/>
            <a:ext cx="1443909" cy="256694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1"/>
          <p:cNvSpPr/>
          <p:nvPr/>
        </p:nvSpPr>
        <p:spPr>
          <a:xfrm>
            <a:off x="8408265" y="5852160"/>
            <a:ext cx="144390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取り付いた金具の寄り。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ここだけ光が回った明るい画にする。</a:t>
            </a:r>
            <a:endParaRPr lang="en-US" sz="720" dirty="0"/>
          </a:p>
        </p:txBody>
      </p:sp>
      <p:sp>
        <p:nvSpPr>
          <p:cNvPr id="40" name="Text 32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1" name="Text 33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 / 31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暗めでエレガントにブランドを映す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Making of the Voyage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28秒 ／ 15ショット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対象＝メディア関係者・ハイエンド層　／　公式Instagram・B supply ホームページ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（delvaux）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0357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ブランドの格を上げる一本。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黒スチレンボード一枚とライト一灯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で撮れる。工房の蛍光灯は全部消す。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6本目との違い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：背景（黒／実景）・光（一灯／自然光）・被写体（手だけ／人と機械）・カメラ（固定）・音（BGM／作業音）・終わり方（ロゴ）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309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一点の革製品が生まれるまでを、美しさだけで見せる。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324448" y="2065218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 後 は ロ ゴ だ け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248098"/>
            <a:ext cx="5455768" cy="2904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テロップは出さない。BGMが終わり、ロゴが0.5秒。それで終える。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11480" y="2992603"/>
            <a:ext cx="113687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S5 完成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19-28秒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3248635"/>
            <a:ext cx="1443909" cy="256694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3_S5_01_道具の前で持ち上げ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122067"/>
            <a:ext cx="1443909" cy="820084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11480" y="3248635"/>
            <a:ext cx="1443909" cy="256694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1480" y="5852160"/>
            <a:ext cx="144390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工房の奥、道具の前で完成品を持ち上げる。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ここだけ背景に道具が入る。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1946829" y="3248635"/>
            <a:ext cx="1443909" cy="256694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3_S5_02_完成品を両手で持つ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6829" y="4218862"/>
            <a:ext cx="1443909" cy="626495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1946829" y="3248635"/>
            <a:ext cx="1443909" cy="256694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1946829" y="5852160"/>
            <a:ext cx="144390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黒い背景に戻り、完成品を両手で持つ。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上から一灯だけ。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3482178" y="3248635"/>
            <a:ext cx="1443909" cy="256694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3_S5_03_完成品が作業台に立つ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82178" y="4052968"/>
            <a:ext cx="1443909" cy="958283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3482178" y="3248635"/>
            <a:ext cx="1443909" cy="256694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3482178" y="5852160"/>
            <a:ext cx="144390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完成品が工房の作業台に立つ。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道具に囲まれた引き。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ここが着地点。</a:t>
            </a:r>
            <a:endParaRPr lang="en-US" sz="720" dirty="0"/>
          </a:p>
        </p:txBody>
      </p:sp>
      <p:sp>
        <p:nvSpPr>
          <p:cNvPr id="27" name="Shape 22"/>
          <p:cNvSpPr/>
          <p:nvPr/>
        </p:nvSpPr>
        <p:spPr>
          <a:xfrm>
            <a:off x="5017527" y="3248635"/>
            <a:ext cx="1443909" cy="256694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3" descr="/home/user/dougaseisaku/assets/ref4/共通_ロゴのみ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17527" y="3248635"/>
            <a:ext cx="1443909" cy="2566949"/>
          </a:xfrm>
          <a:prstGeom prst="rect">
            <a:avLst/>
          </a:prstGeom>
        </p:spPr>
      </p:pic>
      <p:sp>
        <p:nvSpPr>
          <p:cNvPr id="29" name="Shape 23"/>
          <p:cNvSpPr/>
          <p:nvPr/>
        </p:nvSpPr>
        <p:spPr>
          <a:xfrm>
            <a:off x="5017527" y="3248635"/>
            <a:ext cx="1443909" cy="256694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5017527" y="5852160"/>
            <a:ext cx="144390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BGMが止まる → 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ロゴのみ。テロップは出さない。</a:t>
            </a:r>
            <a:endParaRPr lang="en-US" sz="720" dirty="0"/>
          </a:p>
        </p:txBody>
      </p:sp>
      <p:sp>
        <p:nvSpPr>
          <p:cNvPr id="31" name="Text 25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2" name="Text 26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13 / 31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鞄を持って街を歩く（海外ドラマ風）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What You Carry Makes You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30秒 ／ 11ショット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対象＝新規・リピーター　／　全媒体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（parisawangny）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217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鞄を街に置いて撮る。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次の画へ横にスライドしてつなぐ。顔を主役にしない。カバンの中身を映す。ドラマ風の演出で実用性を訴求する。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置き画で終えて、そのままロゴだけにする。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自然光のみ。曇りの日でよい。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309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鞄を街に置くだけで絵になる。中身も、持った姿も、同じ一本で見せる。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324448" y="2065218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 面 に テ ロ ッ プ は 出 さ な い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248098"/>
            <a:ext cx="5455768" cy="7777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言葉は投稿の本文に置く。</a:t>
            </a:r>
            <a:pPr indent="0" marL="0">
              <a:lnSpc>
                <a:spcPct val="134000"/>
              </a:lnSpc>
              <a:buNone/>
            </a:pPr>
            <a:endParaRPr lang="en-US" sz="8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例：持ち歩くものが、その人をつくる。／ What you carry makes you.</a:t>
            </a:r>
            <a:pPr indent="0" marL="0">
              <a:lnSpc>
                <a:spcPct val="134000"/>
              </a:lnSpc>
              <a:buNone/>
            </a:pPr>
            <a:endParaRPr lang="en-US" sz="8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参考動画のキャプションの言い回し（New York polish, designed to carry your everyday）は使わない。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11480" y="3391647"/>
            <a:ext cx="418944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街に置く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0-8秒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3647679"/>
            <a:ext cx="1216649" cy="2162931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4_S1_01_フェンスに掛ける_引き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3803984"/>
            <a:ext cx="1216649" cy="1850320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11480" y="3647679"/>
            <a:ext cx="1216649" cy="2162931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1480" y="5847186"/>
            <a:ext cx="121664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フェンスに掛ける（引き・三脚で固定）。カメラは止めたまま、背景の街だけが動く。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1719569" y="3647679"/>
            <a:ext cx="1216649" cy="2162931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4_S1_02_肩に掛けて立つ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9569" y="3886362"/>
            <a:ext cx="1216649" cy="1685565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1719569" y="3647679"/>
            <a:ext cx="1216649" cy="2162931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1719569" y="5847186"/>
            <a:ext cx="121664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鞄を肩に掛けて立つ（横・引き）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3027657" y="3647679"/>
            <a:ext cx="1216649" cy="2162931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4_S1_03_石壁の前で全身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27657" y="3803984"/>
            <a:ext cx="1216649" cy="1850320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3027657" y="3647679"/>
            <a:ext cx="1216649" cy="2162931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3027657" y="5847186"/>
            <a:ext cx="121664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石壁の前。全身の引き。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顔は主役にしない。</a:t>
            </a:r>
            <a:endParaRPr lang="en-US" sz="720" dirty="0"/>
          </a:p>
        </p:txBody>
      </p:sp>
      <p:sp>
        <p:nvSpPr>
          <p:cNvPr id="27" name="Text 22"/>
          <p:cNvSpPr/>
          <p:nvPr/>
        </p:nvSpPr>
        <p:spPr>
          <a:xfrm>
            <a:off x="4655786" y="3391647"/>
            <a:ext cx="71244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中を見せる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8-15秒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4655786" y="3647679"/>
            <a:ext cx="1216649" cy="2162931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4_S2_01_真俯瞰_口を開け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55786" y="3803984"/>
            <a:ext cx="1216649" cy="1850320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4655786" y="3647679"/>
            <a:ext cx="1216649" cy="2162931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4655786" y="5847186"/>
            <a:ext cx="121664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鞄の口を開ける。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5963875" y="3647679"/>
            <a:ext cx="1216649" cy="2162931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4_S2_02_真俯瞰_中身を整える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63875" y="3803984"/>
            <a:ext cx="1216649" cy="1850320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5963875" y="3647679"/>
            <a:ext cx="1216649" cy="2162931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5963875" y="5847186"/>
            <a:ext cx="121664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真俯瞰。中身を整える手（寄り）</a:t>
            </a:r>
            <a:endParaRPr lang="en-US" sz="720" dirty="0"/>
          </a:p>
        </p:txBody>
      </p:sp>
      <p:sp>
        <p:nvSpPr>
          <p:cNvPr id="36" name="Shape 29"/>
          <p:cNvSpPr/>
          <p:nvPr/>
        </p:nvSpPr>
        <p:spPr>
          <a:xfrm>
            <a:off x="7271963" y="3647679"/>
            <a:ext cx="1216649" cy="2162931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5" descr="/home/user/dougaseisaku/assets/ref4/4_S2_03_横にスライドしてつなぐ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71963" y="3803984"/>
            <a:ext cx="1216649" cy="1850320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7271963" y="3647679"/>
            <a:ext cx="1216649" cy="2162931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1"/>
          <p:cNvSpPr/>
          <p:nvPr/>
        </p:nvSpPr>
        <p:spPr>
          <a:xfrm>
            <a:off x="7271963" y="5847186"/>
            <a:ext cx="121664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次の画へ横にスライドしてつなぐ。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参考動画のつなぎ方はこれ一つだけ。</a:t>
            </a:r>
            <a:endParaRPr lang="en-US" sz="720" dirty="0"/>
          </a:p>
        </p:txBody>
      </p:sp>
      <p:sp>
        <p:nvSpPr>
          <p:cNvPr id="40" name="Text 32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1" name="Text 33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14 / 31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鞄を持って街を歩く（海外ドラマ風）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What You Carry Makes You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30秒 ／ 11ショット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対象＝新規・リピーター　／　全媒体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（parisawangny）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217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鞄を街に置いて撮る。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次の画へ横にスライドしてつなぐ。顔を主役にしない。カバンの中身を映す。ドラマ風の演出で実用性を訴求する。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置き画で終えて、そのままロゴだけにする。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自然光のみ。曇りの日でよい。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309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鞄を街に置くだけで絵になる。中身も、持った姿も、同じ一本で見せる。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324448" y="2065218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 面 に テ ロ ッ プ は 出 さ な い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248098"/>
            <a:ext cx="5455768" cy="7777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言葉は投稿の本文に置く。</a:t>
            </a:r>
            <a:pPr indent="0" marL="0">
              <a:lnSpc>
                <a:spcPct val="134000"/>
              </a:lnSpc>
              <a:buNone/>
            </a:pPr>
            <a:endParaRPr lang="en-US" sz="8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例：持ち歩くものが、その人をつくる。／ What you carry makes you.</a:t>
            </a:r>
            <a:pPr indent="0" marL="0">
              <a:lnSpc>
                <a:spcPct val="134000"/>
              </a:lnSpc>
              <a:buNone/>
            </a:pPr>
            <a:endParaRPr lang="en-US" sz="8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参考動画のキャプションの言い回し（New York polish, designed to carry your everyday）は使わない。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11480" y="3391647"/>
            <a:ext cx="288694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街を歩く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15-22秒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3647679"/>
            <a:ext cx="1219447" cy="216790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4_S3_01_高架を歩く_引き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3804344"/>
            <a:ext cx="1219447" cy="1854575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11480" y="3647679"/>
            <a:ext cx="1219447" cy="216790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1480" y="5852160"/>
            <a:ext cx="121944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高い通路を歩く（引き）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1722367" y="3647679"/>
            <a:ext cx="1219447" cy="216790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4_S3_02_肩の鞄に寄る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2367" y="3804344"/>
            <a:ext cx="1219447" cy="1854575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1722367" y="3647679"/>
            <a:ext cx="1219447" cy="216790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1722367" y="5852160"/>
            <a:ext cx="121944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肩に掛かった鞄に寄る。</a:t>
            </a:r>
            <a:endParaRPr lang="en-US" sz="720" dirty="0"/>
          </a:p>
        </p:txBody>
      </p:sp>
      <p:sp>
        <p:nvSpPr>
          <p:cNvPr id="23" name="Text 19"/>
          <p:cNvSpPr/>
          <p:nvPr/>
        </p:nvSpPr>
        <p:spPr>
          <a:xfrm>
            <a:off x="3353293" y="3391647"/>
            <a:ext cx="842692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立ち止まって終わる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22-30秒</a:t>
            </a:r>
            <a:endParaRPr lang="en-US" sz="1150" dirty="0"/>
          </a:p>
        </p:txBody>
      </p:sp>
      <p:sp>
        <p:nvSpPr>
          <p:cNvPr id="24" name="Shape 20"/>
          <p:cNvSpPr/>
          <p:nvPr/>
        </p:nvSpPr>
        <p:spPr>
          <a:xfrm>
            <a:off x="3353293" y="3647679"/>
            <a:ext cx="1219447" cy="216790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5" name="Image 2" descr="/home/user/dougaseisaku/assets/ref4/4_S4_01_立ち止ま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53293" y="3804344"/>
            <a:ext cx="1219447" cy="1854575"/>
          </a:xfrm>
          <a:prstGeom prst="rect">
            <a:avLst/>
          </a:prstGeom>
        </p:spPr>
      </p:pic>
      <p:sp>
        <p:nvSpPr>
          <p:cNvPr id="26" name="Shape 21"/>
          <p:cNvSpPr/>
          <p:nvPr/>
        </p:nvSpPr>
        <p:spPr>
          <a:xfrm>
            <a:off x="3353293" y="3647679"/>
            <a:ext cx="1219447" cy="216790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3353293" y="5852160"/>
            <a:ext cx="121944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フェンスの前で立ち止まる。</a:t>
            </a:r>
            <a:endParaRPr lang="en-US" sz="720" dirty="0"/>
          </a:p>
        </p:txBody>
      </p:sp>
      <p:sp>
        <p:nvSpPr>
          <p:cNvPr id="28" name="Shape 23"/>
          <p:cNvSpPr/>
          <p:nvPr/>
        </p:nvSpPr>
        <p:spPr>
          <a:xfrm>
            <a:off x="4664180" y="3647679"/>
            <a:ext cx="1219447" cy="216790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4_S4_02_真俯瞰_持ち物を並べ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4180" y="3804344"/>
            <a:ext cx="1219447" cy="1854575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4664180" y="3647679"/>
            <a:ext cx="1219447" cy="216790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4664180" y="5852160"/>
            <a:ext cx="121944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真俯瞰。鞄と持ち物・靴を並べる置き画。この画で終わる。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5975067" y="3647679"/>
            <a:ext cx="1219447" cy="216790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共通_ロゴのみ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75067" y="3647679"/>
            <a:ext cx="1219447" cy="2167905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5975067" y="3647679"/>
            <a:ext cx="1219447" cy="216790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5975067" y="5852160"/>
            <a:ext cx="121944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そのままロゴだけ。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テロップは出さない。</a:t>
            </a:r>
            <a:endParaRPr lang="en-US" sz="720" dirty="0"/>
          </a:p>
        </p:txBody>
      </p:sp>
      <p:sp>
        <p:nvSpPr>
          <p:cNvPr id="36" name="Text 29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7" name="Text 30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 / 31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コーポレートムービー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Corporate Film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六十一秒 ／ 19ショット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対象＝メディア関係者・OEMの調達担当・新規　／　コーポレートサイト・YouTube・商談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（鍛治島工業）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（Kawazen Leather）　＋　インタビュー動画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551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高いところから見下ろす画（表参道の並木通り・ドローンは使わない）から入り、企画 → 設計 → 製造 → 店舗 → 購入 → 使用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の順で、会社の全体像を満遍なく、あっさり見せる。一つの工程を掘り下げない。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語り手は二人。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永尾社長（冒頭から製造まで、そして締め）・くさがやさん（店舗と購入）。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画に映るのは永尾社長が冒頭と締めの二カットだけ。あとは声だけが画の上に流れ続ける。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二人は別の画角にして、同じ絵の繰り返しにしない。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永尾社長の締めは、冒頭と同じ画角に戻す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── 頭と終わりを同じ顔で挟むと、六十一秒が一本にまとまる。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製造の工程と佐藤さんの話は6本目（OEM案内）にまとめる。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つなぎはJカット。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次に話す人の声を、画が切り替わる前から流しはじめる。画と音をずらすことで、話者が替わっても切れ目が目立たなくなる。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台本は別紙「インタビュー台本」。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シーンと秒数に合わせて書いてあるので、そのまま読める言い回しに直して使う。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製造は簡潔に。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工程の詳しい説明は6本目（OEM案内）で行う。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入れないもの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：工程の詳しい説明、技術の解説、商品スペック、締めのテロップ。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最後はロゴだけで終える。</a:t>
            </a:r>
            <a:endParaRPr lang="en-US" sz="532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9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企画から使う場面まで、会社の全体を六十一秒で見せる。</a:t>
            </a:r>
            <a:endParaRPr lang="en-US" sz="532" dirty="0"/>
          </a:p>
        </p:txBody>
      </p:sp>
      <p:sp>
        <p:nvSpPr>
          <p:cNvPr id="12" name="Text 10"/>
          <p:cNvSpPr/>
          <p:nvPr/>
        </p:nvSpPr>
        <p:spPr>
          <a:xfrm>
            <a:off x="6324448" y="1930470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 ン タ ビ ュ ー の 撮 り 方 （ 二 人 共 通 ）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113350"/>
            <a:ext cx="5455768" cy="4918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別の画角で撮り分ける。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永尾社長＝バストショット（顔の下に役職テロップ・冒頭と締めの二回）／くさがやさん＝横顔（空いた側に見出しテロップ）。</a:t>
            </a:r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背景は必ず大きくボカす。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永尾社長の締めの一言は、収録の最後に必ず撮っておく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（三十分の収録のどこかから抜くのではなく、締め用に一本言い切ってもらう）。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二人とも三画角すべて撮っておく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（編集で入れ替えられるように）。役職テロップは日英二行（例：BROOKLYN MUSEUM ／ 代表取締役　永尾 ○○ ／ ○○ Nagao）。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締めのテロップは出さない。最後はロゴだけ。</a:t>
            </a:r>
            <a:endParaRPr lang="en-US" sz="476" dirty="0"/>
          </a:p>
        </p:txBody>
      </p:sp>
      <p:sp>
        <p:nvSpPr>
          <p:cNvPr id="14" name="Text 12"/>
          <p:cNvSpPr/>
          <p:nvPr/>
        </p:nvSpPr>
        <p:spPr>
          <a:xfrm>
            <a:off x="411480" y="3453352"/>
            <a:ext cx="58352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空から入る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0-6秒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370938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5_S1_01_空撮_街と工房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3724905"/>
            <a:ext cx="1765249" cy="961911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11480" y="370938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1480" y="4738913"/>
            <a:ext cx="1765249" cy="1643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高いところから、表参道の並木通りを見下ろす。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ドローンは使わない。商業施設の上階などから。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人は入れず、景色だけ。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2268169" y="370938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5_S1_02_空撮_建物に寄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68169" y="3724905"/>
            <a:ext cx="1765249" cy="961911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2268169" y="370938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2268169" y="4738913"/>
            <a:ext cx="1765249" cy="1643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並木通りに寄っていく。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ここで永尾社長の声が先に入りはじめる（Jカット）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人は入れない。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4124858" y="370938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5_S3_01_バストショット_役職テロップ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24858" y="3830371"/>
            <a:ext cx="1765249" cy="750979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4124858" y="370938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4124858" y="4738913"/>
            <a:ext cx="1765249" cy="1643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永尾社長。この一カットだけ画に映る。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バストショット、顔の下に役職テロップ。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声は次のシーンにかぶったまま続く。</a:t>
            </a:r>
            <a:endParaRPr lang="en-US" sz="720" dirty="0"/>
          </a:p>
        </p:txBody>
      </p:sp>
      <p:sp>
        <p:nvSpPr>
          <p:cNvPr id="27" name="Text 22"/>
          <p:cNvSpPr/>
          <p:nvPr/>
        </p:nvSpPr>
        <p:spPr>
          <a:xfrm>
            <a:off x="6301588" y="3453352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企画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6-15秒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6301588" y="370938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5_S3_01_色見本を見ながら打ち合わせ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39498" y="3709384"/>
            <a:ext cx="1489429" cy="992953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6301588" y="370938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6301588" y="4738913"/>
            <a:ext cx="1765249" cy="1643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色見本を見ながら打ち合わせる。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二人で同じものを覗き込む（俯瞰気味）。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企画はここから始まる。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8158277" y="370938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5_S4_01_革が色ごとに並ぶ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85657" y="3709384"/>
            <a:ext cx="1710488" cy="992953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8158277" y="370938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8158277" y="4738913"/>
            <a:ext cx="1765249" cy="1643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革を並べて色を決める。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扱える色数がそのまま伝わる。</a:t>
            </a:r>
            <a:endParaRPr lang="en-US" sz="720" dirty="0"/>
          </a:p>
        </p:txBody>
      </p:sp>
      <p:sp>
        <p:nvSpPr>
          <p:cNvPr id="36" name="Shape 29"/>
          <p:cNvSpPr/>
          <p:nvPr/>
        </p:nvSpPr>
        <p:spPr>
          <a:xfrm>
            <a:off x="10014966" y="370938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5" descr="/home/user/dougaseisaku/assets/ref4/5_S3_03_机に広がる色見本と資料.jp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229388" y="3709384"/>
            <a:ext cx="1336405" cy="992953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10014966" y="370938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1"/>
          <p:cNvSpPr/>
          <p:nvPr/>
        </p:nvSpPr>
        <p:spPr>
          <a:xfrm>
            <a:off x="10014966" y="4738913"/>
            <a:ext cx="1765249" cy="1643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机いっぱいに色見本と資料が広がる。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手が動いて話している（引き）</a:t>
            </a:r>
            <a:endParaRPr lang="en-US" sz="720" dirty="0"/>
          </a:p>
        </p:txBody>
      </p:sp>
      <p:sp>
        <p:nvSpPr>
          <p:cNvPr id="40" name="Text 32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1" name="Text 33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16 / 31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コーポレートムービー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Corporate Film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六十一秒 ／ 19ショット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対象＝メディア関係者・OEMの調達担当・新規　／　コーポレートサイト・YouTube・商談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（鍛治島工業）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（Kawazen Leather）　＋　インタビュー動画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551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高いところから見下ろす画（表参道の並木通り・ドローンは使わない）から入り、企画 → 設計 → 製造 → 店舗 → 購入 → 使用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の順で、会社の全体像を満遍なく、あっさり見せる。一つの工程を掘り下げない。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語り手は二人。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永尾社長（冒頭から製造まで、そして締め）・くさがやさん（店舗と購入）。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画に映るのは永尾社長が冒頭と締めの二カットだけ。あとは声だけが画の上に流れ続ける。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二人は別の画角にして、同じ絵の繰り返しにしない。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永尾社長の締めは、冒頭と同じ画角に戻す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── 頭と終わりを同じ顔で挟むと、六十一秒が一本にまとまる。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製造の工程と佐藤さんの話は6本目（OEM案内）にまとめる。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つなぎはJカット。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次に話す人の声を、画が切り替わる前から流しはじめる。画と音をずらすことで、話者が替わっても切れ目が目立たなくなる。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台本は別紙「インタビュー台本」。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シーンと秒数に合わせて書いてあるので、そのまま読める言い回しに直して使う。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製造は簡潔に。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工程の詳しい説明は6本目（OEM案内）で行う。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入れないもの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：工程の詳しい説明、技術の解説、商品スペック、締めのテロップ。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最後はロゴだけで終える。</a:t>
            </a:r>
            <a:endParaRPr lang="en-US" sz="532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9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企画から使う場面まで、会社の全体を六十一秒で見せる。</a:t>
            </a:r>
            <a:endParaRPr lang="en-US" sz="532" dirty="0"/>
          </a:p>
        </p:txBody>
      </p:sp>
      <p:sp>
        <p:nvSpPr>
          <p:cNvPr id="12" name="Text 10"/>
          <p:cNvSpPr/>
          <p:nvPr/>
        </p:nvSpPr>
        <p:spPr>
          <a:xfrm>
            <a:off x="6324448" y="1930470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 ン タ ビ ュ ー の 撮 り 方 （ 二 人 共 通 ）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113350"/>
            <a:ext cx="5455768" cy="4918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別の画角で撮り分ける。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永尾社長＝バストショット（顔の下に役職テロップ・冒頭と締めの二回）／くさがやさん＝横顔（空いた側に見出しテロップ）。</a:t>
            </a:r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背景は必ず大きくボカす。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永尾社長の締めの一言は、収録の最後に必ず撮っておく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（三十分の収録のどこかから抜くのではなく、締め用に一本言い切ってもらう）。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二人とも三画角すべて撮っておく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（編集で入れ替えられるように）。役職テロップは日英二行（例：BROOKLYN MUSEUM ／ 代表取締役　永尾 ○○ ／ ○○ Nagao）。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締めのテロップは出さない。最後はロゴだけ。</a:t>
            </a:r>
            <a:endParaRPr lang="en-US" sz="476" dirty="0"/>
          </a:p>
        </p:txBody>
      </p:sp>
      <p:sp>
        <p:nvSpPr>
          <p:cNvPr id="14" name="Text 12"/>
          <p:cNvSpPr/>
          <p:nvPr/>
        </p:nvSpPr>
        <p:spPr>
          <a:xfrm>
            <a:off x="411480" y="3453352"/>
            <a:ext cx="58352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設計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15-24秒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370938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5_S5_01_図面をなぞる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3724905"/>
            <a:ext cx="1765249" cy="961911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11480" y="370938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1480" y="4738913"/>
            <a:ext cx="1765249" cy="1643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手が図面をなぞる（寄り）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2268169" y="370938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5_S5_02_図面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68169" y="3728645"/>
            <a:ext cx="1765249" cy="954431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2268169" y="370938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2268169" y="4738913"/>
            <a:ext cx="1765249" cy="1643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型紙・図面の俯瞰。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4124858" y="370938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5_S5_03_机で数値を入れる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24858" y="3724905"/>
            <a:ext cx="1765249" cy="961911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4124858" y="370938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4124858" y="4738913"/>
            <a:ext cx="1765249" cy="1643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机で数値を決める。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永尾社長の声はそのまま続いている。</a:t>
            </a:r>
            <a:endParaRPr lang="en-US" sz="720" dirty="0"/>
          </a:p>
        </p:txBody>
      </p:sp>
      <p:sp>
        <p:nvSpPr>
          <p:cNvPr id="27" name="Text 22"/>
          <p:cNvSpPr/>
          <p:nvPr/>
        </p:nvSpPr>
        <p:spPr>
          <a:xfrm>
            <a:off x="6301588" y="3453352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製造（簡潔に）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24-38秒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6301588" y="370938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6_S2_01_工房の全景_引き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1588" y="3724905"/>
            <a:ext cx="1765249" cy="961911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6301588" y="370938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6301588" y="4738913"/>
            <a:ext cx="1765249" cy="1643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工房の全体（引き）。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ここから製造に入る。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永尾社長の声はそのまま続く。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8158277" y="370938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5_S5_02_大型の機械が動く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85657" y="3709384"/>
            <a:ext cx="1710488" cy="992953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8158277" y="370938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8158277" y="4738913"/>
            <a:ext cx="1765249" cy="1643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大型の機械が動いている（引き）。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設備の規模がそのまま伝わる。</a:t>
            </a:r>
            <a:endParaRPr lang="en-US" sz="720" dirty="0"/>
          </a:p>
        </p:txBody>
      </p:sp>
      <p:sp>
        <p:nvSpPr>
          <p:cNvPr id="36" name="Shape 29"/>
          <p:cNvSpPr/>
          <p:nvPr/>
        </p:nvSpPr>
        <p:spPr>
          <a:xfrm>
            <a:off x="10014966" y="370938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5" descr="/home/user/dougaseisaku/assets/ref4/5_S6_02_職人が革を扱う.jp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042347" y="3709384"/>
            <a:ext cx="1710488" cy="992953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10014966" y="370938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1"/>
          <p:cNvSpPr/>
          <p:nvPr/>
        </p:nvSpPr>
        <p:spPr>
          <a:xfrm>
            <a:off x="10014966" y="4738913"/>
            <a:ext cx="1765249" cy="1643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裁つ・縫う・磨く。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一工程一カット。説明はしない。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ここでくさがやさんの声が先に入りはじめる（Jカット）</a:t>
            </a:r>
            <a:endParaRPr lang="en-US" sz="720" dirty="0"/>
          </a:p>
        </p:txBody>
      </p:sp>
      <p:sp>
        <p:nvSpPr>
          <p:cNvPr id="40" name="Text 32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1" name="Text 33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17 / 31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コーポレートムービー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Corporate Film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六十一秒 ／ 19ショット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対象＝メディア関係者・OEMの調達担当・新規　／　コーポレートサイト・YouTube・商談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（鍛治島工業）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（Kawazen Leather）　＋　インタビュー動画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551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高いところから見下ろす画（表参道の並木通り・ドローンは使わない）から入り、企画 → 設計 → 製造 → 店舗 → 購入 → 使用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の順で、会社の全体像を満遍なく、あっさり見せる。一つの工程を掘り下げない。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語り手は二人。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永尾社長（冒頭から製造まで、そして締め）・くさがやさん（店舗と購入）。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画に映るのは永尾社長が冒頭と締めの二カットだけ。あとは声だけが画の上に流れ続ける。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二人は別の画角にして、同じ絵の繰り返しにしない。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永尾社長の締めは、冒頭と同じ画角に戻す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── 頭と終わりを同じ顔で挟むと、六十一秒が一本にまとまる。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製造の工程と佐藤さんの話は6本目（OEM案内）にまとめる。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つなぎはJカット。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次に話す人の声を、画が切り替わる前から流しはじめる。画と音をずらすことで、話者が替わっても切れ目が目立たなくなる。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台本は別紙「インタビュー台本」。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シーンと秒数に合わせて書いてあるので、そのまま読める言い回しに直して使う。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製造は簡潔に。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工程の詳しい説明は6本目（OEM案内）で行う。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入れないもの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：工程の詳しい説明、技術の解説、商品スペック、締めのテロップ。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最後はロゴだけで終える。</a:t>
            </a:r>
            <a:endParaRPr lang="en-US" sz="532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9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企画から使う場面まで、会社の全体を六十一秒で見せる。</a:t>
            </a:r>
            <a:endParaRPr lang="en-US" sz="532" dirty="0"/>
          </a:p>
        </p:txBody>
      </p:sp>
      <p:sp>
        <p:nvSpPr>
          <p:cNvPr id="12" name="Text 10"/>
          <p:cNvSpPr/>
          <p:nvPr/>
        </p:nvSpPr>
        <p:spPr>
          <a:xfrm>
            <a:off x="6324448" y="1930470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 ン タ ビ ュ ー の 撮 り 方 （ 二 人 共 通 ）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113350"/>
            <a:ext cx="5455768" cy="4918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別の画角で撮り分ける。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永尾社長＝バストショット（顔の下に役職テロップ・冒頭と締めの二回）／くさがやさん＝横顔（空いた側に見出しテロップ）。</a:t>
            </a:r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背景は必ず大きくボカす。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永尾社長の締めの一言は、収録の最後に必ず撮っておく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（三十分の収録のどこかから抜くのではなく、締め用に一本言い切ってもらう）。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二人とも三画角すべて撮っておく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（編集で入れ替えられるように）。役職テロップは日英二行（例：BROOKLYN MUSEUM ／ 代表取締役　永尾 ○○ ／ ○○ Nagao）。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締めのテロップは出さない。最後はロゴだけ。</a:t>
            </a:r>
            <a:endParaRPr lang="en-US" sz="476" dirty="0"/>
          </a:p>
        </p:txBody>
      </p:sp>
      <p:sp>
        <p:nvSpPr>
          <p:cNvPr id="14" name="Text 12"/>
          <p:cNvSpPr/>
          <p:nvPr/>
        </p:nvSpPr>
        <p:spPr>
          <a:xfrm>
            <a:off x="411480" y="3453352"/>
            <a:ext cx="39785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S5 店舗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38-49秒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370938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5_S6_02_店内_ショーケースと棚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6941" y="3709384"/>
            <a:ext cx="1534327" cy="992953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11480" y="370938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1480" y="4738913"/>
            <a:ext cx="1765249" cy="1643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店内（引き）。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ショーケースと棚が並ぶ。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ロゴが入る位置まで見せる。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2268169" y="370938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5_S2_03_今の店舗_ショーウィンドウ越し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48351" y="3709384"/>
            <a:ext cx="1004885" cy="992953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2268169" y="370938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2268169" y="4738913"/>
            <a:ext cx="1765249" cy="1643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ショーウィンドウ越しに店内を見せる。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外から見た店の顔。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棚から商品を手に取る寄りも撮っておく。</a:t>
            </a:r>
            <a:endParaRPr lang="en-US" sz="720" dirty="0"/>
          </a:p>
        </p:txBody>
      </p:sp>
      <p:sp>
        <p:nvSpPr>
          <p:cNvPr id="23" name="Text 19"/>
          <p:cNvSpPr/>
          <p:nvPr/>
        </p:nvSpPr>
        <p:spPr>
          <a:xfrm>
            <a:off x="4444898" y="3453352"/>
            <a:ext cx="733531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S6 購入・使う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49-56秒</a:t>
            </a:r>
            <a:endParaRPr lang="en-US" sz="1150" dirty="0"/>
          </a:p>
        </p:txBody>
      </p:sp>
      <p:sp>
        <p:nvSpPr>
          <p:cNvPr id="24" name="Shape 20"/>
          <p:cNvSpPr/>
          <p:nvPr/>
        </p:nvSpPr>
        <p:spPr>
          <a:xfrm>
            <a:off x="4444898" y="370938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5" name="Image 2" descr="/home/user/dougaseisaku/assets/ref4/5_S7_01_会計_カウンターで応対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35280" y="3709384"/>
            <a:ext cx="1184487" cy="992953"/>
          </a:xfrm>
          <a:prstGeom prst="rect">
            <a:avLst/>
          </a:prstGeom>
        </p:spPr>
      </p:pic>
      <p:sp>
        <p:nvSpPr>
          <p:cNvPr id="26" name="Shape 21"/>
          <p:cNvSpPr/>
          <p:nvPr/>
        </p:nvSpPr>
        <p:spPr>
          <a:xfrm>
            <a:off x="4444898" y="370938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4444898" y="4738913"/>
            <a:ext cx="1765249" cy="1643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店員が応対する。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二人が同じ画面に入る。購入シーン、笑顔で見送る。</a:t>
            </a:r>
            <a:endParaRPr lang="en-US" sz="720" dirty="0"/>
          </a:p>
        </p:txBody>
      </p:sp>
      <p:sp>
        <p:nvSpPr>
          <p:cNvPr id="28" name="Shape 23"/>
          <p:cNvSpPr/>
          <p:nvPr/>
        </p:nvSpPr>
        <p:spPr>
          <a:xfrm>
            <a:off x="6301588" y="370938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5_S7_02_手渡しと笑顔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87031" y="3709384"/>
            <a:ext cx="794362" cy="992953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6301588" y="370938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6301588" y="4738913"/>
            <a:ext cx="1765249" cy="1643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手渡される瞬間と、受け取った人の笑顔。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渡す側と受け取る側を一つの画に入れる。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8158277" y="370938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5_S7_03_使っている手元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37365" y="3709384"/>
            <a:ext cx="1207073" cy="992953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8158277" y="370938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8158277" y="4738913"/>
            <a:ext cx="1765249" cy="1643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実際に使われている手元。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ノートPCを入れる。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ここで永尾社長の声がもう一度入りはじめる（Jカット）</a:t>
            </a:r>
            <a:endParaRPr lang="en-US" sz="720" dirty="0"/>
          </a:p>
        </p:txBody>
      </p:sp>
      <p:sp>
        <p:nvSpPr>
          <p:cNvPr id="36" name="Text 29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7" name="Text 30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18 / 31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コーポレートムービー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Corporate Film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六十一秒 ／ 19ショット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対象＝メディア関係者・OEMの調達担当・新規　／　コーポレートサイト・YouTube・商談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（鍛治島工業）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（Kawazen Leather）　＋　インタビュー動画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551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高いところから見下ろす画（表参道の並木通り・ドローンは使わない）から入り、企画 → 設計 → 製造 → 店舗 → 購入 → 使用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の順で、会社の全体像を満遍なく、あっさり見せる。一つの工程を掘り下げない。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語り手は二人。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永尾社長（冒頭から製造まで、そして締め）・くさがやさん（店舗と購入）。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画に映るのは永尾社長が冒頭と締めの二カットだけ。あとは声だけが画の上に流れ続ける。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二人は別の画角にして、同じ絵の繰り返しにしない。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永尾社長の締めは、冒頭と同じ画角に戻す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── 頭と終わりを同じ顔で挟むと、六十一秒が一本にまとまる。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製造の工程と佐藤さんの話は6本目（OEM案内）にまとめる。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つなぎはJカット。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次に話す人の声を、画が切り替わる前から流しはじめる。画と音をずらすことで、話者が替わっても切れ目が目立たなくなる。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台本は別紙「インタビュー台本」。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シーンと秒数に合わせて書いてあるので、そのまま読める言い回しに直して使う。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製造は簡潔に。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工程の詳しい説明は6本目（OEM案内）で行う。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入れないもの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：工程の詳しい説明、技術の解説、商品スペック、締めのテロップ。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最後はロゴだけで終える。</a:t>
            </a:r>
            <a:endParaRPr lang="en-US" sz="532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9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企画から使う場面まで、会社の全体を六十一秒で見せる。</a:t>
            </a:r>
            <a:endParaRPr lang="en-US" sz="532" dirty="0"/>
          </a:p>
        </p:txBody>
      </p:sp>
      <p:sp>
        <p:nvSpPr>
          <p:cNvPr id="12" name="Text 10"/>
          <p:cNvSpPr/>
          <p:nvPr/>
        </p:nvSpPr>
        <p:spPr>
          <a:xfrm>
            <a:off x="6324448" y="1930470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 ン タ ビ ュ ー の 撮 り 方 （ 二 人 共 通 ）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113350"/>
            <a:ext cx="5455768" cy="4918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別の画角で撮り分ける。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永尾社長＝バストショット（顔の下に役職テロップ・冒頭と締めの二回）／くさがやさん＝横顔（空いた側に見出しテロップ）。</a:t>
            </a:r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背景は必ず大きくボカす。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永尾社長の締めの一言は、収録の最後に必ず撮っておく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（三十分の収録のどこかから抜くのではなく、締め用に一本言い切ってもらう）。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二人とも三画角すべて撮っておく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（編集で入れ替えられるように）。役職テロップは日英二行（例：BROOKLYN MUSEUM ／ 代表取締役　永尾 ○○ ／ ○○ Nagao）。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締めのテロップは出さない。最後はロゴだけ。</a:t>
            </a:r>
            <a:endParaRPr lang="en-US" sz="476" dirty="0"/>
          </a:p>
        </p:txBody>
      </p:sp>
      <p:sp>
        <p:nvSpPr>
          <p:cNvPr id="14" name="Text 12"/>
          <p:cNvSpPr/>
          <p:nvPr/>
        </p:nvSpPr>
        <p:spPr>
          <a:xfrm>
            <a:off x="411480" y="3453352"/>
            <a:ext cx="113687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S7 締め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56-61秒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370938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5_S3_01_バストショット_役職テロップ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3830371"/>
            <a:ext cx="1765249" cy="750979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11480" y="370938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1480" y="4738913"/>
            <a:ext cx="1765249" cy="1643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永尾社長。締めの一言。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冒頭と同じ画角に戻し、頭と終わりで挟む。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この一本で言いたいことを、本人の言葉で置く。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2268169" y="370938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共通_ロゴのみ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71526" y="3709384"/>
            <a:ext cx="558536" cy="992953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2268169" y="370938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2268169" y="4738913"/>
            <a:ext cx="1765249" cy="1643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声が終わり、音が引く。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ロゴだけ。テロップは出さない。</a:t>
            </a:r>
            <a:endParaRPr lang="en-US" sz="720" dirty="0"/>
          </a:p>
        </p:txBody>
      </p:sp>
      <p:sp>
        <p:nvSpPr>
          <p:cNvPr id="23" name="Text 19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24" name="Text 20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 / 31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OEM工房案内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Why Brands Choose Us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2分20秒 ／ 28ショット（展示会用の無音版 ×1）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対象＝OEMの調達・生産担当　／　商談・展示会・提案資料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参考動画＝いただいた録画1本（工場案内）　＋　⑤と同様。</a:t>
            </a:r>
            <a:pPr algn="r" indent="0" marL="0">
              <a:lnSpc>
                <a:spcPct val="132000"/>
              </a:lnSpc>
              <a:buNone/>
            </a:pPr>
            <a:r>
              <a:rPr lang="en-US" sz="750" b="1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工程順に見せる案内型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（工房の全体から、工程順に、梱包場で終わる）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5441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OEMの粗利は36%。自社ブランドの財布・小物は76〜93%ある。訪問前に体制を伝えて、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価格ではなく品質で選ばれる状態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語り手は佐藤さん。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S2の最後で工房案内のはじまりとして画に映り、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そのあとは声だけが全編に流れ続ける。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最後にもう一度だけ画に戻り、話し終わる瞬間で締める。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当社の強みを本人の言葉で言ってもらう。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5本目（コーポレートムービー）は永尾社長とくさがやさんの二人にして、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佐藤さんの話はこの6本目にまとめた。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高いところからの俯瞰は使わず、工房の全体の引きで始める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（俯瞰は5本目にある）。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歩いて見せず、工程ごとにカメラを置き直して画角を変える。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参考動画と同じで、S1とS2の途中まで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人の顔を出さない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。工房の全体の引きと、材料が壁一面に並ぶ画を並べ、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S2の最後で初めて佐藤さんが画に映る。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S3から先は工程どおり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：革を選ぶ・金型 → 裁断 → 下仕事 → 縫製 → 検品 → 梱包。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Bロールとして職人の顔を各所に差し込む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（手元だけで終わらせず、誰が作っているかを見せる）。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3本目との違い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：3本目は黒背景・一灯・手だけ・固定・BGM・ロゴで終わる。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この6本目は工房の実景・自然光・人と機械・工程ごとに置き直すカメラ・作業音・梱包と問い合わせ先で終わる。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同じ工程を撮っても別物になる。撮影日も分ける。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同じ素材から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展示会用の60秒無音版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量産も少量生産もできる。検品まで社内で見て、この形で届く。誰が作っているかまで見せる。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つくる、確かめる、包む。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Make. Check. Pack.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 藤 さ ん に 話 し て も ら う 三 つ ／ テ ロ ッ プ は 工 程 名 だ け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4658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小ロットから量産まで、同じ場所でできる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②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裁断・縫製・仕上げ・検品・梱包まで、社内でひととおりできる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③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誰が作っているか、顔が見える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台本は別紙「インタビュー台本」。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シーンと秒数に合わせて書いてある。読み上げずに、自分の言葉で言い直してもらう。この三つが言えていれば、言い回しは変えてよい。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テロップは工程名だけ：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金型裁断 Die Cutting／手裁断 Hand Cutting／折り目つけ Creasing／貼り合わせ Bonding／コバ塗り Edge Painting／機械縫製 Machine Stitching／手縫い Hand Stitching／検品 Inspection／梱包 Packing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3852113"/>
            <a:ext cx="58352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工房の全体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0-10秒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6_S1_03_入口から通路の奥へ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2649" y="4108145"/>
            <a:ext cx="1762912" cy="992953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工房の全体（広角の引き・固定）。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天井の照明が奥まで連なる。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まだ人の顔は出さない。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2268169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6_S1_04_機械の前の作業_引き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9338" y="4108145"/>
            <a:ext cx="1762912" cy="992953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2268169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2268169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機械の前で作業している（引き）。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人は小さく、顔が分からない大きさで入れる。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4124858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6_S2_04_通路を奥へ進む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26027" y="4108145"/>
            <a:ext cx="1762912" cy="992953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4124858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4124858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作業台の手元（寄り）。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ここまで三つとも、置く位置と画角を変えて固定で撮る。</a:t>
            </a:r>
            <a:endParaRPr lang="en-US" sz="720" dirty="0"/>
          </a:p>
        </p:txBody>
      </p:sp>
      <p:sp>
        <p:nvSpPr>
          <p:cNvPr id="31" name="Text 26"/>
          <p:cNvSpPr/>
          <p:nvPr/>
        </p:nvSpPr>
        <p:spPr>
          <a:xfrm>
            <a:off x="6301588" y="3852113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機械と材料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10-25秒</a:t>
            </a:r>
            <a:endParaRPr lang="en-US" sz="1150" dirty="0"/>
          </a:p>
        </p:txBody>
      </p:sp>
      <p:sp>
        <p:nvSpPr>
          <p:cNvPr id="32" name="Shape 27"/>
          <p:cNvSpPr/>
          <p:nvPr/>
        </p:nvSpPr>
        <p:spPr>
          <a:xfrm>
            <a:off x="6301588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6_S2_06_材料が壁一面に並ぶ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2756" y="4108145"/>
            <a:ext cx="1762912" cy="992953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6301588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6301588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材料が壁一面に並ぶ（正面）。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量がそのまま伝わる画角。</a:t>
            </a:r>
            <a:endParaRPr lang="en-US" sz="720" dirty="0"/>
          </a:p>
        </p:txBody>
      </p:sp>
      <p:sp>
        <p:nvSpPr>
          <p:cNvPr id="36" name="Shape 30"/>
          <p:cNvSpPr/>
          <p:nvPr/>
        </p:nvSpPr>
        <p:spPr>
          <a:xfrm>
            <a:off x="8158277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4" descr="/home/user/dougaseisaku/assets/ref4/6_S2_02_機械と人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85657" y="4108145"/>
            <a:ext cx="1710488" cy="992953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8158277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8158277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機械と人が同じ画面に入る。台数と人数が分かる。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人は引きの中に小さく入れる。</a:t>
            </a:r>
            <a:endParaRPr lang="en-US" sz="720" dirty="0"/>
          </a:p>
        </p:txBody>
      </p:sp>
      <p:sp>
        <p:nvSpPr>
          <p:cNvPr id="40" name="Shape 33"/>
          <p:cNvSpPr/>
          <p:nvPr/>
        </p:nvSpPr>
        <p:spPr>
          <a:xfrm>
            <a:off x="10014966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1" name="Image 5" descr="/home/user/dougaseisaku/assets/ref4/5_S3_02_引き_ロゴの壁を背に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14966" y="4229132"/>
            <a:ext cx="1765249" cy="750979"/>
          </a:xfrm>
          <a:prstGeom prst="rect">
            <a:avLst/>
          </a:prstGeom>
        </p:spPr>
      </p:pic>
      <p:sp>
        <p:nvSpPr>
          <p:cNvPr id="42" name="Shape 34"/>
          <p:cNvSpPr/>
          <p:nvPr/>
        </p:nvSpPr>
        <p:spPr>
          <a:xfrm>
            <a:off x="10014966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10014966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佐藤さん。ここで初めて人が画に映る。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引き、背景に工房。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ここから最後まで、佐藤さんの声が画の上に流れ続ける。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各シーンで絵に合った強みを語る。</a:t>
            </a:r>
            <a:endParaRPr lang="en-US" sz="720" dirty="0"/>
          </a:p>
        </p:txBody>
      </p:sp>
      <p:sp>
        <p:nvSpPr>
          <p:cNvPr id="44" name="Text 3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5" name="Text 3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 / 31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OEM工房案内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Why Brands Choose Us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2分20秒 ／ 28ショット（展示会用の無音版 ×1）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対象＝OEMの調達・生産担当　／　商談・展示会・提案資料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参考動画＝いただいた録画1本（工場案内）　＋　⑤と同様。</a:t>
            </a:r>
            <a:pPr algn="r" indent="0" marL="0">
              <a:lnSpc>
                <a:spcPct val="132000"/>
              </a:lnSpc>
              <a:buNone/>
            </a:pPr>
            <a:r>
              <a:rPr lang="en-US" sz="750" b="1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工程順に見せる案内型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（工房の全体から、工程順に、梱包場で終わる）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5441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OEMの粗利は36%。自社ブランドの財布・小物は76〜93%ある。訪問前に体制を伝えて、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価格ではなく品質で選ばれる状態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語り手は佐藤さん。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S2の最後で工房案内のはじまりとして画に映り、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そのあとは声だけが全編に流れ続ける。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最後にもう一度だけ画に戻り、話し終わる瞬間で締める。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当社の強みを本人の言葉で言ってもらう。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5本目（コーポレートムービー）は永尾社長とくさがやさんの二人にして、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佐藤さんの話はこの6本目にまとめた。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高いところからの俯瞰は使わず、工房の全体の引きで始める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（俯瞰は5本目にある）。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歩いて見せず、工程ごとにカメラを置き直して画角を変える。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参考動画と同じで、S1とS2の途中まで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人の顔を出さない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。工房の全体の引きと、材料が壁一面に並ぶ画を並べ、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S2の最後で初めて佐藤さんが画に映る。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S3から先は工程どおり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：革を選ぶ・金型 → 裁断 → 下仕事 → 縫製 → 検品 → 梱包。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Bロールとして職人の顔を各所に差し込む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（手元だけで終わらせず、誰が作っているかを見せる）。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3本目との違い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：3本目は黒背景・一灯・手だけ・固定・BGM・ロゴで終わる。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この6本目は工房の実景・自然光・人と機械・工程ごとに置き直すカメラ・作業音・梱包と問い合わせ先で終わる。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同じ工程を撮っても別物になる。撮影日も分ける。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同じ素材から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展示会用の60秒無音版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量産も少量生産もできる。検品まで社内で見て、この形で届く。誰が作っているかまで見せる。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つくる、確かめる、包む。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Make. Check. Pack.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 藤 さ ん に 話 し て も ら う 三 つ ／ テ ロ ッ プ は 工 程 名 だ け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4658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小ロットから量産まで、同じ場所でできる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②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裁断・縫製・仕上げ・検品・梱包まで、社内でひととおりできる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③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誰が作っているか、顔が見える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台本は別紙「インタビュー台本」。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シーンと秒数に合わせて書いてある。読み上げずに、自分の言葉で言い直してもらう。この三つが言えていれば、言い回しは変えてよい。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テロップは工程名だけ：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金型裁断 Die Cutting／手裁断 Hand Cutting／折り目つけ Creasing／貼り合わせ Bonding／コバ塗り Edge Painting／機械縫製 Machine Stitching／手縫い Hand Stitching／検品 Inspection／梱包 Packing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3852113"/>
            <a:ext cx="58352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革を選ぶ・金型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25-42秒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6_S3_01_棚に並ぶ革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861" y="4108145"/>
            <a:ext cx="1710488" cy="992953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棚に革が並ぶシーン。奥行きがあるように撮影。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扱える革の種類の多さと量がそのまま伝わる。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2268169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6_S3_02_金型が並ぶ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8169" y="4123666"/>
            <a:ext cx="1765249" cy="961911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2268169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2268169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金型・型紙が品番ごとに並ぶ。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手が一つを抜き出す。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4124858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6_S3_03_取り都合を決める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52239" y="4108145"/>
            <a:ext cx="1710488" cy="992953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4124858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4124858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革の上に型紙を置き、取り都合を決める（寄り）</a:t>
            </a:r>
            <a:endParaRPr lang="en-US" sz="720" dirty="0"/>
          </a:p>
        </p:txBody>
      </p:sp>
      <p:sp>
        <p:nvSpPr>
          <p:cNvPr id="31" name="Text 26"/>
          <p:cNvSpPr/>
          <p:nvPr/>
        </p:nvSpPr>
        <p:spPr>
          <a:xfrm>
            <a:off x="6301588" y="3852113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裁断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42-62秒</a:t>
            </a:r>
            <a:endParaRPr lang="en-US" sz="1150" dirty="0"/>
          </a:p>
        </p:txBody>
      </p:sp>
      <p:sp>
        <p:nvSpPr>
          <p:cNvPr id="32" name="Shape 27"/>
          <p:cNvSpPr/>
          <p:nvPr/>
        </p:nvSpPr>
        <p:spPr>
          <a:xfrm>
            <a:off x="6301588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6_S4_01_機械が下り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1588" y="4253815"/>
            <a:ext cx="1765249" cy="701612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6301588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6301588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金型が置かれ、裁断機が下りる。テロップ「金型裁断 Die Cutting」</a:t>
            </a:r>
            <a:endParaRPr lang="en-US" sz="720" dirty="0"/>
          </a:p>
        </p:txBody>
      </p:sp>
      <p:sp>
        <p:nvSpPr>
          <p:cNvPr id="36" name="Shape 30"/>
          <p:cNvSpPr/>
          <p:nvPr/>
        </p:nvSpPr>
        <p:spPr>
          <a:xfrm>
            <a:off x="8158277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4" descr="/home/user/dougaseisaku/assets/ref4/6_S4_02_手で切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85657" y="4108145"/>
            <a:ext cx="1710488" cy="992953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8158277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8158277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革包丁で細部を切る。テロップ「手裁断 Hand Cutting」</a:t>
            </a:r>
            <a:endParaRPr lang="en-US" sz="720" dirty="0"/>
          </a:p>
        </p:txBody>
      </p:sp>
      <p:sp>
        <p:nvSpPr>
          <p:cNvPr id="40" name="Shape 33"/>
          <p:cNvSpPr/>
          <p:nvPr/>
        </p:nvSpPr>
        <p:spPr>
          <a:xfrm>
            <a:off x="10014966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1" name="Image 5" descr="/home/user/dougaseisaku/assets/ref4/6_S4_03_パーツが並ぶ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14966" y="4123666"/>
            <a:ext cx="1765249" cy="961911"/>
          </a:xfrm>
          <a:prstGeom prst="rect">
            <a:avLst/>
          </a:prstGeom>
        </p:spPr>
      </p:pic>
      <p:sp>
        <p:nvSpPr>
          <p:cNvPr id="42" name="Shape 34"/>
          <p:cNvSpPr/>
          <p:nvPr/>
        </p:nvSpPr>
        <p:spPr>
          <a:xfrm>
            <a:off x="10014966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10014966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裁ち上がったパーツが並ぶ。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量産も少量も同じ場所でできる。</a:t>
            </a:r>
            <a:endParaRPr lang="en-US" sz="720" dirty="0"/>
          </a:p>
        </p:txBody>
      </p:sp>
      <p:sp>
        <p:nvSpPr>
          <p:cNvPr id="44" name="Text 3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5" name="Text 3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21 / 31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OEM工房案内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Why Brands Choose Us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2分20秒 ／ 28ショット（展示会用の無音版 ×1）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対象＝OEMの調達・生産担当　／　商談・展示会・提案資料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参考動画＝いただいた録画1本（工場案内）　＋　⑤と同様。</a:t>
            </a:r>
            <a:pPr algn="r" indent="0" marL="0">
              <a:lnSpc>
                <a:spcPct val="132000"/>
              </a:lnSpc>
              <a:buNone/>
            </a:pPr>
            <a:r>
              <a:rPr lang="en-US" sz="750" b="1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工程順に見せる案内型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（工房の全体から、工程順に、梱包場で終わる）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5441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OEMの粗利は36%。自社ブランドの財布・小物は76〜93%ある。訪問前に体制を伝えて、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価格ではなく品質で選ばれる状態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語り手は佐藤さん。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S2の最後で工房案内のはじまりとして画に映り、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そのあとは声だけが全編に流れ続ける。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最後にもう一度だけ画に戻り、話し終わる瞬間で締める。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当社の強みを本人の言葉で言ってもらう。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5本目（コーポレートムービー）は永尾社長とくさがやさんの二人にして、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佐藤さんの話はこの6本目にまとめた。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高いところからの俯瞰は使わず、工房の全体の引きで始める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（俯瞰は5本目にある）。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歩いて見せず、工程ごとにカメラを置き直して画角を変える。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参考動画と同じで、S1とS2の途中まで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人の顔を出さない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。工房の全体の引きと、材料が壁一面に並ぶ画を並べ、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S2の最後で初めて佐藤さんが画に映る。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S3から先は工程どおり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：革を選ぶ・金型 → 裁断 → 下仕事 → 縫製 → 検品 → 梱包。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Bロールとして職人の顔を各所に差し込む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（手元だけで終わらせず、誰が作っているかを見せる）。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3本目との違い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：3本目は黒背景・一灯・手だけ・固定・BGM・ロゴで終わる。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この6本目は工房の実景・自然光・人と機械・工程ごとに置き直すカメラ・作業音・梱包と問い合わせ先で終わる。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同じ工程を撮っても別物になる。撮影日も分ける。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同じ素材から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展示会用の60秒無音版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量産も少量生産もできる。検品まで社内で見て、この形で届く。誰が作っているかまで見せる。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つくる、確かめる、包む。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Make. Check. Pack.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 藤 さ ん に 話 し て も ら う 三 つ ／ テ ロ ッ プ は 工 程 名 だ け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4658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小ロットから量産まで、同じ場所でできる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②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裁断・縫製・仕上げ・検品・梱包まで、社内でひととおりできる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③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誰が作っているか、顔が見える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台本は別紙「インタビュー台本」。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シーンと秒数に合わせて書いてある。読み上げずに、自分の言葉で言い直してもらう。この三つが言えていれば、言い回しは変えてよい。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テロップは工程名だけ：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金型裁断 Die Cutting／手裁断 Hand Cutting／折り目つけ Creasing／貼り合わせ Bonding／コバ塗り Edge Painting／機械縫製 Machine Stitching／手縫い Hand Stitching／検品 Inspection／梱包 Packing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3852113"/>
            <a:ext cx="113687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S5 下仕事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62-82秒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6_S5_01_折り目をつける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4123666"/>
            <a:ext cx="1765249" cy="961911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へらで折り目をつけ、縁を折り返す（寄り）。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テロップ「折り目つけ Creasing」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2268169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6_S5_02_スプレーを吹く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8169" y="4123666"/>
            <a:ext cx="1765249" cy="961911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2268169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2268169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革の裏にスプレーを吹き、貼り合わせる。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テロップ「貼り合わせ Bonding」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4124858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6_S5_03_コバ塗り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0535" y="4108145"/>
            <a:ext cx="813896" cy="992953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4124858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4124858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断面に塗料をのせる（超マクロ）。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塗った側と塗っていない側が同じ画面に入る。テロップ「コバ塗り Edge Painting」</a:t>
            </a:r>
            <a:endParaRPr lang="en-US" sz="720" dirty="0"/>
          </a:p>
        </p:txBody>
      </p:sp>
      <p:sp>
        <p:nvSpPr>
          <p:cNvPr id="31" name="Shape 26"/>
          <p:cNvSpPr/>
          <p:nvPr/>
        </p:nvSpPr>
        <p:spPr>
          <a:xfrm>
            <a:off x="5981548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2" name="Image 3" descr="/home/user/dougaseisaku/assets/ref4/6_S5_04_職人の目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1548" y="4124662"/>
            <a:ext cx="1765249" cy="959919"/>
          </a:xfrm>
          <a:prstGeom prst="rect">
            <a:avLst/>
          </a:prstGeom>
        </p:spPr>
      </p:pic>
      <p:sp>
        <p:nvSpPr>
          <p:cNvPr id="33" name="Shape 27"/>
          <p:cNvSpPr/>
          <p:nvPr/>
        </p:nvSpPr>
        <p:spPr>
          <a:xfrm>
            <a:off x="5981548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4" name="Text 28"/>
          <p:cNvSpPr/>
          <p:nvPr/>
        </p:nvSpPr>
        <p:spPr>
          <a:xfrm>
            <a:off x="5981548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Bロール：職人の目だけの超マクロ。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手元を見ている目に寄る。テロップは出さない。</a:t>
            </a:r>
            <a:endParaRPr lang="en-US" sz="720" dirty="0"/>
          </a:p>
        </p:txBody>
      </p:sp>
      <p:sp>
        <p:nvSpPr>
          <p:cNvPr id="35" name="Text 29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6" name="Text 30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22 / 31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 / 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OEM工房案内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Why Brands Choose Us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2分20秒 ／ 28ショット（展示会用の無音版 ×1）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対象＝OEMの調達・生産担当　／　商談・展示会・提案資料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参考動画＝いただいた録画1本（工場案内）　＋　⑤と同様。</a:t>
            </a:r>
            <a:pPr algn="r" indent="0" marL="0">
              <a:lnSpc>
                <a:spcPct val="132000"/>
              </a:lnSpc>
              <a:buNone/>
            </a:pPr>
            <a:r>
              <a:rPr lang="en-US" sz="750" b="1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工程順に見せる案内型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（工房の全体から、工程順に、梱包場で終わる）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5441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OEMの粗利は36%。自社ブランドの財布・小物は76〜93%ある。訪問前に体制を伝えて、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価格ではなく品質で選ばれる状態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語り手は佐藤さん。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S2の最後で工房案内のはじまりとして画に映り、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そのあとは声だけが全編に流れ続ける。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最後にもう一度だけ画に戻り、話し終わる瞬間で締める。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当社の強みを本人の言葉で言ってもらう。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5本目（コーポレートムービー）は永尾社長とくさがやさんの二人にして、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佐藤さんの話はこの6本目にまとめた。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高いところからの俯瞰は使わず、工房の全体の引きで始める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（俯瞰は5本目にある）。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歩いて見せず、工程ごとにカメラを置き直して画角を変える。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参考動画と同じで、S1とS2の途中まで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人の顔を出さない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。工房の全体の引きと、材料が壁一面に並ぶ画を並べ、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S2の最後で初めて佐藤さんが画に映る。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S3から先は工程どおり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：革を選ぶ・金型 → 裁断 → 下仕事 → 縫製 → 検品 → 梱包。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Bロールとして職人の顔を各所に差し込む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（手元だけで終わらせず、誰が作っているかを見せる）。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3本目との違い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：3本目は黒背景・一灯・手だけ・固定・BGM・ロゴで終わる。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この6本目は工房の実景・自然光・人と機械・工程ごとに置き直すカメラ・作業音・梱包と問い合わせ先で終わる。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同じ工程を撮っても別物になる。撮影日も分ける。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同じ素材から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展示会用の60秒無音版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量産も少量生産もできる。検品まで社内で見て、この形で届く。誰が作っているかまで見せる。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つくる、確かめる、包む。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Make. Check. Pack.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 藤 さ ん に 話 し て も ら う 三 つ ／ テ ロ ッ プ は 工 程 名 だ け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4658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小ロットから量産まで、同じ場所でできる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②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裁断・縫製・仕上げ・検品・梱包まで、社内でひととおりできる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③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誰が作っているか、顔が見える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台本は別紙「インタビュー台本」。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シーンと秒数に合わせて書いてある。読み上げずに、自分の言葉で言い直してもらう。この三つが言えていれば、言い回しは変えてよい。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テロップは工程名だけ：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金型裁断 Die Cutting／手裁断 Hand Cutting／折り目つけ Creasing／貼り合わせ Bonding／コバ塗り Edge Painting／機械縫製 Machine Stitching／手縫い Hand Stitching／検品 Inspection／梱包 Packing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3852113"/>
            <a:ext cx="58352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S6 縫製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82-102秒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6_S6_01_部品を手に取る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924" y="4108145"/>
            <a:ext cx="794362" cy="992953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縫う部品を手に取り、ミシンへ向かう。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縫い目と糸端が見える（寄り・背景ボケ）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2268169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6_S6_02_針が革に落ち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1410" y="4108145"/>
            <a:ext cx="1038768" cy="992953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2268169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2268169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ミシンの針が革に落ちる（超マクロ）。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押さえ金と革だけ。テロップ「機械縫製 Machine Stitching」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4124858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6_S6_03_ミシンで縫い進める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5542" y="4108145"/>
            <a:ext cx="803883" cy="992953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4124858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4124858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両手が生地を送り、縫い進める（引き寄り）。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手の動きと機械の音が同時に入る。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手縫いにも対応しているので、手で縫うカットも一つ撮っておく。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テロップ「手縫い Hand Stitching」</a:t>
            </a:r>
            <a:endParaRPr lang="en-US" sz="720" dirty="0"/>
          </a:p>
        </p:txBody>
      </p:sp>
      <p:sp>
        <p:nvSpPr>
          <p:cNvPr id="31" name="Text 26"/>
          <p:cNvSpPr/>
          <p:nvPr/>
        </p:nvSpPr>
        <p:spPr>
          <a:xfrm>
            <a:off x="6301588" y="3852113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S7 検品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102-122秒</a:t>
            </a:r>
            <a:endParaRPr lang="en-US" sz="1150" dirty="0"/>
          </a:p>
        </p:txBody>
      </p:sp>
      <p:sp>
        <p:nvSpPr>
          <p:cNvPr id="32" name="Shape 27"/>
          <p:cNvSpPr/>
          <p:nvPr/>
        </p:nvSpPr>
        <p:spPr>
          <a:xfrm>
            <a:off x="6301588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6_S7_01_光にかざす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1588" y="4123666"/>
            <a:ext cx="1765249" cy="961911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6301588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6301588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一点を手に取り、光にかざす。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作業音が消える。</a:t>
            </a:r>
            <a:endParaRPr lang="en-US" sz="720" dirty="0"/>
          </a:p>
        </p:txBody>
      </p:sp>
      <p:sp>
        <p:nvSpPr>
          <p:cNvPr id="36" name="Shape 30"/>
          <p:cNvSpPr/>
          <p:nvPr/>
        </p:nvSpPr>
        <p:spPr>
          <a:xfrm>
            <a:off x="8158277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4" descr="/home/user/dougaseisaku/assets/ref4/6_S7_02_開いて内側を確かめ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95848" y="4108145"/>
            <a:ext cx="1490106" cy="992953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8158277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8158277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手に取って開き、内側と縫い目まで確かめる（寄り）。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片方の手で押さえ、もう片方でめくる。</a:t>
            </a:r>
            <a:endParaRPr lang="en-US" sz="720" dirty="0"/>
          </a:p>
        </p:txBody>
      </p:sp>
      <p:sp>
        <p:nvSpPr>
          <p:cNvPr id="40" name="Shape 33"/>
          <p:cNvSpPr/>
          <p:nvPr/>
        </p:nvSpPr>
        <p:spPr>
          <a:xfrm>
            <a:off x="10014966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1" name="Image 5" descr="/home/user/dougaseisaku/assets/ref4/6_S2_03_職人の顔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14966" y="4123666"/>
            <a:ext cx="1765249" cy="961911"/>
          </a:xfrm>
          <a:prstGeom prst="rect">
            <a:avLst/>
          </a:prstGeom>
        </p:spPr>
      </p:pic>
      <p:sp>
        <p:nvSpPr>
          <p:cNvPr id="42" name="Shape 34"/>
          <p:cNvSpPr/>
          <p:nvPr/>
        </p:nvSpPr>
        <p:spPr>
          <a:xfrm>
            <a:off x="10014966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10014966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Bロール：職人の作業シーン。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手を止めずに作業している横顔（寄り）。テロップ「検品 Inspection」</a:t>
            </a:r>
            <a:endParaRPr lang="en-US" sz="720" dirty="0"/>
          </a:p>
        </p:txBody>
      </p:sp>
      <p:sp>
        <p:nvSpPr>
          <p:cNvPr id="44" name="Text 3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5" name="Text 3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23 / 31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 / 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OEM工房案内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Why Brands Choose Us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2分20秒 ／ 28ショット（展示会用の無音版 ×1）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対象＝OEMの調達・生産担当　／　商談・展示会・提案資料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参考動画＝いただいた録画1本（工場案内）　＋　⑤と同様。</a:t>
            </a:r>
            <a:pPr algn="r" indent="0" marL="0">
              <a:lnSpc>
                <a:spcPct val="132000"/>
              </a:lnSpc>
              <a:buNone/>
            </a:pPr>
            <a:r>
              <a:rPr lang="en-US" sz="750" b="1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工程順に見せる案内型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（工房の全体から、工程順に、梱包場で終わる）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5441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OEMの粗利は36%。自社ブランドの財布・小物は76〜93%ある。訪問前に体制を伝えて、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価格ではなく品質で選ばれる状態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語り手は佐藤さん。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S2の最後で工房案内のはじまりとして画に映り、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そのあとは声だけが全編に流れ続ける。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最後にもう一度だけ画に戻り、話し終わる瞬間で締める。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当社の強みを本人の言葉で言ってもらう。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5本目（コーポレートムービー）は永尾社長とくさがやさんの二人にして、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佐藤さんの話はこの6本目にまとめた。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高いところからの俯瞰は使わず、工房の全体の引きで始める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（俯瞰は5本目にある）。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歩いて見せず、工程ごとにカメラを置き直して画角を変える。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参考動画と同じで、S1とS2の途中まで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人の顔を出さない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。工房の全体の引きと、材料が壁一面に並ぶ画を並べ、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S2の最後で初めて佐藤さんが画に映る。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S3から先は工程どおり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：革を選ぶ・金型 → 裁断 → 下仕事 → 縫製 → 検品 → 梱包。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Bロールとして職人の顔を各所に差し込む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（手元だけで終わらせず、誰が作っているかを見せる）。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3本目との違い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：3本目は黒背景・一灯・手だけ・固定・BGM・ロゴで終わる。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この6本目は工房の実景・自然光・人と機械・工程ごとに置き直すカメラ・作業音・梱包と問い合わせ先で終わる。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同じ工程を撮っても別物になる。撮影日も分ける。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同じ素材から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展示会用の60秒無音版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量産も少量生産もできる。検品まで社内で見て、この形で届く。誰が作っているかまで見せる。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つくる、確かめる、包む。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Make. Check. Pack.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 藤 さ ん に 話 し て も ら う 三 つ ／ テ ロ ッ プ は 工 程 名 だ け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4658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小ロットから量産まで、同じ場所でできる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②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裁断・縫製・仕上げ・検品・梱包まで、社内でひととおりできる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③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誰が作っているか、顔が見える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台本は別紙「インタビュー台本」。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シーンと秒数に合わせて書いてある。読み上げずに、自分の言葉で言い直してもらう。この三つが言えていれば、言い回しは変えてよい。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テロップは工程名だけ：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金型裁断 Die Cutting／手裁断 Hand Cutting／折り目つけ Creasing／貼り合わせ Bonding／コバ塗り Edge Painting／機械縫製 Machine Stitching／手縫い Hand Stitching／検品 Inspection／梱包 Packing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3852113"/>
            <a:ext cx="58352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S8 梱包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122-133秒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6_S8_01_白手袋で包む_手元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7930" y="4108145"/>
            <a:ext cx="1492349" cy="992953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梱包シーン。包む。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手元の寄り。不織布の角を折る。紙の音。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2268169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6_S8_02_箱に納める_梱包場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7767" y="4108145"/>
            <a:ext cx="1626053" cy="992953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2268169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2268169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箱に納め、テープで閉じる。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梱包場の引き。奥にも人が写る。テロップ「梱包 Packing」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4124858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5_S3_01_バストショット_役職テロップ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24858" y="4229132"/>
            <a:ext cx="1765249" cy="750979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4124858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4124858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佐藤さん。話し終わる瞬間。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バストショットに寄る。言い終えて口を閉じるところまで残す。</a:t>
            </a:r>
            <a:endParaRPr lang="en-US" sz="720" dirty="0"/>
          </a:p>
        </p:txBody>
      </p:sp>
      <p:sp>
        <p:nvSpPr>
          <p:cNvPr id="31" name="Text 26"/>
          <p:cNvSpPr/>
          <p:nvPr/>
        </p:nvSpPr>
        <p:spPr>
          <a:xfrm>
            <a:off x="6301588" y="3852113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S9 締めカード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133-140秒</a:t>
            </a:r>
            <a:endParaRPr lang="en-US" sz="1150" dirty="0"/>
          </a:p>
        </p:txBody>
      </p:sp>
      <p:sp>
        <p:nvSpPr>
          <p:cNvPr id="32" name="Shape 27"/>
          <p:cNvSpPr/>
          <p:nvPr/>
        </p:nvSpPr>
        <p:spPr>
          <a:xfrm>
            <a:off x="6301588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6_S9_01_締めカード_対応技法一覧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1588" y="4108145"/>
            <a:ext cx="1765249" cy="992953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6301588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6301588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対応技法の一覧（この見本のとおり文字で出す）。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下段に「小ロットから量産まで」</a:t>
            </a:r>
            <a:endParaRPr lang="en-US" sz="720" dirty="0"/>
          </a:p>
        </p:txBody>
      </p:sp>
      <p:sp>
        <p:nvSpPr>
          <p:cNvPr id="36" name="Shape 30"/>
          <p:cNvSpPr/>
          <p:nvPr/>
        </p:nvSpPr>
        <p:spPr>
          <a:xfrm>
            <a:off x="8158277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4" descr="/home/user/dougaseisaku/assets/ref4/6_S9_02_締めカード_問い合わせ先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58277" y="4108145"/>
            <a:ext cx="1765249" cy="992953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8158277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8158277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問い合わせ先とURL。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社名・住所・TEL・メール・WEBを一画面。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連絡先は確定したものに差し替え。</a:t>
            </a:r>
            <a:endParaRPr lang="en-US" sz="720" dirty="0"/>
          </a:p>
        </p:txBody>
      </p:sp>
      <p:sp>
        <p:nvSpPr>
          <p:cNvPr id="40" name="Shape 33"/>
          <p:cNvSpPr/>
          <p:nvPr/>
        </p:nvSpPr>
        <p:spPr>
          <a:xfrm>
            <a:off x="10014966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1" name="Image 5" descr="/home/user/dougaseisaku/assets/ref4/6_S9_03_締めカード_ロゴのみ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14966" y="4108145"/>
            <a:ext cx="1765249" cy="992953"/>
          </a:xfrm>
          <a:prstGeom prst="rect">
            <a:avLst/>
          </a:prstGeom>
        </p:spPr>
      </p:pic>
      <p:sp>
        <p:nvSpPr>
          <p:cNvPr id="42" name="Shape 34"/>
          <p:cNvSpPr/>
          <p:nvPr/>
        </p:nvSpPr>
        <p:spPr>
          <a:xfrm>
            <a:off x="10014966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10014966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白に反転してロゴだけ。ここでBGMも切る。</a:t>
            </a:r>
            <a:endParaRPr lang="en-US" sz="720" dirty="0"/>
          </a:p>
        </p:txBody>
      </p:sp>
      <p:sp>
        <p:nvSpPr>
          <p:cNvPr id="44" name="Text 3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5" name="Text 3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24 / 31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07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製品の中身と使い勝手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Smart from Morning to Work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25秒 ／ 14ショット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対象＝新規（買う直前の人）　／　EC商品ページ カートボタン直下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（朝の出発前）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788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写真では入る量が伝わらない。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机の上に置かれた鞄から始める。正面固定、カメラは一度も動かさない。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「実際の収納力・サイズ感」を視覚化し、購入時の不安を解消する。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入る量と、入れ終わってそのまま持って出られることだけを見せる。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終わり方は参考動画と同じ。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人も鞄もフレームから出て、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何も乗っていない机だけが残る。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そこにテロップを重ね、ロゴで終わる。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A4もノートPCも入る。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朝も仕事も、スマートに。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SMART FROM MORNING TO WORK.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 さ く 添 え る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212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A4・13インチPC対応　／　返品送料無料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3598702"/>
            <a:ext cx="384843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机の上の鞄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0-4秒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7_S1_01_机の上の鞄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080433"/>
            <a:ext cx="1102978" cy="1509452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机に鞄が一つ置いてある。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正面固定の引き。手前に入れるものが並べてある。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1605898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7_S1_02_正面固定_同じ画角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5898" y="4080433"/>
            <a:ext cx="1102978" cy="1509452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1605898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605898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ここから最後までこの画角のまま。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2800317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7_S1_03_鞄を開け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00317" y="4080433"/>
            <a:ext cx="1102978" cy="1509452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2800317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2800317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人が入ってきて、鞄の口を開ける。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中は空。顔は入れない。</a:t>
            </a:r>
            <a:endParaRPr lang="en-US" sz="720" dirty="0"/>
          </a:p>
        </p:txBody>
      </p:sp>
      <p:sp>
        <p:nvSpPr>
          <p:cNvPr id="31" name="Text 26"/>
          <p:cNvSpPr/>
          <p:nvPr/>
        </p:nvSpPr>
        <p:spPr>
          <a:xfrm>
            <a:off x="4314775" y="3598702"/>
            <a:ext cx="7465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書類とPCを入れる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4-10秒</a:t>
            </a:r>
            <a:endParaRPr lang="en-US" sz="1150" dirty="0"/>
          </a:p>
        </p:txBody>
      </p:sp>
      <p:sp>
        <p:nvSpPr>
          <p:cNvPr id="32" name="Shape 27"/>
          <p:cNvSpPr/>
          <p:nvPr/>
        </p:nvSpPr>
        <p:spPr>
          <a:xfrm>
            <a:off x="4314775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7_S2_01_PCを入れ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14775" y="4080433"/>
            <a:ext cx="1102978" cy="1509452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4314775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4314775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A4書類とノートPCを入れる。</a:t>
            </a:r>
            <a:endParaRPr lang="en-US" sz="720" dirty="0"/>
          </a:p>
        </p:txBody>
      </p:sp>
      <p:sp>
        <p:nvSpPr>
          <p:cNvPr id="36" name="Shape 30"/>
          <p:cNvSpPr/>
          <p:nvPr/>
        </p:nvSpPr>
        <p:spPr>
          <a:xfrm>
            <a:off x="5509193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4" descr="/home/user/dougaseisaku/assets/ref4/7_S2_02_底まで収まる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09193" y="4080433"/>
            <a:ext cx="1102978" cy="1509452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5509193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5509193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ノートPCが底まで収まる。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入れる音を拾う。</a:t>
            </a:r>
            <a:endParaRPr lang="en-US" sz="720" dirty="0"/>
          </a:p>
        </p:txBody>
      </p:sp>
      <p:sp>
        <p:nvSpPr>
          <p:cNvPr id="40" name="Shape 33"/>
          <p:cNvSpPr/>
          <p:nvPr/>
        </p:nvSpPr>
        <p:spPr>
          <a:xfrm>
            <a:off x="6703612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1" name="Image 5" descr="/home/user/dougaseisaku/assets/ref4/7_S2_03_手帳と小物を入れる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03612" y="4080433"/>
            <a:ext cx="1102978" cy="1509452"/>
          </a:xfrm>
          <a:prstGeom prst="rect">
            <a:avLst/>
          </a:prstGeom>
        </p:spPr>
      </p:pic>
      <p:sp>
        <p:nvSpPr>
          <p:cNvPr id="42" name="Shape 34"/>
          <p:cNvSpPr/>
          <p:nvPr/>
        </p:nvSpPr>
        <p:spPr>
          <a:xfrm>
            <a:off x="6703612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6703612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手帳・鍵・サングラス。</a:t>
            </a:r>
            <a:endParaRPr lang="en-US" sz="720" dirty="0"/>
          </a:p>
        </p:txBody>
      </p:sp>
      <p:sp>
        <p:nvSpPr>
          <p:cNvPr id="44" name="Text 3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5" name="Text 3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 / 31</a:t>
            </a:r>
            <a:endParaRPr lang="en-US" sz="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07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製品の中身と使い勝手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Smart from Morning to Work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25秒 ／ 14ショット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対象＝新規（買う直前の人）　／　EC商品ページ カートボタン直下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（朝の出発前）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788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写真では入る量が伝わらない。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机の上に置かれた鞄から始める。正面固定、カメラは一度も動かさない。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「実際の収納力・サイズ感」を視覚化し、購入時の不安を解消する。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入る量と、入れ終わってそのまま持って出られることだけを見せる。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終わり方は参考動画と同じ。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人も鞄もフレームから出て、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何も乗っていない机だけが残る。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そこにテロップを重ね、ロゴで終わる。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A4もノートPCも入る。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朝も仕事も、スマートに。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SMART FROM MORNING TO WORK.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 さ く 添 え る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212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A4・13インチPC対応　／　返品送料無料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3598702"/>
            <a:ext cx="384843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小物を入れる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10-15秒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7_S3_01_さらに入れ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080433"/>
            <a:ext cx="1102978" cy="1509452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ペン・小物。入れる音を一つずつ拾う。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1605898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7_S3_02_小物を入れる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5898" y="4080433"/>
            <a:ext cx="1102978" cy="1509452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1605898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605898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傘・水筒まで入れる。それでもまだ閉まる。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2800317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7_S3_03_最後の一つを入れ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00317" y="4153210"/>
            <a:ext cx="1102978" cy="1363898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2800317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2800317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最後の一つを入れる。ここで手が止まる。</a:t>
            </a:r>
            <a:endParaRPr lang="en-US" sz="720" dirty="0"/>
          </a:p>
        </p:txBody>
      </p:sp>
      <p:sp>
        <p:nvSpPr>
          <p:cNvPr id="31" name="Text 26"/>
          <p:cNvSpPr/>
          <p:nvPr/>
        </p:nvSpPr>
        <p:spPr>
          <a:xfrm>
            <a:off x="4314775" y="3598702"/>
            <a:ext cx="7465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持って出る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15-20秒</a:t>
            </a:r>
            <a:endParaRPr lang="en-US" sz="1150" dirty="0"/>
          </a:p>
        </p:txBody>
      </p:sp>
      <p:sp>
        <p:nvSpPr>
          <p:cNvPr id="32" name="Shape 27"/>
          <p:cNvSpPr/>
          <p:nvPr/>
        </p:nvSpPr>
        <p:spPr>
          <a:xfrm>
            <a:off x="4314775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7_S4_01_持ち上げ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14775" y="4080433"/>
            <a:ext cx="1102978" cy="1509452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4314775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4314775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持ち手をまとめて持ち上げる。</a:t>
            </a:r>
            <a:endParaRPr lang="en-US" sz="720" dirty="0"/>
          </a:p>
        </p:txBody>
      </p:sp>
      <p:sp>
        <p:nvSpPr>
          <p:cNvPr id="36" name="Shape 30"/>
          <p:cNvSpPr/>
          <p:nvPr/>
        </p:nvSpPr>
        <p:spPr>
          <a:xfrm>
            <a:off x="5509193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4" descr="/home/user/dougaseisaku/assets/ref4/7_S4_02_肩に掛ける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09193" y="4080433"/>
            <a:ext cx="1102978" cy="1509452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5509193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5509193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肩に掛けて、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そのままフレームの外へ出ていく。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台は動かさない。</a:t>
            </a:r>
            <a:endParaRPr lang="en-US" sz="720" dirty="0"/>
          </a:p>
        </p:txBody>
      </p:sp>
      <p:sp>
        <p:nvSpPr>
          <p:cNvPr id="40" name="Text 33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1" name="Text 34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26 / 31</a:t>
            </a: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07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製品の中身と使い勝手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Smart from Morning to Work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25秒 ／ 14ショット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対象＝新規（買う直前の人）　／　EC商品ページ カートボタン直下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（朝の出発前）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788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写真では入る量が伝わらない。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机の上に置かれた鞄から始める。正面固定、カメラは一度も動かさない。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「実際の収納力・サイズ感」を視覚化し、購入時の不安を解消する。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入る量と、入れ終わってそのまま持って出られることだけを見せる。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終わり方は参考動画と同じ。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人も鞄もフレームから出て、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何も乗っていない机だけが残る。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そこにテロップを重ね、ロゴで終わる。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A4もノートPCも入る。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朝も仕事も、スマートに。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SMART FROM MORNING TO WORK.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 さ く 添 え る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212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A4・13インチPC対応　／　返品送料無料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3598702"/>
            <a:ext cx="113687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S5 机だけが残る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20-25秒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3854734"/>
            <a:ext cx="1100180" cy="195587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7_S5_01_机だけが残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079636"/>
            <a:ext cx="1100180" cy="1506072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3854734"/>
            <a:ext cx="1100180" cy="195587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5847186"/>
            <a:ext cx="11001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人も鞄もフレームから出て、何も乗っていない机だけが残る。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参考動画と同じ終わり方。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1603100" y="3854734"/>
            <a:ext cx="1100180" cy="195587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7_S5_02_テロップ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3100" y="3854734"/>
            <a:ext cx="1100180" cy="1955876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1603100" y="3854734"/>
            <a:ext cx="1100180" cy="195587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603100" y="5847186"/>
            <a:ext cx="11001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その画にテロップを重ねる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「朝も仕事も、スマートに。」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2794720" y="3854734"/>
            <a:ext cx="1100180" cy="195587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共通_ロゴのみ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4720" y="3854734"/>
            <a:ext cx="1100180" cy="1955876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2794720" y="3854734"/>
            <a:ext cx="1100180" cy="195587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2794720" y="5847186"/>
            <a:ext cx="11001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ロゴ。</a:t>
            </a:r>
            <a:endParaRPr lang="en-US" sz="720" dirty="0"/>
          </a:p>
        </p:txBody>
      </p:sp>
      <p:sp>
        <p:nvSpPr>
          <p:cNvPr id="31" name="Text 2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2" name="Text 2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27 / 31</a:t>
            </a:r>
            <a:endParaRPr lang="en-US" sz="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購入者インタビュー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Customer Interview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60秒 ／ 22ショット（仮）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対象＝購入を迷っている新規　／　EC商品ページ・レビュー欄・Instagram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348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買った人自身の言葉で語ってもらう。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外観のロー → 外観の全景 → 作っているところ → 商品の寄り → 商品の真俯瞰 → 空間。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人はまだ出さず、ロゴを重ねる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②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話し手はバストショット。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手前に植物を置いてボカす。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人物の右下に「購入者 Aさん」のテロップを出す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③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話している内容に合うBロールを、声の上に重ねる。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顔が出るのは各シーンの頭だけでよい ④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話した言葉はすべてテロップで出す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（音を出さずに見る人が多いため）⑤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締めは見送り。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店の前でスタッフが手を振り、画面の中央にロゴが重なり、映像が白に抜けてロゴだけが残る。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インタビューの画は各シーンに一枚だけ。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同じ画角を並べても間が持たない。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Bロールを多めに撮る。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足りないと声だけが続いて画がもたない。別紙「Bロール参考ショット集」の素材がそのまま使える。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質問はテロップで出し、画の中では聞かない。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各シーンの頭に質問のテロップを出し、Jカットで答えの声が先に入る。最初の一問だけは質問を出さず、答えから始める。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決めること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：誰に聞くか（既存の購入者か、社内の方に使用者として話してもらうか）、顔出しの範囲、撮影場所。</a:t>
            </a:r>
            <a:endParaRPr lang="en-US" sz="532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9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他の七本が「見せる」動画なのに対し、これだけが「聞く」動画。買った人自身の言葉で語ってもらう。</a:t>
            </a:r>
            <a:endParaRPr lang="en-US" sz="532" dirty="0"/>
          </a:p>
        </p:txBody>
      </p:sp>
      <p:sp>
        <p:nvSpPr>
          <p:cNvPr id="12" name="Text 10"/>
          <p:cNvSpPr/>
          <p:nvPr/>
        </p:nvSpPr>
        <p:spPr>
          <a:xfrm>
            <a:off x="6324448" y="1930470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 の 出 し 方 と 締 め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113350"/>
            <a:ext cx="5455768" cy="4918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話した言葉をそのまま、画面の下に一行で出す。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参考動画は日本語だけだが、この八本は日英併記のルールなので、英訳も一行添える。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締めは映像の中にロゴを重ねてから、白に抜く。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他の七本（ロゴだけのカードで終わる）と唯一違う終わり方にする。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締めのテロップの文言は、出演者と話す内容が決まってから決めます。</a:t>
            </a:r>
            <a:endParaRPr lang="en-US" sz="476" dirty="0"/>
          </a:p>
        </p:txBody>
      </p:sp>
      <p:sp>
        <p:nvSpPr>
          <p:cNvPr id="14" name="Text 12"/>
          <p:cNvSpPr/>
          <p:nvPr/>
        </p:nvSpPr>
        <p:spPr>
          <a:xfrm>
            <a:off x="411480" y="3250012"/>
            <a:ext cx="442845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外から中へ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0-5秒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3506044"/>
            <a:ext cx="1296318" cy="230456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8_S1_01_外観のロー_青空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4384711"/>
            <a:ext cx="1296318" cy="547232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11480" y="3506044"/>
            <a:ext cx="1296318" cy="230456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1480" y="5847186"/>
            <a:ext cx="12963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外観のロー。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空を入れて見上げる。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ロゴを重ねる。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1799238" y="3506044"/>
            <a:ext cx="1296318" cy="230456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8_S1_02_外観の全景_入口に人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9238" y="4384711"/>
            <a:ext cx="1296318" cy="547232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1799238" y="3506044"/>
            <a:ext cx="1296318" cy="230456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1799238" y="5847186"/>
            <a:ext cx="12963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外から中へ入っていく。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全景の引きから、扉を抜けるところまで切らずに追う。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3186997" y="3506044"/>
            <a:ext cx="1296318" cy="230456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8_S1_03_厨房_作っている手元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86997" y="4384711"/>
            <a:ext cx="1296318" cy="547232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3186997" y="3506044"/>
            <a:ext cx="1296318" cy="230456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3186997" y="5847186"/>
            <a:ext cx="12963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中に入って、そのまま手元の寄りへ。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外から中への流れを一続きに見せる。</a:t>
            </a:r>
            <a:endParaRPr lang="en-US" sz="720" dirty="0"/>
          </a:p>
        </p:txBody>
      </p:sp>
      <p:sp>
        <p:nvSpPr>
          <p:cNvPr id="27" name="Text 22"/>
          <p:cNvSpPr/>
          <p:nvPr/>
        </p:nvSpPr>
        <p:spPr>
          <a:xfrm>
            <a:off x="4894795" y="3250012"/>
            <a:ext cx="68854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商品と空間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5-11秒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4894795" y="3506044"/>
            <a:ext cx="1296318" cy="230456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8_S2_01_焼き上がりの寄り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4795" y="4384275"/>
            <a:ext cx="1296318" cy="548104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4894795" y="3506044"/>
            <a:ext cx="1296318" cy="230456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4894795" y="5847186"/>
            <a:ext cx="12963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商品の寄り。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できあがった瞬間。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6282553" y="3506044"/>
            <a:ext cx="1296318" cy="230456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8_S2_02_商品の真俯瞰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82553" y="4362034"/>
            <a:ext cx="1296318" cy="592586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6282553" y="3506044"/>
            <a:ext cx="1296318" cy="230456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6282553" y="5847186"/>
            <a:ext cx="12963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商品の真俯瞰。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並べて撮る。</a:t>
            </a:r>
            <a:endParaRPr lang="en-US" sz="720" dirty="0"/>
          </a:p>
        </p:txBody>
      </p:sp>
      <p:sp>
        <p:nvSpPr>
          <p:cNvPr id="36" name="Shape 29"/>
          <p:cNvSpPr/>
          <p:nvPr/>
        </p:nvSpPr>
        <p:spPr>
          <a:xfrm>
            <a:off x="7670312" y="3506044"/>
            <a:ext cx="1296318" cy="230456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5" descr="/home/user/dougaseisaku/assets/ref4/8_S2_03_窓際の席と光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70312" y="4417260"/>
            <a:ext cx="1296318" cy="482134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7670312" y="3506044"/>
            <a:ext cx="1296318" cy="230456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1"/>
          <p:cNvSpPr/>
          <p:nvPr/>
        </p:nvSpPr>
        <p:spPr>
          <a:xfrm>
            <a:off x="7670312" y="5847186"/>
            <a:ext cx="12963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空間。窓際と光。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ここまで人の顔は出さない。</a:t>
            </a:r>
            <a:pPr indent="0" marL="0">
              <a:lnSpc>
                <a:spcPct val="124000"/>
              </a:lnSpc>
              <a:buNone/>
            </a:pPr>
            <a:endParaRPr lang="en-US" sz="72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Jカットで、声が先に入りはじめる。</a:t>
            </a:r>
            <a:endParaRPr lang="en-US" sz="720" dirty="0"/>
          </a:p>
        </p:txBody>
      </p:sp>
      <p:sp>
        <p:nvSpPr>
          <p:cNvPr id="40" name="Text 32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1" name="Text 33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28 / 31</a:t>
            </a:r>
            <a:endParaRPr lang="en-US" sz="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購入者インタビュー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Customer Interview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60秒 ／ 22ショット（仮）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対象＝購入を迷っている新規　／　EC商品ページ・レビュー欄・Instagram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348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買った人自身の言葉で語ってもらう。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外観のロー → 外観の全景 → 作っているところ → 商品の寄り → 商品の真俯瞰 → 空間。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人はまだ出さず、ロゴを重ねる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②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話し手はバストショット。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手前に植物を置いてボカす。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人物の右下に「購入者 Aさん」のテロップを出す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③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話している内容に合うBロールを、声の上に重ねる。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顔が出るのは各シーンの頭だけでよい ④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話した言葉はすべてテロップで出す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（音を出さずに見る人が多いため）⑤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締めは見送り。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店の前でスタッフが手を振り、画面の中央にロゴが重なり、映像が白に抜けてロゴだけが残る。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インタビューの画は各シーンに一枚だけ。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同じ画角を並べても間が持たない。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Bロールを多めに撮る。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足りないと声だけが続いて画がもたない。別紙「Bロール参考ショット集」の素材がそのまま使える。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質問はテロップで出し、画の中では聞かない。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各シーンの頭に質問のテロップを出し、Jカットで答えの声が先に入る。最初の一問だけは質問を出さず、答えから始める。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決めること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：誰に聞くか（既存の購入者か、社内の方に使用者として話してもらうか）、顔出しの範囲、撮影場所。</a:t>
            </a:r>
            <a:endParaRPr lang="en-US" sz="532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9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他の七本が「見せる」動画なのに対し、これだけが「聞く」動画。買った人自身の言葉で語ってもらう。</a:t>
            </a:r>
            <a:endParaRPr lang="en-US" sz="532" dirty="0"/>
          </a:p>
        </p:txBody>
      </p:sp>
      <p:sp>
        <p:nvSpPr>
          <p:cNvPr id="12" name="Text 10"/>
          <p:cNvSpPr/>
          <p:nvPr/>
        </p:nvSpPr>
        <p:spPr>
          <a:xfrm>
            <a:off x="6324448" y="1930470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 の 出 し 方 と 締 め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113350"/>
            <a:ext cx="5455768" cy="4918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話した言葉をそのまま、画面の下に一行で出す。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参考動画は日本語だけだが、この八本は日英併記のルールなので、英訳も一行添える。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締めは映像の中にロゴを重ねてから、白に抜く。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他の七本（ロゴだけのカードで終わる）と唯一違う終わり方にする。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締めのテロップの文言は、出演者と話す内容が決まってから決めます。</a:t>
            </a:r>
            <a:endParaRPr lang="en-US" sz="476" dirty="0"/>
          </a:p>
        </p:txBody>
      </p:sp>
      <p:sp>
        <p:nvSpPr>
          <p:cNvPr id="14" name="Text 12"/>
          <p:cNvSpPr/>
          <p:nvPr/>
        </p:nvSpPr>
        <p:spPr>
          <a:xfrm>
            <a:off x="411480" y="3250012"/>
            <a:ext cx="400479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話しはじめる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11-19秒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3506044"/>
            <a:ext cx="1155098" cy="2053508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8_S3_01_インタビュー_バストショット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4328180"/>
            <a:ext cx="1155098" cy="409235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11480" y="3506044"/>
            <a:ext cx="1155098" cy="2053508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1480" y="5596128"/>
            <a:ext cx="115509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バストショット。植物を置いてボカす。話した言葉をそのままテロップで出す。</a:t>
            </a:r>
            <a:pPr indent="0" marL="0">
              <a:lnSpc>
                <a:spcPct val="124000"/>
              </a:lnSpc>
              <a:buNone/>
            </a:pPr>
            <a:endParaRPr lang="en-US" sz="72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質問は入れず、答えから始める。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人物の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右下に「購入者 Aさん」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のテロップ。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1658018" y="3506044"/>
            <a:ext cx="1155098" cy="2053508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8_S3_02_店内の引き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8018" y="4328180"/>
            <a:ext cx="1155098" cy="409235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1658018" y="3506044"/>
            <a:ext cx="1155098" cy="2053508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1658018" y="5596128"/>
            <a:ext cx="115509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ここから画はBロールに変わるが、声はそのまま流し続ける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（引き）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2904557" y="3506044"/>
            <a:ext cx="1155098" cy="2053508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8_S3_03_商品の寄り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4557" y="4328180"/>
            <a:ext cx="1155098" cy="409235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2904557" y="3506044"/>
            <a:ext cx="1155098" cy="2053508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2904557" y="5596128"/>
            <a:ext cx="115509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商品の寄り。話している内容に合わせて切り替える。質問テロップを入れる。</a:t>
            </a:r>
            <a:endParaRPr lang="en-US" sz="720" dirty="0"/>
          </a:p>
        </p:txBody>
      </p:sp>
      <p:sp>
        <p:nvSpPr>
          <p:cNvPr id="27" name="Text 22"/>
          <p:cNvSpPr/>
          <p:nvPr/>
        </p:nvSpPr>
        <p:spPr>
          <a:xfrm>
            <a:off x="4471135" y="3250012"/>
            <a:ext cx="7309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なぜ選んだか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19-28秒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4471135" y="3506044"/>
            <a:ext cx="1155098" cy="2053508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8_S4_01_インタビュー_同じ画角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1135" y="4328180"/>
            <a:ext cx="1155098" cy="409235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4471135" y="3506044"/>
            <a:ext cx="1155098" cy="2053508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4471135" y="5596128"/>
            <a:ext cx="115509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インタビューに戻る。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同じ画角。カメラは一度も動かさない。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左上に質問テロップ。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5717674" y="3506044"/>
            <a:ext cx="1155098" cy="2053508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8_S4_02_壁とテーブル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7674" y="4328180"/>
            <a:ext cx="1155098" cy="409235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5717674" y="3506044"/>
            <a:ext cx="1155098" cy="2053508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5717674" y="5596128"/>
            <a:ext cx="115509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声の上にBロール。空間の引き。</a:t>
            </a:r>
            <a:endParaRPr lang="en-US" sz="720" dirty="0"/>
          </a:p>
        </p:txBody>
      </p:sp>
      <p:sp>
        <p:nvSpPr>
          <p:cNvPr id="36" name="Shape 29"/>
          <p:cNvSpPr/>
          <p:nvPr/>
        </p:nvSpPr>
        <p:spPr>
          <a:xfrm>
            <a:off x="6964212" y="3506044"/>
            <a:ext cx="1155098" cy="2053508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5" descr="/home/user/dougaseisaku/assets/ref4/8_S4_03_窓辺とドライフラワー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64212" y="4328180"/>
            <a:ext cx="1155098" cy="409235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6964212" y="3506044"/>
            <a:ext cx="1155098" cy="2053508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1"/>
          <p:cNvSpPr/>
          <p:nvPr/>
        </p:nvSpPr>
        <p:spPr>
          <a:xfrm>
            <a:off x="6964212" y="5596128"/>
            <a:ext cx="115509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窓辺の一枚。間を作る。</a:t>
            </a:r>
            <a:endParaRPr lang="en-US" sz="720" dirty="0"/>
          </a:p>
        </p:txBody>
      </p:sp>
      <p:sp>
        <p:nvSpPr>
          <p:cNvPr id="40" name="Text 32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1" name="Text 33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29 / 31</a:t>
            </a:r>
            <a:endParaRPr lang="en-US" sz="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購入者インタビュー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Customer Interview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60秒 ／ 22ショット（仮）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対象＝購入を迷っている新規　／　EC商品ページ・レビュー欄・Instagram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348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買った人自身の言葉で語ってもらう。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外観のロー → 外観の全景 → 作っているところ → 商品の寄り → 商品の真俯瞰 → 空間。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人はまだ出さず、ロゴを重ねる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②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話し手はバストショット。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手前に植物を置いてボカす。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人物の右下に「購入者 Aさん」のテロップを出す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③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話している内容に合うBロールを、声の上に重ねる。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顔が出るのは各シーンの頭だけでよい ④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話した言葉はすべてテロップで出す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（音を出さずに見る人が多いため）⑤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締めは見送り。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店の前でスタッフが手を振り、画面の中央にロゴが重なり、映像が白に抜けてロゴだけが残る。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インタビューの画は各シーンに一枚だけ。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同じ画角を並べても間が持たない。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Bロールを多めに撮る。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足りないと声だけが続いて画がもたない。別紙「Bロール参考ショット集」の素材がそのまま使える。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質問はテロップで出し、画の中では聞かない。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各シーンの頭に質問のテロップを出し、Jカットで答えの声が先に入る。最初の一問だけは質問を出さず、答えから始める。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決めること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：誰に聞くか（既存の購入者か、社内の方に使用者として話してもらうか）、顔出しの範囲、撮影場所。</a:t>
            </a:r>
            <a:endParaRPr lang="en-US" sz="532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9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他の七本が「見せる」動画なのに対し、これだけが「聞く」動画。買った人自身の言葉で語ってもらう。</a:t>
            </a:r>
            <a:endParaRPr lang="en-US" sz="532" dirty="0"/>
          </a:p>
        </p:txBody>
      </p:sp>
      <p:sp>
        <p:nvSpPr>
          <p:cNvPr id="12" name="Text 10"/>
          <p:cNvSpPr/>
          <p:nvPr/>
        </p:nvSpPr>
        <p:spPr>
          <a:xfrm>
            <a:off x="6324448" y="1930470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 の 出 し 方 と 締 め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113350"/>
            <a:ext cx="5455768" cy="4918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話した言葉をそのまま、画面の下に一行で出す。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参考動画は日本語だけだが、この八本は日英併記のルールなので、英訳も一行添える。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締めは映像の中にロゴを重ねてから、白に抜く。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他の七本（ロゴだけのカードで終わる）と唯一違う終わり方にする。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締めのテロップの文言は、出演者と話す内容が決まってから決めます。</a:t>
            </a:r>
            <a:endParaRPr lang="en-US" sz="476" dirty="0"/>
          </a:p>
        </p:txBody>
      </p:sp>
      <p:sp>
        <p:nvSpPr>
          <p:cNvPr id="14" name="Text 12"/>
          <p:cNvSpPr/>
          <p:nvPr/>
        </p:nvSpPr>
        <p:spPr>
          <a:xfrm>
            <a:off x="411480" y="3250012"/>
            <a:ext cx="443684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S5 使っている場面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28-38秒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3506044"/>
            <a:ext cx="1299116" cy="230954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8_S5_01_二階のテーブル席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4430685"/>
            <a:ext cx="1299116" cy="460258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11480" y="3506044"/>
            <a:ext cx="1299116" cy="230954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1480" y="5852160"/>
            <a:ext cx="12991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別の場所へ移る（引き）。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声あり。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1802036" y="3506044"/>
            <a:ext cx="1299116" cy="230954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8_S5_02_ソファ席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2036" y="4430685"/>
            <a:ext cx="1299116" cy="460258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1802036" y="3506044"/>
            <a:ext cx="1299116" cy="230954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1802036" y="5852160"/>
            <a:ext cx="12991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落ち着いた場所での一枚。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3192593" y="3506044"/>
            <a:ext cx="1299116" cy="230954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8_S5_03_外に出る_青空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2593" y="4430685"/>
            <a:ext cx="1299116" cy="460258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3192593" y="3506044"/>
            <a:ext cx="1299116" cy="230954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3192593" y="5852160"/>
            <a:ext cx="12991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外に出る。空を入れて気分を変える。</a:t>
            </a:r>
            <a:endParaRPr lang="en-US" sz="720" dirty="0"/>
          </a:p>
        </p:txBody>
      </p:sp>
      <p:sp>
        <p:nvSpPr>
          <p:cNvPr id="27" name="Text 22"/>
          <p:cNvSpPr/>
          <p:nvPr/>
        </p:nvSpPr>
        <p:spPr>
          <a:xfrm>
            <a:off x="4903189" y="3250012"/>
            <a:ext cx="687702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S6 本音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38-50秒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4903189" y="3506044"/>
            <a:ext cx="1299116" cy="230954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8_S6_01_インタビュー_表情のアップ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03189" y="4430685"/>
            <a:ext cx="1299116" cy="460258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4903189" y="3506044"/>
            <a:ext cx="1299116" cy="230954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4903189" y="5852160"/>
            <a:ext cx="12991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インタビューに戻る。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表情のアップ。買ってから変わったことを一言で。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6293746" y="3506044"/>
            <a:ext cx="1299116" cy="230954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8_S6_02_屋上で手を上げ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93746" y="4430685"/>
            <a:ext cx="1299116" cy="460258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6293746" y="3506044"/>
            <a:ext cx="1299116" cy="230954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6293746" y="5852160"/>
            <a:ext cx="12991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外の引きに人が入る。声はそのまま続く。</a:t>
            </a:r>
            <a:endParaRPr lang="en-US" sz="720" dirty="0"/>
          </a:p>
        </p:txBody>
      </p:sp>
      <p:sp>
        <p:nvSpPr>
          <p:cNvPr id="36" name="Shape 29"/>
          <p:cNvSpPr/>
          <p:nvPr/>
        </p:nvSpPr>
        <p:spPr>
          <a:xfrm>
            <a:off x="7684302" y="3506044"/>
            <a:ext cx="1299116" cy="230954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5" descr="/home/user/dougaseisaku/assets/ref4/8_S6_03_窓辺に戻る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84302" y="4430685"/>
            <a:ext cx="1299116" cy="460258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7684302" y="3506044"/>
            <a:ext cx="1299116" cy="230954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1"/>
          <p:cNvSpPr/>
          <p:nvPr/>
        </p:nvSpPr>
        <p:spPr>
          <a:xfrm>
            <a:off x="7684302" y="5852160"/>
            <a:ext cx="12991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静かな一枚を入れる。</a:t>
            </a:r>
            <a:endParaRPr lang="en-US" sz="720" dirty="0"/>
          </a:p>
        </p:txBody>
      </p:sp>
      <p:sp>
        <p:nvSpPr>
          <p:cNvPr id="40" name="Text 32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1" name="Text 33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 / 31</a:t>
            </a:r>
            <a:endParaRPr lang="en-US" sz="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購入者インタビュー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Customer Interview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60秒 ／ 22ショット（仮）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対象＝購入を迷っている新規　／　EC商品ページ・レビュー欄・Instagram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348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買った人自身の言葉で語ってもらう。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外観のロー → 外観の全景 → 作っているところ → 商品の寄り → 商品の真俯瞰 → 空間。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人はまだ出さず、ロゴを重ねる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②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話し手はバストショット。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手前に植物を置いてボカす。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人物の右下に「購入者 Aさん」のテロップを出す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③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話している内容に合うBロールを、声の上に重ねる。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顔が出るのは各シーンの頭だけでよい ④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話した言葉はすべてテロップで出す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（音を出さずに見る人が多いため）⑤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締めは見送り。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店の前でスタッフが手を振り、画面の中央にロゴが重なり、映像が白に抜けてロゴだけが残る。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インタビューの画は各シーンに一枚だけ。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同じ画角を並べても間が持たない。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Bロールを多めに撮る。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足りないと声だけが続いて画がもたない。別紙「Bロール参考ショット集」の素材がそのまま使える。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質問はテロップで出し、画の中では聞かない。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各シーンの頭に質問のテロップを出し、Jカットで答えの声が先に入る。最初の一問だけは質問を出さず、答えから始める。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決めること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：誰に聞くか（既存の購入者か、社内の方に使用者として話してもらうか）、顔出しの範囲、撮影場所。</a:t>
            </a:r>
            <a:endParaRPr lang="en-US" sz="532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9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他の七本が「見せる」動画なのに対し、これだけが「聞く」動画。買った人自身の言葉で語ってもらう。</a:t>
            </a:r>
            <a:endParaRPr lang="en-US" sz="532" dirty="0"/>
          </a:p>
        </p:txBody>
      </p:sp>
      <p:sp>
        <p:nvSpPr>
          <p:cNvPr id="12" name="Text 10"/>
          <p:cNvSpPr/>
          <p:nvPr/>
        </p:nvSpPr>
        <p:spPr>
          <a:xfrm>
            <a:off x="6324448" y="1930470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 の 出 し 方 と 締 め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113350"/>
            <a:ext cx="5455768" cy="4918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話した言葉をそのまま、画面の下に一行で出す。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参考動画は日本語だけだが、この八本は日英併記のルールなので、英訳も一行添える。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締めは映像の中にロゴを重ねてから、白に抜く。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他の七本（ロゴだけのカードで終わる）と唯一違う終わり方にする。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締めのテロップの文言は、出演者と話す内容が決まってから決めます。</a:t>
            </a:r>
            <a:endParaRPr lang="en-US" sz="476" dirty="0"/>
          </a:p>
        </p:txBody>
      </p:sp>
      <p:sp>
        <p:nvSpPr>
          <p:cNvPr id="14" name="Text 12"/>
          <p:cNvSpPr/>
          <p:nvPr/>
        </p:nvSpPr>
        <p:spPr>
          <a:xfrm>
            <a:off x="411480" y="3250012"/>
            <a:ext cx="443684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S7 見送りで終わる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50-60秒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3506044"/>
            <a:ext cx="1299116" cy="230954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8_S7_01_店の前にスタッフが出る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4386170"/>
            <a:ext cx="1299116" cy="549287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11480" y="3506044"/>
            <a:ext cx="1299116" cy="230954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1480" y="5852160"/>
            <a:ext cx="12991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店の前。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スタッフが出てくる（引き）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1802036" y="3506044"/>
            <a:ext cx="1299116" cy="230954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8_S7_02_手を振って見送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2036" y="4386170"/>
            <a:ext cx="1299116" cy="549287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1802036" y="3506044"/>
            <a:ext cx="1299116" cy="230954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1802036" y="5852160"/>
            <a:ext cx="12991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手を振って見送る。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カメラは動かさない。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3192593" y="3506044"/>
            <a:ext cx="1299116" cy="230954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8_S7_03_中央にロゴが重なる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2593" y="4386170"/>
            <a:ext cx="1299116" cy="549287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3192593" y="3506044"/>
            <a:ext cx="1299116" cy="230954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3192593" y="5852160"/>
            <a:ext cx="12991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同じ引きの画面の中央に、ロゴが重なる。</a:t>
            </a:r>
            <a:endParaRPr lang="en-US" sz="720" dirty="0"/>
          </a:p>
        </p:txBody>
      </p:sp>
      <p:sp>
        <p:nvSpPr>
          <p:cNvPr id="27" name="Text 22"/>
          <p:cNvSpPr/>
          <p:nvPr/>
        </p:nvSpPr>
        <p:spPr>
          <a:xfrm>
            <a:off x="4903189" y="3250012"/>
            <a:ext cx="687702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S8 白に抜ける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60秒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4903189" y="3506044"/>
            <a:ext cx="1299116" cy="230954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8_S8_01_白に抜けてロゴだけ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03189" y="4295437"/>
            <a:ext cx="1299116" cy="730753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4903189" y="3506044"/>
            <a:ext cx="1299116" cy="230954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4903189" y="5852160"/>
            <a:ext cx="12991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映像が白に抜けて、ロゴだけが残る。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ここで音も切る。</a:t>
            </a:r>
            <a:endParaRPr lang="en-US" sz="720" dirty="0"/>
          </a:p>
        </p:txBody>
      </p:sp>
      <p:sp>
        <p:nvSpPr>
          <p:cNvPr id="32" name="Text 2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3" name="Text 2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31 / 31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eiry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2026-09-10T02:55:53Z</dcterms:created>
  <dcterms:modified xsi:type="dcterms:W3CDTF">2026-09-10T02:55:53Z</dcterms:modified>
</cp:coreProperties>
</file>